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【頁碼與主題】ARCH｜全書四大模組與跨講次因果邏輯總覽 (⑤ 流程矩陣 (Architecture Map))</a:t>
            </a:r>
          </a:p>
          <a:p>
            <a:r>
              <a:t>【結論 Action Title】在進入各講細節前，請先掌握這張全書因果架構圖：40 講內容並非零散知識，而是一條嚴密的制度演化鏈。</a:t>
            </a:r>
          </a:p>
          <a:p>
            <a:r>
              <a:t>【顧問說明】四大模組環環相扣：因為現代公司採行「有限責任」與「兩權分離」（模組一），才衍生出大股東與小股東的「股權爭奪與設計」（模組二）；為了避免股東天天吵架並引進專業決策，必須透過「董事會與監事會」（模組三）進行集體治理；最終落實到「如何選拔、監督與激勵 CEO 及合夥人」（模組四）。</a:t>
            </a:r>
          </a:p>
          <a:p>
            <a:r>
              <a:t>【鋪墊與轉場】接下來我們將依序拆解每一講的無雜訊顧問簡報。</a:t>
            </a:r>
          </a:p>
          <a:p/>
          <a:p>
            <a:r>
              <a:t>🌱【入門者導讀】把公司治理想成「開飛機的規則」：第一模組認識飛機構造（公司與有限責任），第二模組決定誰握有方向盤所有權（股權），第三模組設計駕駛艙儀表板與副駕駛監督（董事會與監事會），第四模組則是如何獎勵機長安全飛抵目的地（CEO聘任與激勵）。</a:t>
            </a:r>
          </a:p>
          <a:p>
            <a:r>
              <a:t>📖【商業故事案例】</a:t>
            </a:r>
          </a:p>
          <a:p>
            <a:r>
              <a:t>🏛️【進階思考模型：公司治理四階因果漏斗 (4-Stage Governance Funnel)】制度起源（有限責任＋兩權分離）➔ 產權配置（股權結構＋控制權槓桿）➔ 機構制衡（董事會獨立性＋表決程序＋監事會）➔ 代理對齊（外部市場接管＋長期股權激勵＋家族憲章）。</a:t>
            </a:r>
          </a:p>
          <a:p>
            <a:r>
              <a:t>🔗【跨講因果鏈】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【頁碼與主題】00｜00｜發刊詞：搞懂公司裡那些最要命的事 (版型 3：結合論法 (Combined Tree))</a:t>
            </a:r>
          </a:p>
          <a:p>
            <a:r>
              <a:t>【結論 Action Title】公司治理不是日常營運管理，而是決定「誰有權拍板、誰承擔損益」的頂層樹根工程。</a:t>
            </a:r>
          </a:p>
          <a:p>
            <a:r>
              <a:t>【顧問說明】透過聯想與華為的對比可見，企業家的戰略選擇深受其股權結構與治理身分約束。</a:t>
            </a:r>
          </a:p>
          <a:p>
            <a:r>
              <a:t>【鋪墊與轉場】理解了治理的重要性後，下一講我們先回到原點：為什麼有了企業，人類還要發明『公司』？</a:t>
            </a:r>
          </a:p>
          <a:p/>
          <a:p>
            <a:r>
              <a:t>🌱【入門者導讀】許多人把「公司治理」和「企業管理」混為一談。簡單來說：總經理帶著員工做行銷、研發、生產、管考勤，這叫「管理（樹幹）」；但在總經理頭上，決定「誰能當老闆、董事會怎麼開、賺了錢股東和高管怎麼分」的頂層遊戲規則，才叫「公司治理（樹根）」。樹根爛了，今天花果再茂盛也會瞬間倒塌。</a:t>
            </a:r>
          </a:p>
          <a:p>
            <a:r>
              <a:t>📖【商業故事案例】【華為 vs. 聯想的路線之爭】外界常批評聯想當年沒像華為一樣砸重金研發晶片（貿工技 vs. 技工貿）。但劉松博教授指出：不能脫離「治理身分」談策略！柳傳志當年是國企體制下的「職業經理人」，沒有自掏腰包豪賭十年的權力，必須對國有股東與上市財報負責；而任正非是民營企業創辦人兼核心股東，不上市、自己承擔虧損風險，因此能做出長周期的研發決策。</a:t>
            </a:r>
          </a:p>
          <a:p>
            <a:r>
              <a:t>🏛️【進階思考模型：【樹根—樹幹—花果】頂層決策歸因模型】進階決策者在診斷企業問題時，不應只停留在策略或執行層面（花果與樹幹），而應先向上追溯「決策者的產權身分與治理約束（樹根）」。全課程由「兩類人（股東、經理人）× 兩件事（權力、利益）」展開四大模組：認知模型（00-03）➔ 股東治理（04-15）➔ 經理治理（16-28）➔ 治理下沉與外擴（29-34）。</a:t>
            </a:r>
          </a:p>
          <a:p>
            <a:r>
              <a:t>🔗【跨講因果鏈】【承上】全課起點：打破「只看業績與管理技巧」的認知盲區 ➔ 【本講核心】確立「股東 vs. 經理人」與「權力 vs. 利益」二維座標系 ➔ 【啟下】接續第 01 講：探究這套規則的載體——為什麼人類有了企業，還要發明「公司」？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【頁碼與主題】01｜01｜公司：有企業，為什麼還有公司？ (版型 6：對立論法 (Opposition))</a:t>
            </a:r>
          </a:p>
          <a:p>
            <a:r>
              <a:t>【結論 Action Title】企業不等於公司；「有限責任」與「獨立法人人格」是現代公司得以聚集巨資並永續經營的基石。</a:t>
            </a:r>
          </a:p>
          <a:p>
            <a:r>
              <a:t>【顧問說明】享有有限責任保護的代價，就是股東必須嚴守法人財產邊界，絕不能把公司當成私人提款機。</a:t>
            </a:r>
          </a:p>
          <a:p>
            <a:r>
              <a:t>【鋪墊與轉場】然而，公司制度在帶來巨大優勢的同時，也埋下了兩個致命的先天缺陷，這正是下一講『治理』要對抗的對象。</a:t>
            </a:r>
          </a:p>
          <a:p/>
          <a:p>
            <a:r>
              <a:t>🌱【入門者導讀】不是所有「企業」都叫「公司」！企業分為三種：① 個人獨資（如明星工作室）、② 合夥企業（如事務所）、③ 公司。前兩種叫「古典企業」，老闆要負「無限責任」——生意賠光了還要拿自己的房子車子去抵債；而「公司」是法律創造出來的獨立「法人」，股東只負「有限責任」——投 100 萬最多賠光這 100 萬，不會連累身家。</a:t>
            </a:r>
          </a:p>
          <a:p>
            <a:r>
              <a:t>📖【商業故事案例】【西門慶 vs. 創維黃宏生 / 胡雪岩破產】《金瓶梅》裡的西門慶把當鋪收來的大理石屏風直接搬回家，完全不犯法，因為當鋪是他的個人獨資企業；但創維公司老闆黃宏生把上市公司的 5000 萬港元轉入私人帳戶，卻被香港法院判刑 6 年，因為「公司財產屬於法人，不屬於大股東個人」。反過來看，晚清首富胡雪岩的阜康銀號擠兌倒閉，清廷抄沒他所有家產抵債（無限責任），而現代公司制度正是為了讓人們敢於冒險投資而生。</a:t>
            </a:r>
          </a:p>
          <a:p>
            <a:r>
              <a:t>🏛️【進階思考模型：【風險隔離 × 資本聚集 × 股權流動】現代公司三支柱模型】科斯（Coase）的交易成本理論與阿爾欽的團隊生產理論只解釋了「為什麼有企業（Firm）」，卻沒解釋「為什麼有公司（Corporation）」。現代公司的三大制度紅利互為因果：有限責任隔離個人風險 ➔ 陌生人敢跨血緣集資 ＋ 股份得以自由定價轉讓 ➔ 企業脫離自然人壽命限制，實現資本規模化與永續經營。</a:t>
            </a:r>
          </a:p>
          <a:p>
            <a:r>
              <a:t>🔗【跨講因果鏈】【承上】承接第 00 講：要談公司治理，先界定「公司」與其他企業型態的法律與經濟邊界 ➔ 【本講核心】揭示「有限責任＋獨立法人」如何創造龐大集資力與永續性，同時要求公私財產嚴格分離 ➔ 【啟下】觸發第 02 講：正因股東眾多且只負有限責任，衍生出「兩權分離代理問題」與「大股東濫權」兩大先天缺陷！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【頁碼與主題】03｜03｜信任：公司到底是靠什麼維繫的？ (版型 4：連鎖論法 (Chain / Flow))</a:t>
            </a:r>
          </a:p>
          <a:p>
            <a:r>
              <a:t>【結論 Action Title】企業規模越大、陌生協作者越多，就越必須從『人際信任』轉向『制度信任』。</a:t>
            </a:r>
          </a:p>
          <a:p>
            <a:r>
              <a:t>【顧問說明】有限責任公司偏重人合（人際＋制度），股份有限公司偏重資合（高度制度信任），切忌在錯誤階段用錯治理方式。</a:t>
            </a:r>
          </a:p>
          <a:p>
            <a:r>
              <a:t>【鋪墊與轉場】走完第一模組的底層認知後，下一講我們正式進入第二模組『股東治理』，首先拆解：股權到底是什麼權？</a:t>
            </a:r>
          </a:p>
          <a:p/>
          <a:p>
            <a:r>
              <a:t>🌱【入門者導讀】為什麼幾萬個素昧平生的股民，敢把錢投給同一家上市公司？因為信任分為兩種：一種叫「人際信任」（因為你是我親戚、老同學，所以我信你）；另一種叫「制度信任」（我不認識你，但我相信公司法、相信會計師審計和公開透明的規則）。公司從小變大的過程，就是從「靠交情（人際信任）」升級到「靠規則（制度信任）」的過程。</a:t>
            </a:r>
          </a:p>
          <a:p>
            <a:r>
              <a:t>📖【商業故事案例】【德雲社的師徒制危機】2010 年郭德綱的德雲社爆發曹雲金、何雲偉等主力演員退社危機。問題出在哪？德雲社早期是傳統相聲班社，靠「一日為師、終身為父」的江湖規矩（人際信任）維繫；但當德雲社變成現代演藝公司、營收上億時，演員要求的是清晰的勞動契約與分紅比例（制度信任）。2010 年後德雲社改簽正式演藝合約與薪酬制度，才真正稳住陣腳。</a:t>
            </a:r>
          </a:p>
          <a:p>
            <a:r>
              <a:t>🏛️【進階思考模型：【人合 ➔ 資合】信任機制動態轉換光譜】許多企業死於「治理錯配」：① 規模已經很大、引進了外部投資人與職業團隊，老闆卻還想用「家文化、講義氣」代替股權與契約（制度信任不足）；② 剛創業只有 5 個人的小公司，卻花幾百萬請顧問搞出上市公司的繁文縟節（扼殺人際信任的高效）。進階 CEO 必須根據發展階段動態調配「人際信任」與「制度信任」的比例，並確保制度具備「公平、確定、普遍、可執行」四大屬性。</a:t>
            </a:r>
          </a:p>
          <a:p>
            <a:r>
              <a:t>🔗【跨講因果鏈】【承上】承接第 02 講：為了解決代理問題與利益衝突，必須找到維繫組織合作的底層力量——信任 ➔ 【本講核心】完成第一模組認知建構：公司治理即是以「制度信任」彌補「人際信任」隨規模擴張而衰減的工程 ➔ 【啟下】進入第二模組（第 04 講）：正式拆解股東治理的核心武器——股權本質上到底是什麼權？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【頁碼與主題】07｜07｜保住控制權：創始人如何防止被踢出局？ (版型 2：並列論法 (Parallel))</a:t>
            </a:r>
          </a:p>
          <a:p>
            <a:r>
              <a:t>【結論 Action Title】持股比例小不等於失去控制權；善用資源、GP/LP 架構與章程協議，創始人能以小博大。</a:t>
            </a:r>
          </a:p>
          <a:p>
            <a:r>
              <a:t>【顧問說明】尤其『公司章程』與『有限合夥平台』是成本最低、法律效力最強的控制權槓桿工具。</a:t>
            </a:r>
          </a:p>
          <a:p>
            <a:r>
              <a:t>【鋪墊與轉場】如果公司要公開上市，還能做到股份少卻說了算嗎？下一講我們看科技巨頭最愛的『同股不同權』。</a:t>
            </a:r>
          </a:p>
          <a:p/>
          <a:p>
            <a:r>
              <a:t>🌱【入門者導讀】許多創辦人辛辛苦苦把公司養大，經過 A 輪、B 輪、C 輪融資後，自己的股份被稀釋到只剩 15%，結果被投資人聯合起來踢出自己創辦的公司（像早期的賈伯斯、新浪王志東、一號店于剛）。怎麼防範？劉松博教授給出四大武器：① 管住融資節奏保股權；② 握住公司離不開的核心資源（如通路、專利）；③ 用「有限合夥企業（創辦人當 GP）」把投票權集中起來；④ 簽「一致行動人協議」並改寫公司章程！</a:t>
            </a:r>
          </a:p>
          <a:p>
            <a:r>
              <a:t>📖【商業故事案例】【有限合夥 GP/LP 的槓桿威力】假設你要給員工或外部投資人股份，又怕他們亂投票怎麼辦？你可以成立一家「有限合夥企業」作為持股平台：你當「普通合夥人（GP）」，哪怕只出 1% 的錢，法律規定由 GP 獨立執行合夥事務（擁有 100% 投票權，但負無限責任）；其他人當「有限合夥人（LP）」，出 99% 的錢、分 99% 的利潤，但沒有投票權！馬雲當年控制螞蟻金服，正是活用了這套有限合夥架構。</a:t>
            </a:r>
          </a:p>
          <a:p>
            <a:r>
              <a:t>🏛️【進階思考模型：【股權・資源・架構・協議】四維控制權防禦矩陣】進階治理者將「經濟收益權（Cash-flow Rights）」與「投票控制權（Voting Rights）」解耦看待。當融資必然稀釋經濟收益權時，可透過「架構槓桿（GP/LP、金字塔控股）」與「契約槓桿（一致行動人、投票權委託、章程董事提名條款）」維持投票控制權 &gt;50% 或 &gt;67%。但必須謹記：控制權設計也是與資本博弈的籌碼，過度剝奪投資人話語權會提高融資難度與折價。</a:t>
            </a:r>
          </a:p>
          <a:p>
            <a:r>
              <a:t>🔗【跨講因果鏈】【承上】承接第 06 講：初始股權架構設好後，面對外部融資稀釋的動態挑戰 ➔ 【本講核心】建構非上市階段四大控制權防禦工具（股權、資源、GP/LP 架構、章程協議） ➔ 【啟下】觸發第 08 講：當公司準備上市、多數交易所不允許隨意修改章程時，如何用「同股不同權（AB 股）」繼續保住控制權？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【頁碼與主題】09｜09｜企業家悖論：企業家會「害死」公司嗎？ (版型 5：麥肯錫論法 (McKinsey Matrix))</a:t>
            </a:r>
          </a:p>
          <a:p>
            <a:r>
              <a:t>【結論 Action Title】保護創始人與制衡創始人是一體兩面；缺乏制衡的絕對權力，最終會透過認知僵化反噬企業。</a:t>
            </a:r>
          </a:p>
          <a:p>
            <a:r>
              <a:t>【顧問說明】CEO 五季節模型揭示：隨著任期拉長，領導者的權力與固執同步上升，而有效資訊輸入卻急劇萎縮。</a:t>
            </a:r>
          </a:p>
          <a:p>
            <a:r>
              <a:t>【鋪墊與轉場】那麼，我們該如何制約強勢的企業家與大股東？下一講我們看第一種制約力量：『透明化溢價』。</a:t>
            </a:r>
          </a:p>
          <a:p/>
          <a:p>
            <a:r>
              <a:t>🌱【入門者導讀】前四講我們都在教創辦人怎麼「保住大權」，但這一講劉松博教授來了一個 180 度大轉彎：如果創辦人權力大到沒人管得了，公司往往會死在創辦人自己手裡！這叫「企業家悖論（成也蕭何，敗也蕭何）」。管理學著名的「CEO 五季節模型」發現：老闆幹久了，身邊只剩拍馬屁的人（資訊被過濾），過去成功的經驗變成固執的偏見（認知僵化），權力卻大到失控。所以真正愛公司的老闆，必須主動給自己裝上「煞車系統」！</a:t>
            </a:r>
          </a:p>
          <a:p>
            <a:r>
              <a:t>📖【商業故事案例】【樂視賈躍亭的「蒙眼狂奔」與亨利・福特的晚年固執】賈躍亭曾帶領樂視創造市值千億神話，但因為大權獨攬、毫無制衡，在資金鏈已極度緊繃時仍執意造車、收購，把所有反對聲音當成保守，最終資金斷裂崩盤。同樣地，汽車大王亨利・福特年輕時憑 T 型車改變世界，晚年卻極度固執、拒絕改款、甚至拿槍威脅改造車型的兒子，差點讓福特汽車破產。</a:t>
            </a:r>
          </a:p>
          <a:p>
            <a:r>
              <a:t>🏛️【進階思考模型：【保護 ↔ 制衡】雙向擺盪模型 ＆ CEO 五季節診斷表】本講是整個股東治理模組的分水嶺。05–08 講解決「創始人太弱被資本欺負」，09–15 講解決「創始人太強把公司帶溝裡」。進階 CEO 必須定期對自己做「五季節自我診斷」：當你發現高管會議上再也沒人反駁你、所有資訊都經過秘書或親信過濾時，代表你已進入危險的第四、五季節。唯有完成從「能人治理」向「制度治理」的驚險一躍，企業才能跨越創辦人生命周期。</a:t>
            </a:r>
          </a:p>
          <a:p>
            <a:r>
              <a:t>🔗【跨講因果鏈】【承上】承接第 07–08 講：當創始人透過架構與 AB 股取得絕對控制權後，必然引發權力失控的副作用 ➔ 【本講核心】提出「企業家悖論」與「CEO 五季節模型」，完成從「保護控制權」向「制衡控制權」的邏輯轉折 ➔ 【啟下】觸發第 10–15 講：既然要制約掌權者，有哪些具體工具？首先從最溫和卻最有力量的第 10 講「透明化」開始！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【頁碼與主題】10｜10｜透明化溢價：公司上市只是為了融資嗎？ (版型 3：結合論法 (Combined Tree))</a:t>
            </a:r>
          </a:p>
          <a:p>
            <a:r>
              <a:t>【結論 Action Title】透明化不僅是為了合規，更是贏得外部信任、制約內部濫權的『透明化溢價』來源。</a:t>
            </a:r>
          </a:p>
          <a:p>
            <a:r>
              <a:t>【顧問說明】華為雖不上市卻堅持公開經四大審計的年報，證明『不上市』絕不等於『不透明』。</a:t>
            </a:r>
          </a:p>
          <a:p>
            <a:r>
              <a:t>【鋪墊與轉場】既然上市能帶來資金與透明化溢價，為什麼許多知名企業家卻發誓不上市，最後又真香打臉？下一講我們拆解『上市的糾結』。</a:t>
            </a:r>
          </a:p>
          <a:p/>
          <a:p>
            <a:r>
              <a:t>🌱【入門者導讀】很多老闆覺得「公司財報是最高機密，絕不能讓外人甚至員工看到」，也認為「公司不缺錢就不用上市」。劉松博教授提出一個顛覆觀點：**透明本身就能賺錢（這叫「透明化溢價」）**！為什麼？第一，你敢把經過頂尖會計師審計的真實帳本亮出來，銀行敢借你錢、大客戶敢給你長期訂單、優秀人才敢要你的股票；第二，帳本一旦公開，老闆和高管就不敢亂報銷、亂搞關聯交易。就算不上市（像華為），也應該主動做個「透明公司」！</a:t>
            </a:r>
          </a:p>
          <a:p>
            <a:r>
              <a:t>📖【商業故事案例】【華為為什麼不上市卻年年發布公開年報？】華為沒有上市，按法律完全不需要向社會公開任何財務數據。但為了打入歐洲電信市場、消除外國客戶對華為「神祕背景」的恐懼，任正非從 2000 年起花重金聘請四大會計師事務所（KPMG）進行嚴格審計，自 2006 年起每年在官網公開厚達百頁的年報，連董事會名單、持股員工代表名單都一清二楚。這份主動透明，為華為贏得了全球客戶的百億級訂單。</a:t>
            </a:r>
          </a:p>
          <a:p>
            <a:r>
              <a:t>🏛️【進階思考模型：【主動揭露 ➔ 信任溢價 × 權力制衡】透明化雙螺旋模型】資訊不對稱是所有代理問題的溫床（第 02 講）。進階 CEO 應將「資訊披露」從被動的合規負擔，轉化為主動的戰略武器：① 對內向核心合夥人與持股骨幹透明經營數據，可消除猜忌並提升股權激勵含金量；② 對外向供應商、銀行與客戶透明治理結構，可建立超越同業的制度信任護城河；③ 藉助外部投資人或準上市輔導，倒逼家族或創始團隊戒除財務不規範習慣。</a:t>
            </a:r>
          </a:p>
          <a:p>
            <a:r>
              <a:t>🔗【跨講因果鏈】【承上】承接第 09 講：面對「企業家悖論」，需要尋找制約大股東與核心領導人的制度工具 ➔ 【本講核心】提出第一道溫和而強大的制約工具——「透明化」，揭示上市在融資之外的治理升級價值 ➔ 【啟下】觸發第 11 講：既然透明與上市有這麼多好處，為什麼老乾媽、華為、西貝等無數企業家在「上不上市」問題上反覆糾結甚至被打臉？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【頁碼與主題】11｜11｜上市的糾結：為什麼企業家經常被打臉？ (版型 8：BCG 論法 (BCG 2×2 Matrix))</a:t>
            </a:r>
          </a:p>
          <a:p>
            <a:r>
              <a:t>【結論 Action Title】上市是企業特定階段的戰略工具，隨環境與風險變化調整上市決策，正是企業家成熟的表現。</a:t>
            </a:r>
          </a:p>
          <a:p>
            <a:r>
              <a:t>【顧問說明】西貝與順豐的轉變說明，當黑天鵝風險或產業重資產競爭來臨時，資本市場的造血功能無可替代。</a:t>
            </a:r>
          </a:p>
          <a:p>
            <a:r>
              <a:t>【鋪墊與轉場】如果公司引進了多個股東甚至上市了，大股東依然一手遮天怎麼辦？下一講我們看『如何制衡控股股東』。</a:t>
            </a:r>
          </a:p>
          <a:p/>
          <a:p>
            <a:r>
              <a:t>🌱【入門者導讀】為什麼順豐王衛、西貝莜麵村賈國龍都曾公開斬釘截鐵說「堅決不上市」，結果後來卻紛紛宣布上市或尋求融資？難道他們言而無信嗎？劉松博教授指出：**上市從來不是目的，而是工具**！上市有四大好處（融大錢、打廣告、規範治理、讓老員工和投資人套現），但也有四大痛處（財報秘密全公開、合規成本高、被股民逼著看短期利潤、早期員工暴富後集體辭職）。當外部環境劇變（如疫情衝擊或對手全上市了），改變主意才是負責任的企業家！</a:t>
            </a:r>
          </a:p>
          <a:p>
            <a:r>
              <a:t>📖【商業故事案例】【西貝賈國龍的「真香」轉折】西貝餐飲創辦人賈國龍過去常說「西貝現金流好得很，永不上市」。然而 2020 年初新冠疫情爆發，全國數百家西貝門店瞬間停業，每月光發兩萬名員工薪水就要燒掉上億，帳上現金眼看撐不過三個月。危機過後賈國龍公開承認：「疫情教育了我，餐飲業抗風險能力太弱，西貝決定重新評估上市！」這不是打臉，而是根據風險認知升級做出的理性修正。</a:t>
            </a:r>
          </a:p>
          <a:p>
            <a:r>
              <a:t>🏛️【進階思考模型：【資本收益 vs. 治理代價】IPO 情境動態決策矩陣】進階 CEO 絕不把「上不上市」當成意識形態或面子問題，而是放在四個維度動態重評：① 產業競爭維度（對手是否已藉資本槓桿發動降維打擊？）；② 資產負債表韌性（能否抵禦極端黑天鵝現金流斷裂？）；③ 利害關係人訴求（早期 VC 基金到期退出壓力、核心員工兌現期權訴求、地方政府期待）；④ 內部治理成熟度（能否承受公開市場監管與做空機構檢驗？）。</a:t>
            </a:r>
          </a:p>
          <a:p>
            <a:r>
              <a:t>🔗【跨講因果鏈】【承上】承接第 10 講：討論完上市帶來的「透明化溢價」正面效益，本講完整拆解上市的正反兩面與動態取捨 ➔ 【本講核心】建立「不因上市與否論成敗、隨環境變化動態調整」的情境決策框架 ➔ 【啟下】觸發第 12 講：無論上市與否，當控股大股東權力過大時，公司內部該如何制衡控股股東？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【頁碼與主題】16｜16｜首席執行官：CEO 和董事長誰的官兒更大？ (版型 6：對立論法 (Opposition))</a:t>
            </a:r>
          </a:p>
          <a:p>
            <a:r>
              <a:t>【結論 Action Title】董事長與 CEO 並非上下級，而是『董事會集體決策監督』與『經理層個人行政執行』的分工制衡。</a:t>
            </a:r>
          </a:p>
          <a:p>
            <a:r>
              <a:t>【顧問說明】判斷誰說了算，不能看頭銜，必須穿透看背後的股權結構、實際控制力與公司發展階段。</a:t>
            </a:r>
          </a:p>
          <a:p>
            <a:r>
              <a:t>【鋪墊與轉場】當創始老闆與職業經理人分別擔任董事長與 CEO 時，為什麼兩人總容易掐架反目？下一講我們深入剖析『職業經理人與老闆的衝突根源』。</a:t>
            </a:r>
          </a:p>
          <a:p/>
          <a:p>
            <a:r>
              <a:t>🌱【入門者導讀】「董事長和 CEO（總經理）到底誰官大？」在台灣和大陸，90% 的人都會說「當然是董事長大」！但劉松博教授告訴你：**在法律職權上，董事長個人其實沒有任何行政指揮權**！董事長只是「董事會會議的主持人」，董事會投票是「一人一票」，董事長也只有 1 票；而 CEO 則是公司行政金字塔的最高長官，下面所有副總、部門經理都聽 CEO 一個人的！那為什麼我們總覺得董事長最大？因為在華人企業裡，董事長通常就是「最大股東／創辦人」本人——他大是因為他是「大老闆（大股東）」，而不是因為「董事長」這個職位！</a:t>
            </a:r>
          </a:p>
          <a:p>
            <a:r>
              <a:t>📖【商業故事案例】【1985 年蘋果董事會為何能把創辦人賈伯斯踢出局？】1985 年，賈伯斯親自挖來的 CEO 史考利（John Sculley）與賈伯斯發生嚴重戰略衝突。當時賈伯斯雖然是創辦人，但持股已很少，董事會開會投票時，多數董事選擇支持 CEO 史考利，直接剝奪了賈伯斯的業務主管權！這說明在股權分散的成熟公司裡，真正擁有最高權力的是「董事會這個集體」，而不是某一個頭銜。</a:t>
            </a:r>
          </a:p>
          <a:p>
            <a:r>
              <a:t>🏛️【進階思考模型：【職銜 vs. 實權】穿透式權力盤點 ＆ 情境分合模型】進階治理者看一家公司的權力結構，絕不看名片上的職銜（Title），而是穿透看三層底牌：① **產權底牌**（誰是控股股東或實際控制人？）；② **任免底牌**（誰掌握董事會多數席位的提名與罷免權？）；③ **情境配置**（動盪創業期與危機期宜「兩職合一」集中火力；規模化平穩期與交班期宜「兩職分離」強化監督與傳承）。</a:t>
            </a:r>
          </a:p>
          <a:p>
            <a:r>
              <a:t>🔗【跨講因果鏈】【承上】承接第 15 講：從第二模組最後的「董事會」，自然過渡到第三模組「經理治理」的最高首長——CEO ➔ 【本講核心】釐清董事長（集體會議主持）與 CEO（個人行政指揮）的制度邊界，建立兩職分合的情境權變觀 ➔ 【啟下】觸發第 17 講：當老闆（董事長／大股東）請了職業經理人（CEO）來管公司，為什麼兩人總是吵架甚至拔刀相向？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【頁碼與主題】17｜17｜職業經理人：為什麼經理總是和老闆掐架？ (版型 3：結合論法 (Combined Tree))</a:t>
            </a:r>
          </a:p>
          <a:p>
            <a:r>
              <a:t>【結論 Action Title】老闆與經理人掐架，除了自利動機外，往往是因為能幹的經理人產生了過高的『心理所有權』。</a:t>
            </a:r>
          </a:p>
          <a:p>
            <a:r>
              <a:t>【顧問說明】國美黃陳之爭告訴我們，經理人救活公司後若模糊了『代理人』與『所有人』的邊界，必然引發控制權大戰。</a:t>
            </a:r>
          </a:p>
          <a:p>
            <a:r>
              <a:t>【鋪墊與轉場】要減少這種衝突，首先得選對人。什麼樣的人才算真正優秀的『職業經理人』？下一講我們談『何為職業化』。</a:t>
            </a:r>
          </a:p>
          <a:p/>
          <a:p>
            <a:r>
              <a:t>🌱【入門者導讀】為什麼老闆請來的能幹總經理，最後常常跟老闆翻臉成仇人（像國美的黃光裕與陳曉）？老闆常罵經理人是「白眼狼」，但劉松博教授指出背後有兩個深層原因：第一種是「自私型（委託代理問題）」——畢竟花的是老闆的錢，經理人想給自己多發獎金、少擔風險；第二種更隱蔽，叫「**心理所有權過高**」——經理人沒日沒夜把公司救活、帶大，心裡開始覺得「這家公司是我的心血，老闆你根本不懂行，別來指手畫腳」！結果越能幹的經理人，越容易跟老闆搶方向盤！</a:t>
            </a:r>
          </a:p>
          <a:p>
            <a:r>
              <a:t>📖【商業故事案例】【國美電器「黃陳之爭」世紀商戰】2008 年國美創辦人黃光裕入獄，國美面臨銀行抽貸生死危機。臨危受命的總裁陳曉力挽狂瀾，引進貝恩資本、關停虧損門店，把國美從懸崖邊救了回來。然而在救亡過程中，陳曉與高管團隊對國美產生了強烈的「心理所有權」，認為應該「去黃光裕化」，甚至透過增發新股稀釋黃光裕家族股份；獄中的黃光裕大怒，發動股東大會全面反擊，最終陳曉被迫辭職出局，雙方兩敗俱傷。</a:t>
            </a:r>
          </a:p>
          <a:p>
            <a:r>
              <a:t>🏛️【進階思考模型：【代理自利 × 心理所有權】經理人雙重衝突診斷模型】本講是第三模組「經理治理」的總綱。傳統經濟學只假設經理人是「自利的小人（Agency Theory）」，但組織行為學發現，高階經理人往往具有強烈的成就動機與領地意識（Psychological Ownership）。心理所有權是一把雙面刃：適度時能激發主人翁責任感，過度時則會跨過「代理人邊界」挑戰「委託人主權」。因此，經理治理必須同時靠「監控、選人、激勵」三套機制協同運作。</a:t>
            </a:r>
          </a:p>
          <a:p>
            <a:r>
              <a:t>🔗【跨講因果鏈】【承上】承接第 16 講：釐清董事長與 CEO 的職權後，深入剖析大股東（老闆）與職業經理人（CEO）衝突的底層成因 ➔ 【本講核心】揭示「委託代理問題」與「過高心理所有權」兩大衝突根源，並確立經理治理的「監控、選人、激勵」三支柱（其中監控沿用第二模組） ➔ 【啟下】觸發第 18 講：既然監控機制已在第二模組講過，接下來重點看第二個抓手——到底怎麼「選人」？（何為職業化）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【頁碼與主題】21｜21｜混合所有制：國有企業改革到底路在何方？ (版型 7：比較論法 (Comparison / Venn))</a:t>
            </a:r>
          </a:p>
          <a:p>
            <a:r>
              <a:t>【結論 Action Title】國企混改的成敗不在於股權比例的加減，而在於能否真正將『行政治理』轉換為『公司治理』。</a:t>
            </a:r>
          </a:p>
          <a:p>
            <a:r>
              <a:t>【顧問說明】雲南白藥透過對等股權與取消管理層行政級別，為國資與民資的深度融合提供了制度範本。</a:t>
            </a:r>
          </a:p>
          <a:p>
            <a:r>
              <a:t>【鋪墊與轉場】國企要切開『行政與公司』，而佔全球企業多數的家族企業則要切開『家族與公司』。下一講我們看家族企業傳承。</a:t>
            </a:r>
          </a:p>
          <a:p/>
          <a:p>
            <a:r>
              <a:t>🌱【入門者導讀】為什麼有人罵國企效率低，但國家又不能把國企全部私有化賣光？因為國企不只為了賺錢，還要負責水電、高鐵、國防、偏遠地區通訊等民生大計！那競爭性行業的國企怎麼提升效率？答案是「混合所有制改革（混改）」——把國有股權和民營資本混合在一起。但劉松博教授提醒：**光把股權混在一起沒用（「混」只是第一步），真正關鍵是「改」**——要讓民營股東在董事會有真話語權、讓總經理按市場化選聘和拿薪水（像雲南白藥那樣），否則民企絕對不敢進場！</a:t>
            </a:r>
          </a:p>
          <a:p>
            <a:r>
              <a:t>📖【商業故事案例】【雲南白藥 50:50 混改破局典範】過去民企參與國企混改最怕「出了幾十億卻連個副董事長都當不上」。2016–2017 年雲南白藥混改寫下里程碑：民營企業家陳發樹（新華都）前後投入高達 254 億元，最終在控股母公司層面實現「雲南省國資委 45%、新華都 45%、江蘇魚躍 10%」的均衡結構，陳發樹與國資代表共同擔任聯席董事長，管理層全數解除公務員行政級別、實行市場化高薪與持股。這才真正打消了民營資本的顧慮。</a:t>
            </a:r>
          </a:p>
          <a:p>
            <a:r>
              <a:t>🏛️【進階思考模型：【產權混合 × 治理邊界隔離】公私合營治理模型】從第 04 講「對等原則」來看，傳統國企的核心痛點在於「握有控制權的行政主管部門不享有合法的剩餘索取權」，而混改若只引資不放權，則會造成「民營股東有索取權卻無控制權」。成功的公私合營（PPP／混改／政府基金投資民企）必須嚴守一條鐵律：**把「行政治理」與「公司治理」切開**，所有股東在董事會內一律按章程與股權說話。</a:t>
            </a:r>
          </a:p>
          <a:p>
            <a:r>
              <a:t>🔗【跨講因果鏈】【承上】承接第 16–20 講：完成一般商業公司的經理治理後，檢視特殊產權結構之一——國有企業的治理難題 ➔ 【本講核心】提出「分類改革」與「行政治理 vs. 公司治理分離」原則 ➔ 【啟下】觸發第 22 講：國企的難題是「行政干預公司」，而民營企業最大的特殊產權難題則是「家族情感干預公司」——家族企業如何打破富不過三代？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【頁碼與主題】24｜24｜利益相關者：股東至上原則為何沒被取代？ (版型 6：對立論法 (Opposition))</a:t>
            </a:r>
          </a:p>
          <a:p>
            <a:r>
              <a:t>【結論 Action Title】利害關係人理論糾正了股東至上的偏頗，但因缺乏單一清晰的問責指標，至今未能完全取代股東至上。</a:t>
            </a:r>
          </a:p>
          <a:p>
            <a:r>
              <a:t>【顧問說明】如果讓經理人同時對股東、員工、客戶、社會五個衝突目標負責，經理人反而可以用A目標掩蓋B目標的失敗。</a:t>
            </a:r>
          </a:p>
          <a:p>
            <a:r>
              <a:t>【鋪墊與轉場】既然不能同時把所有人排第一，那到底應該把誰排在第一位？下一講我們看德魯克與頂尖企業的答案：『客戶為什麼應該排在最前面？』</a:t>
            </a:r>
          </a:p>
          <a:p/>
          <a:p>
            <a:r>
              <a:t>🌱【入門者導讀】「開公司到底是為了幫股東賺錢，還是為了造福員工、客戶和社會？」一百年前，汽車大王福特賺了大錢不想分給股東，想拿去給工人加薪、把車價降下來造福大眾，結果被股東「道奇兄弟」告上法院，法官判福特敗訴，留下名言：「商業公司組織起來的首要目的，就是為股東賺錢！」這叫「**股東至上原則**」。後來大家發現只顧股東賺錢太冷血，於是提出「**利益相關者理論（ESG）**」，要求公司兼顧員工、客戶、供應商和環境。但為什麼直到今天「股東至上」還沒被徹底廢除？因為如果讓總經理同時對五群人負責，當他業績爛的時候就會找藉口說「我今年雖然沒賺錢，但我把員工照顧得很好啊」，最後變成誰也考核不了他！</a:t>
            </a:r>
          </a:p>
          <a:p>
            <a:r>
              <a:t>📖【商業故事案例】【1919 年道奇兄弟訴福特汽車案（Dodge v. Ford）】當年福特汽車帳上躺著高達 6000 萬美元現金，亨利・福特卻宣布停止發放特別股息，理由是：「我的野心是僱用更多工人、讓更多人買得起汽車，我們賺的錢已經夠多了！」持有福特 10% 股份的道奇兄弟（正想拿分紅去自己造車）一狀告上密西根州最高法院。法院最終裁定福特必須發放股息，確立了影響美國百年的「股東至上」判例。</a:t>
            </a:r>
          </a:p>
          <a:p>
            <a:r>
              <a:t>🏛️【進階思考模型：【單一問責目標 vs. 多方長期共生】公司目的權衡模型】為什麼「利害關係人理論」聽起來政治正確，卻在治理實務中舉步維艱？因為它混淆了「道德倡議」與「契約問責」。在公司治理中，若缺乏可量化的首要目標，代理成本將急劇飆升。那麼，有沒有一個目標既能克服「股東至上」的短視貪婪，又能像「股東至上」一樣清晰可考核、不會讓經理人渾水摸魚？這正是下一講（第 25 講）「客戶優先」要給出的答案！</a:t>
            </a:r>
          </a:p>
          <a:p>
            <a:r>
              <a:t>🔗【跨講因果鏈】【承上】承接第 23 講：萬科與南玻案例暴露了「純粹資本股東至上」可能傷害管理團隊與企業長期價值 ➔ 【本講核心】對比「股東至上」與「利害關係人理論」，點出後者雖具道德高度卻面臨「多元目標無法考核」的操作困境 ➔ 【啟下】觸發第 25 講：既然不能籠統地說「對所有人負責」，那如果一定要排一個先後順序，誰應該排在最前面？（客戶優先！）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【頁碼與主題】26｜26｜德國監事會：德意志銀行為何在破產邊緣？ (版型 6：對立論法 (Opposition))</a:t>
            </a:r>
          </a:p>
          <a:p>
            <a:r>
              <a:t>【結論 Action Title】德國垂直監事會雖擁有任免董事的最高權力，但德意志銀行危機證明：法定位階高，不等於實質獨立性高。</a:t>
            </a:r>
          </a:p>
          <a:p>
            <a:r>
              <a:t>【顧問說明】交叉持股的人情網絡、前任 CEO 直接轉任監事長，以及對風控資訊的屏蔽，都會讓上位監督機構失靈。</a:t>
            </a:r>
          </a:p>
          <a:p>
            <a:r>
              <a:t>【鋪墊與轉場】德國監事會除了位階高之外，還有一個全球獨一無二的制度：一半監事必須是員工！下一講我們看『員工共決制』。</a:t>
            </a:r>
          </a:p>
          <a:p/>
          <a:p>
            <a:r>
              <a:t>🌱【入門者導讀】為什麼很多公司的「監事會（或監察人）」感覺像空氣一樣沒存在感？因為在我們熟悉的制度裡，股東大會同時選出「董事會」和「監事會」，兩邊平起平坐，監事會根本沒權力開除董事！那如果學**德國**，把「監事會」放在「董事會」頭上，讓監事會直接決定董事的任免和薪水（這叫「垂直二元制」），總該管得住了吧？劉松博教授用「德意志銀行」瀕臨破產的案例告訴你：**就算監事會官再大，如果裡面的監事跟總經理是穿一條褲子的老熟人，照樣管不住**！</a:t>
            </a:r>
          </a:p>
          <a:p>
            <a:r>
              <a:t>📖【商業故事案例】【德意志銀行（Deutsche Bank）為何從歐洲金融霸主淪落到破產邊緣？】德國最大銀行「德意志銀行」為了跟華爾街投行比拚暴利，管理層瘋狂豪賭金融衍生品，在 2008 金融海嘯後屢遭重罰（僅美國司法部一張罰單就高達 72 億美元）、連續多年巨額虧損。人們震驚地問：德國引以為傲、權力極大的「監事會」去哪了？原來，德銀的監事會主席長期由剛退休的前任 CEO 直接轉任，外部監事則來自互相交叉持股的德國大企業好友圈，甚至當內部風控人員發出警告時還遭管理層打壓！</a:t>
            </a:r>
          </a:p>
          <a:p>
            <a:r>
              <a:t>🏛️【進階思考模型：【機構位階 vs. 實質獨立性】監督有效性檢驗模型】本講再次印證全課核心機制之五——**「形式不等於功能」**（見知識庫 #041）。無論是美式的「單一董事會＋獨立董事（第 15 講）」，還是德式的「垂直上位監事會（第 26 講）」，只要沒解決這四個底層變數：① 選任來源是否獨立於管理層？② 利益關係是否脫鉤（無交叉持股或旋轉門）？③ 資訊管道是否直通底層風控？④ 時間與專業投入是否充足？任何高大上的監督機構都會退化為橡皮圖章。</a:t>
            </a:r>
          </a:p>
          <a:p>
            <a:r>
              <a:t>🔗【跨講因果鏈】【承上】承接第 24–25 講：在探討完利害關係人與客戶優先後，實地檢視全球最著名的「利害關係人治理標竿」——德國模式 ➔ 【本講核心】拆解德國第一大特色「垂直監事會」的制度優勢與德意志銀行暴露出的獨立性失靈 ➔ 【啟下】觸發第 27 講：德國監事會裡還有一個令全球老闆瞠目結舌的規定——「一半席位必須留給員工代表」！這就是下一講的「員工共決制」。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【頁碼與主題】29｜29｜事業合夥人：職業經理人包贏不包輸怎麼破？ (版型 5：麥肯錫論法 (McKinsey Matrix))</a:t>
            </a:r>
          </a:p>
          <a:p>
            <a:r>
              <a:t>【結論 Action Title】事業合夥人制與傳統股權激勵的本質區別在於『共擔風險』——只有自己掏錢承擔虧損，才會真正像老闆一樣思考。</a:t>
            </a:r>
          </a:p>
          <a:p>
            <a:r>
              <a:t>【顧問說明】萬科透過公司級持股與項目級強制跟投，成功把職業經理人從『包贏不包輸的代理人』變成了『休戚與共的合夥人』。</a:t>
            </a:r>
          </a:p>
          <a:p>
            <a:r>
              <a:t>【鋪墊與轉場】當權力下沉給眾多合夥人與骨幹後，如何確保大家心往一處想、不搞小山頭？下一講我們看『企業軟治理：價值觀如何落地』。</a:t>
            </a:r>
          </a:p>
          <a:p/>
          <a:p>
            <a:r>
              <a:t>🌱【入門者導讀】為什麼哪怕給職業經理人發了高薪和股票期權，老闆還是覺得不放心？因為傳統經理人是「**包贏不包輸**」的！公司賺錢了，他分幾千萬獎金；公司如果虧掉十個億，他頂多不領獎金、拍拍屁股跳槽去別家公司當總經理，一分錢都不用從自己口袋掏出來賠！怎麼破解這個死結？萬科發明了「**事業合夥人制度（特別是項目跟投）**」：你要買這塊地蓋樓是吧？行，項目總經理和團隊必須**從自己家裡拿真金白銀出來跟著公司一起投（強制跟投）**！賺了大家分，要是這塊地買貴了虧錢，你自己的血汗錢跟著一起賠光！結果制度一出，萬科高管再也不敢亂花錢買高價地了！</a:t>
            </a:r>
          </a:p>
          <a:p>
            <a:r>
              <a:t>📖【商業故事案例】【萬科「項目跟投制」立竿見影的魔力】2014 年萬科推出事業合夥人制度，規定所有新拿地項目，一線公司管理層和項目經理為「強制跟投人」，必須自掏腰包（甚至借錢）入股該項目。過去項目經理為了衝業績規模，常向總部哭喊要高價搶地，工程成本也抓不緊；實行強制跟投後，因為花的每一分錢裡都有自己的身家性命，項目團隊主動跟施工方砍價、把拿地到開盤的時間縮短了好幾個月，連跟投的保潔阿姨都天天盯著工地有沒有浪費材料！</a:t>
            </a:r>
          </a:p>
          <a:p>
            <a:r>
              <a:t>🏛️【進階思考模型：【劣後級風險共擔 × 權力中心重構】事業合夥人治理模型】本講是第四模組「治理下沉與外擴」的靈魂開篇，也是對第 04 講「對等原則」與第 25 講「權力線何在」的終極閉環！在知識與創新密集型企業中，貨幣資本已不再稀缺，懂得如何創造客戶價值的「人力資本團隊」才是稀缺核心。事業合夥人制透過兩個改造完成治理躍遷：① 將人力資本從「純收益分享者」改造成「劣後風險承擔者（自掏資金跟投／劣後級持股）」，補齊對等原則；② 既然承擔了真實風險，便賦予合夥人團隊在董事會提名與業務決策上的主導權（如阿里湖畔合夥人、萬科項目跟投）。</a:t>
            </a:r>
          </a:p>
          <a:p>
            <a:r>
              <a:t>🔗【跨講因果鏈】【承上】承接第 17–20 講與第 25 講：當傳統監督與激勵仍無法解決經理人「包贏不包輸」，且第 25 講留下的「誰是權力中心」亟待解答 ➔ 【本講核心】提出「事業合夥人制（強制跟投＋風險共擔）」，完成從「控制經理人」到「激活合夥人並共擔風險」的治理升維 ➔ 【啟下】觸發第 30 講：當公司有了幾十上百個事業合夥人、權力下放了，靠什麼防止他們各自為政、山頭林立？（企業軟治理：價值觀落地！）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【頁碼與主題】32｜32｜裂變式創業：到底是靈丹妙藥還是鏡花水月？ (版型 8：BCG 論法 (BCG 2×2 Matrix))</a:t>
            </a:r>
          </a:p>
          <a:p>
            <a:r>
              <a:t>【結論 Action Title】內部裂變創業不是萬靈丹：0 到 1 的顛覆創新要靠『少數精英＋獨立創新特區』，1 到 N 的成熟擴張才適合『中台＋常態裂變』。</a:t>
            </a:r>
          </a:p>
          <a:p>
            <a:r>
              <a:t>【顧問說明】微信的成功得益於廣州團隊遠離總部官僚干擾的『特區環境』與張小龍稀缺的產品家精神。</a:t>
            </a:r>
          </a:p>
          <a:p>
            <a:r>
              <a:t>【鋪墊與轉場】既然一家公司內部能長出的企業家終究有限，如果把治理邊界擴展到公司外部的創業夥伴呢？下一講我們看『生態治理』。</a:t>
            </a:r>
          </a:p>
          <a:p/>
          <a:p>
            <a:r>
              <a:t>🌱【入門者導讀】大公司最怕患上「大企業病（反應慢、官僚、創新死掉）」，於是很多老闆迷上「內部裂變創業」——把大公司拆成幾百個小公司，讓員工自己當 CEO 內部創業！但為什麼有的大獲成功（像騰訊內部孵出微信、芬尼克茲裂變出十幾家新公司），有的卻一地雞毛（像華為早年內部創業、萬科「小草計畫」）？劉松博教授一針見血：**你要先分清楚是「從 0 到 1 發明新東西」還是「從 1 到 100 複製老店」**！如果是開店、做服裝小組（複製成熟模式），可以搞全員裂變；但如果是搞全新科技產品（從 0 到 1），因為真正的「企業家精神」極少，只能挑極個別天才給他建一個不受總部打擾的「**創新特區**」！</a:t>
            </a:r>
          </a:p>
          <a:p>
            <a:r>
              <a:t>📖【商業故事案例】【為什麼「微信」誕生在廣州的一個小部門，而不是深圳騰訊總部？】2010 年移動互聯網爆發，騰訊深圳總部有上千人規模的龐大 QQ 團隊，卻沒能做出微信，反而是遠在廣州、原本做郵箱的張小龍小團隊用幾個月做出了微信！為什麼？因為廣州研發部遠離深圳總部的既有 KPI 考核、部門利益糾葛與層層匯報，張小龍擁有極高的產品獨立決策權，同時又能隨時調用騰訊龐大的伺服器資金與 QQ 帳號關係鏈。這就是最典型的「創新特區」！</a:t>
            </a:r>
          </a:p>
          <a:p>
            <a:r>
              <a:t>🏛️【進階思考模型：【0到1 創新特區 vs. 1到N 複製裂變】內部創業雙模矩陣】許多大企業搞內部創業失敗，是因為犯了兩個致命錯誤：① **假放權**（名為創業小微，實則人事財務審批全卡在總部職能部門手裡）；② **混淆探索與複製**（以為每個員工都有從 0 到 1 的企業家天賦，導致戰略失焦、甚至利用母公司資源自肥）。進階 CEO 必須建立雙模治理：對「探索未知業務」採少而精的【特區制（大授權＋高容錯）】；對「成熟模式擴張」採標準化的【中台賦能＋前端裂變合夥制】。</a:t>
            </a:r>
          </a:p>
          <a:p>
            <a:r>
              <a:t>🔗【跨講因果鏈】【承上】承接第 31 講：將治理下沉從「分股權（全員持股）」推向極致——「分經營權與創業權（內部裂變創業）」 ➔ 【本講核心】揭示內部創業受限於「企業家精神稀缺」與「大公司科層慣性」，區分創新特區與複製裂變兩條路徑 ➔ 【啟下】觸發第 33 講：既然公司內部的企業家精神終究有限，如果我們走出公司圍牆，把外面的創業者連結起來呢？這就升維到了「生態型組織與生態治理」！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777240"/>
            <a:ext cx="4114800" cy="329184"/>
          </a:xfrm>
          <a:prstGeom prst="round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95528"/>
            <a:ext cx="3931920" cy="292608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FFFFFF"/>
                </a:solidFill>
                <a:latin typeface="Microsoft JhengHei"/>
              </a:rPr>
              <a:t>EXECUTIVE BRIEFING｜16-SLIDE ZERO-NOISE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6583680" cy="16459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劉松博《公司治理30講》</a:t>
            </a:r>
          </a:p>
          <a:p>
            <a:pPr algn="l">
              <a:lnSpc>
                <a:spcPct val="120000"/>
              </a:lnSpc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無雜訊執行長決策簡報（精華 16 頁）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54680"/>
            <a:ext cx="6583680" cy="109728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CBD5E1"/>
                </a:solidFill>
                <a:latin typeface="Microsoft JhengHei"/>
              </a:rPr>
              <a:t>從入門概念到 CEO 頂層思考架構｜涵蓋股權設計、董事會制衡、經理人激勵與控制權防禦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526280"/>
            <a:ext cx="6492240" cy="1325880"/>
          </a:xfrm>
          <a:prstGeom prst="rect">
            <a:avLst/>
          </a:prstGeom>
          <a:solidFill>
            <a:srgbClr val="0C2B44"/>
          </a:solidFill>
          <a:ln w="12700"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645152"/>
            <a:ext cx="6126480" cy="109728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35000"/>
              </a:lnSpc>
            </a:pPr>
            <a:r>
              <a:rPr sz="1019" b="0">
                <a:solidFill>
                  <a:srgbClr val="F1F5F9"/>
                </a:solidFill>
                <a:latin typeface="Microsoft JhengHei"/>
              </a:rPr>
              <a:t>🌱 入門者導讀（Plain-Language &amp; Cases）：白話拆解核心定義＋萬科、安隆、國美、福耀等 40 個真實商業故事</a:t>
            </a:r>
          </a:p>
          <a:p>
            <a:pPr algn="l">
              <a:lnSpc>
                <a:spcPct val="135000"/>
              </a:lnSpc>
            </a:pPr>
            <a:r>
              <a:rPr sz="1019" b="0">
                <a:solidFill>
                  <a:srgbClr val="F1F5F9"/>
                </a:solidFill>
                <a:latin typeface="Microsoft JhengHei"/>
              </a:rPr>
              <a:t>🏛️ 進階者架構（Executive Mental Models）：CEO 頂層思考模型＋#041 跨講次因果鏈＋董事會決策檢核表</a:t>
            </a:r>
          </a:p>
          <a:p>
            <a:pPr algn="l">
              <a:lnSpc>
                <a:spcPct val="135000"/>
              </a:lnSpc>
            </a:pPr>
            <a:r>
              <a:rPr sz="1019" b="0">
                <a:solidFill>
                  <a:srgbClr val="F1F5F9"/>
                </a:solidFill>
                <a:latin typeface="Microsoft JhengHei"/>
              </a:rPr>
              <a:t>🎨 無雜訊顧問視覺（Zero-Noise 8 Archetypes）：森秀明 8 大邏輯版型 × McKinsey/BCG/Accenture 視覺系統</a:t>
            </a:r>
          </a:p>
        </p:txBody>
      </p:sp>
      <p:pic>
        <p:nvPicPr>
          <p:cNvPr id="10" name="Picture 9" descr="topic_cover.jpg_1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777240"/>
            <a:ext cx="4069080" cy="3054096"/>
          </a:xfrm>
          <a:prstGeom prst="rect">
            <a:avLst/>
          </a:prstGeom>
        </p:spPr>
      </p:pic>
      <p:pic>
        <p:nvPicPr>
          <p:cNvPr id="11" name="Picture 10" descr="lec_00_1.jpg_1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3977639"/>
            <a:ext cx="4069080" cy="187451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43800" y="5897880"/>
            <a:ext cx="4069080" cy="41148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880" b="0">
                <a:solidFill>
                  <a:srgbClr val="94A3B8"/>
                </a:solidFill>
                <a:latin typeface="Microsoft JhengHei"/>
              </a:rPr>
              <a:t>▲ 視覺輔助：企業董事會決策場景 ＆ 劉松博《公司治理30講》原版全書知識地圖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55080"/>
            <a:ext cx="10789920" cy="3200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94A3B8"/>
                </a:solidFill>
                <a:latin typeface="Microsoft JhengHei"/>
              </a:rPr>
              <a:t>A2.5 企業管理｜執行長專業知識庫 Flagship Deck   ｜   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0077C8"/>
                </a:solidFill>
                <a:latin typeface="Microsoft JhengHei"/>
              </a:rPr>
              <a:t>執行長專業知識庫｜全書系統架構 (#041)   ｜   ⑤ 流程矩陣 (Architecture Map)   ｜   知識庫 #041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02336"/>
            <a:ext cx="11201400" cy="7498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850" b="1">
                <a:solidFill>
                  <a:srgbClr val="051C2C"/>
                </a:solidFill>
                <a:latin typeface="Microsoft JhengHei"/>
              </a:rPr>
              <a:t>公司治理以「權力分配與制衡」為核心，串聯股權、兩會運作與經理人激勵四大閉環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33856"/>
            <a:ext cx="112014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4748B"/>
                </a:solidFill>
                <a:latin typeface="Microsoft JhengHei"/>
              </a:rPr>
              <a:t>從「我是誰（公司主體）」到「誰說了算（股權）」、「如何共治（董事會）」、「如何代理（CEO激勵與家族傳承）」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44752"/>
            <a:ext cx="112014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20140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4748B"/>
                </a:solidFill>
                <a:latin typeface="Microsoft JhengHei"/>
              </a:rPr>
              <a:t>全書架構總覽｜對應知識庫 #041 跨講次因果關係與全書邏輯架構  ｜  關鍵字：四大模組 / 所有權與經營權分離 / 股權制衡 / 董事會治理 / 委託代理理論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051C2C"/>
                </a:solidFill>
                <a:latin typeface="Microsoft JhengHei"/>
              </a:rPr>
              <a:t>2 /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72768"/>
            <a:ext cx="1170432" cy="56692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72768"/>
            <a:ext cx="1170432" cy="566928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19" b="1">
                <a:solidFill>
                  <a:srgbClr val="FFFFFF"/>
                </a:solidFill>
                <a:latin typeface="Microsoft JhengHei"/>
              </a:rPr>
              <a:t>治理維度 \ 階段</a:t>
            </a:r>
          </a:p>
        </p:txBody>
      </p:sp>
      <p:sp>
        <p:nvSpPr>
          <p:cNvPr id="12" name="Chevron 11"/>
          <p:cNvSpPr/>
          <p:nvPr/>
        </p:nvSpPr>
        <p:spPr>
          <a:xfrm>
            <a:off x="1746504" y="1572768"/>
            <a:ext cx="1508759" cy="566928"/>
          </a:xfrm>
          <a:prstGeom prst="chevron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19656" y="1572768"/>
            <a:ext cx="1344167" cy="566928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19" b="1">
                <a:solidFill>
                  <a:srgbClr val="FFFFFF"/>
                </a:solidFill>
                <a:latin typeface="Microsoft JhengHei"/>
              </a:rPr>
              <a:t>模組一：基礎與演進</a:t>
            </a:r>
          </a:p>
          <a:p>
            <a:pPr algn="ctr">
              <a:lnSpc>
                <a:spcPct val="118000"/>
              </a:lnSpc>
            </a:pPr>
            <a:r>
              <a:rPr sz="919" b="1">
                <a:solidFill>
                  <a:srgbClr val="FFFFFF"/>
                </a:solidFill>
                <a:latin typeface="Microsoft JhengHei"/>
              </a:rPr>
              <a:t>(00~05講)</a:t>
            </a:r>
          </a:p>
        </p:txBody>
      </p:sp>
      <p:sp>
        <p:nvSpPr>
          <p:cNvPr id="14" name="Chevron 13"/>
          <p:cNvSpPr/>
          <p:nvPr/>
        </p:nvSpPr>
        <p:spPr>
          <a:xfrm>
            <a:off x="3328415" y="1572768"/>
            <a:ext cx="1508759" cy="566928"/>
          </a:xfrm>
          <a:prstGeom prst="chevron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7" y="1572768"/>
            <a:ext cx="1344167" cy="566928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19" b="1">
                <a:solidFill>
                  <a:srgbClr val="FFFFFF"/>
                </a:solidFill>
                <a:latin typeface="Microsoft JhengHei"/>
              </a:rPr>
              <a:t>模組二：股權與股東</a:t>
            </a:r>
          </a:p>
          <a:p>
            <a:pPr algn="ctr">
              <a:lnSpc>
                <a:spcPct val="118000"/>
              </a:lnSpc>
            </a:pPr>
            <a:r>
              <a:rPr sz="919" b="1">
                <a:solidFill>
                  <a:srgbClr val="FFFFFF"/>
                </a:solidFill>
                <a:latin typeface="Microsoft JhengHei"/>
              </a:rPr>
              <a:t>(06~14講)</a:t>
            </a:r>
          </a:p>
        </p:txBody>
      </p:sp>
      <p:sp>
        <p:nvSpPr>
          <p:cNvPr id="16" name="Chevron 15"/>
          <p:cNvSpPr/>
          <p:nvPr/>
        </p:nvSpPr>
        <p:spPr>
          <a:xfrm>
            <a:off x="4910327" y="1572768"/>
            <a:ext cx="1508759" cy="566928"/>
          </a:xfrm>
          <a:prstGeom prst="chevron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79" y="1572768"/>
            <a:ext cx="1344167" cy="566928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19" b="1">
                <a:solidFill>
                  <a:srgbClr val="FFFFFF"/>
                </a:solidFill>
                <a:latin typeface="Microsoft JhengHei"/>
              </a:rPr>
              <a:t>模組三：董事與監事</a:t>
            </a:r>
          </a:p>
          <a:p>
            <a:pPr algn="ctr">
              <a:lnSpc>
                <a:spcPct val="118000"/>
              </a:lnSpc>
            </a:pPr>
            <a:r>
              <a:rPr sz="919" b="1">
                <a:solidFill>
                  <a:srgbClr val="FFFFFF"/>
                </a:solidFill>
                <a:latin typeface="Microsoft JhengHei"/>
              </a:rPr>
              <a:t>(15~22講)</a:t>
            </a:r>
          </a:p>
        </p:txBody>
      </p:sp>
      <p:sp>
        <p:nvSpPr>
          <p:cNvPr id="18" name="Chevron 17"/>
          <p:cNvSpPr/>
          <p:nvPr/>
        </p:nvSpPr>
        <p:spPr>
          <a:xfrm>
            <a:off x="6492239" y="1572768"/>
            <a:ext cx="1508759" cy="566928"/>
          </a:xfrm>
          <a:prstGeom prst="chevron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1" y="1572768"/>
            <a:ext cx="1344167" cy="566928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19" b="1">
                <a:solidFill>
                  <a:srgbClr val="FFFFFF"/>
                </a:solidFill>
                <a:latin typeface="Microsoft JhengHei"/>
              </a:rPr>
              <a:t>模組四：經理人與控制</a:t>
            </a:r>
          </a:p>
          <a:p>
            <a:pPr algn="ctr">
              <a:lnSpc>
                <a:spcPct val="118000"/>
              </a:lnSpc>
            </a:pPr>
            <a:r>
              <a:rPr sz="919" b="1">
                <a:solidFill>
                  <a:srgbClr val="FFFFFF"/>
                </a:solidFill>
                <a:latin typeface="Microsoft JhengHei"/>
              </a:rPr>
              <a:t>(23~39講)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249424"/>
            <a:ext cx="1170432" cy="1304544"/>
          </a:xfrm>
          <a:prstGeom prst="rect">
            <a:avLst/>
          </a:prstGeom>
          <a:solidFill>
            <a:srgbClr val="F4F6F9"/>
          </a:solidFill>
          <a:ln w="12700">
            <a:solidFill>
              <a:srgbClr val="051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" y="2249424"/>
            <a:ext cx="1060704" cy="1304544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051C2C"/>
                </a:solidFill>
                <a:latin typeface="Microsoft JhengHei"/>
              </a:rPr>
              <a:t>核心命題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46504" y="2249424"/>
            <a:ext cx="1508759" cy="13045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19656" y="2304288"/>
            <a:ext cx="1362455" cy="11948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>
                <a:solidFill>
                  <a:srgbClr val="1A202C"/>
                </a:solidFill>
                <a:latin typeface="Microsoft JhengHei"/>
              </a:rPr>
              <a:t>企業制度起源、有限責任奇蹟、兩權分離與利益相關者邊界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28415" y="2249424"/>
            <a:ext cx="1508759" cy="13045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1567" y="2304288"/>
            <a:ext cx="1362455" cy="11948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>
                <a:solidFill>
                  <a:srgbClr val="1A202C"/>
                </a:solidFill>
                <a:latin typeface="Microsoft JhengHei"/>
              </a:rPr>
              <a:t>股權生命線（67/51/34%）、一致行動人、AB股、金字塔與國企混改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10327" y="2249424"/>
            <a:ext cx="1508759" cy="13045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83479" y="2304288"/>
            <a:ext cx="1362455" cy="11948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>
                <a:solidFill>
                  <a:srgbClr val="1A202C"/>
                </a:solidFill>
                <a:latin typeface="Microsoft JhengHei"/>
              </a:rPr>
              <a:t>股東會程序正義、董事會規模與結構、獨立董事、累積投票與監事會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39" y="2249424"/>
            <a:ext cx="1508759" cy="13045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1" y="2304288"/>
            <a:ext cx="1362455" cy="11948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>
                <a:solidFill>
                  <a:srgbClr val="1A202C"/>
                </a:solidFill>
                <a:latin typeface="Microsoft JhengHei"/>
              </a:rPr>
              <a:t>CEO選拔標準、代理成本、股權激勵、敵意收購防禦、合夥人與家族治理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645408"/>
            <a:ext cx="1170432" cy="1304544"/>
          </a:xfrm>
          <a:prstGeom prst="rect">
            <a:avLst/>
          </a:prstGeom>
          <a:solidFill>
            <a:srgbClr val="F4F6F9"/>
          </a:solidFill>
          <a:ln w="12700">
            <a:solidFill>
              <a:srgbClr val="051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" y="3645408"/>
            <a:ext cx="1060704" cy="1304544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051C2C"/>
                </a:solidFill>
                <a:latin typeface="Microsoft JhengHei"/>
              </a:rPr>
              <a:t>解決痛點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46504" y="3645408"/>
            <a:ext cx="1508759" cy="13045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19656" y="3700272"/>
            <a:ext cx="1362455" cy="11948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>
                <a:solidFill>
                  <a:srgbClr val="1A202C"/>
                </a:solidFill>
                <a:latin typeface="Microsoft JhengHei"/>
              </a:rPr>
              <a:t>打破「企業＝老闆私產」迷思，確立獨立法人財產與治理制衡底線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28415" y="3645408"/>
            <a:ext cx="1508759" cy="13045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01567" y="3700272"/>
            <a:ext cx="1362455" cy="11948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>
                <a:solidFill>
                  <a:srgbClr val="1A202C"/>
                </a:solidFill>
                <a:latin typeface="Microsoft JhengHei"/>
              </a:rPr>
              <a:t>消滅五五開僵局、防範金字塔掏空、用少數資金鎖定公司控制權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10327" y="3645408"/>
            <a:ext cx="1508759" cy="13045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83479" y="3700272"/>
            <a:ext cx="1362455" cy="11948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>
                <a:solidFill>
                  <a:srgbClr val="1A202C"/>
                </a:solidFill>
                <a:latin typeface="Microsoft JhengHei"/>
              </a:rPr>
              <a:t>防止一言堂與人情董事會，落實「一人一票、會議決策、程序合規」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39" y="3645408"/>
            <a:ext cx="1508759" cy="13045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65391" y="3700272"/>
            <a:ext cx="1362455" cy="11948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>
                <a:solidFill>
                  <a:srgbClr val="1A202C"/>
                </a:solidFill>
                <a:latin typeface="Microsoft JhengHei"/>
              </a:rPr>
              <a:t>化解「經理人偷懶與帝國建造」，防止野蠻人突襲與家族富不過三代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5041392"/>
            <a:ext cx="1170432" cy="1304544"/>
          </a:xfrm>
          <a:prstGeom prst="rect">
            <a:avLst/>
          </a:prstGeom>
          <a:solidFill>
            <a:srgbClr val="F4F6F9"/>
          </a:solidFill>
          <a:ln w="12700">
            <a:solidFill>
              <a:srgbClr val="051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7784" y="5041392"/>
            <a:ext cx="1060704" cy="1304544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051C2C"/>
                </a:solidFill>
                <a:latin typeface="Microsoft JhengHei"/>
              </a:rPr>
              <a:t>代表案例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46504" y="5041392"/>
            <a:ext cx="1508759" cy="13045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19656" y="5096256"/>
            <a:ext cx="1362455" cy="11948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>
                <a:solidFill>
                  <a:srgbClr val="1A202C"/>
                </a:solidFill>
                <a:latin typeface="Microsoft JhengHei"/>
              </a:rPr>
              <a:t>巴林銀行倒閉案、東印度公司、安隆(Enron)破產案、優步(Uber)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28415" y="5041392"/>
            <a:ext cx="1508759" cy="13045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01567" y="5096256"/>
            <a:ext cx="1362455" cy="11948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>
                <a:solidFill>
                  <a:srgbClr val="1A202C"/>
                </a:solidFill>
                <a:latin typeface="Microsoft JhengHei"/>
              </a:rPr>
              <a:t>真功夫50:50僵局、海底撈68:32破局、Facebook AB股、阿里巴巴合夥人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10327" y="5041392"/>
            <a:ext cx="1508759" cy="13045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83479" y="5096256"/>
            <a:ext cx="1362455" cy="11948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>
                <a:solidFill>
                  <a:srgbClr val="1A202C"/>
                </a:solidFill>
                <a:latin typeface="Microsoft JhengHei"/>
              </a:rPr>
              <a:t>萬科王石與華潤之爭、樂視網獨董辭職潮、中集集團累積投票制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92239" y="5041392"/>
            <a:ext cx="1508759" cy="130454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65391" y="5096256"/>
            <a:ext cx="1362455" cy="11948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>
                <a:solidFill>
                  <a:srgbClr val="1A202C"/>
                </a:solidFill>
                <a:latin typeface="Microsoft JhengHei"/>
              </a:rPr>
              <a:t>萬科寶能控制權大戰、國美黃光裕陳曉之爭、福耀玻璃曹德旺接班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83879" y="1572768"/>
            <a:ext cx="3520440" cy="47731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83879" y="1572768"/>
            <a:ext cx="3520440" cy="29260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57031" y="1591056"/>
            <a:ext cx="3374136" cy="25603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Microsoft JhengHei"/>
              </a:rPr>
              <a:t>🖼️ 視覺情境輔助 ＆ 入門／進階雙軌導讀</a:t>
            </a:r>
          </a:p>
        </p:txBody>
      </p:sp>
      <p:pic>
        <p:nvPicPr>
          <p:cNvPr id="53" name="Picture 52" descr="lec_00_1.jpg_1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607" y="1938528"/>
            <a:ext cx="3300984" cy="2057400"/>
          </a:xfrm>
          <a:prstGeom prst="rect">
            <a:avLst/>
          </a:prstGeom>
        </p:spPr>
      </p:pic>
      <p:sp>
        <p:nvSpPr>
          <p:cNvPr id="54" name="Rectangle 53"/>
          <p:cNvSpPr/>
          <p:nvPr/>
        </p:nvSpPr>
        <p:spPr>
          <a:xfrm>
            <a:off x="8293607" y="1938528"/>
            <a:ext cx="3300984" cy="2057400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293607" y="4032504"/>
            <a:ext cx="330098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30183" y="4050792"/>
            <a:ext cx="3227832" cy="4572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1A202C"/>
                </a:solidFill>
                <a:latin typeface="Microsoft JhengHei"/>
              </a:rPr>
              <a:t>📌 圖說：劉松博《公司治理30講》原版全書知識結構圖：以利益相關者為外環，股東會、董事會、監事會、高層經理人為核心內環。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93607" y="4599432"/>
            <a:ext cx="3300984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293607" y="4599432"/>
            <a:ext cx="64008" cy="841248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03335" y="4626864"/>
            <a:ext cx="3154680" cy="21945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80" b="1">
                <a:solidFill>
                  <a:srgbClr val="0077C8"/>
                </a:solidFill>
                <a:latin typeface="Microsoft JhengHei"/>
              </a:rPr>
              <a:t>🌱 入門者核心秒懂（Plain-Language）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03335" y="4828032"/>
            <a:ext cx="3154680" cy="5852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19" b="0">
                <a:solidFill>
                  <a:srgbClr val="1A202C"/>
                </a:solidFill>
                <a:latin typeface="Microsoft JhengHei"/>
              </a:rPr>
              <a:t>把公司治理想成「開飛機的規則」：第一模組認識飛機構造（公司與有限責任），第二模組決定誰握有方向盤所有權（股權），第三模組設計駕駛艙儀表板與副駕駛監督（董事會與監…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93607" y="5495544"/>
            <a:ext cx="3300984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051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93607" y="5495544"/>
            <a:ext cx="64008" cy="84124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03335" y="5522976"/>
            <a:ext cx="3154680" cy="21945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80" b="1">
                <a:solidFill>
                  <a:srgbClr val="051C2C"/>
                </a:solidFill>
                <a:latin typeface="Microsoft JhengHei"/>
              </a:rPr>
              <a:t>🏛️ 進階架構：公司治理四階因果漏斗 (4-Stage Governance Funnel)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03335" y="5724144"/>
            <a:ext cx="3154680" cy="5852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19" b="0">
                <a:solidFill>
                  <a:srgbClr val="1A202C"/>
                </a:solidFill>
                <a:latin typeface="Microsoft JhengHei"/>
              </a:rPr>
              <a:t>制度起源（有限責任＋兩權分離）➔ 產權配置（股權結構＋控制權槓桿）➔ 機構制衡（董事會獨立性＋表決程序＋監事會）➔ 代理對齊（外部市場接管＋長期股權激勵…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0077C8"/>
                </a:solidFill>
                <a:latin typeface="Microsoft JhengHei"/>
              </a:rPr>
              <a:t>模組一：治理認知模型   ｜   版型 3：結合論法 (Combined Tree)   ｜   知識庫 #001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02336"/>
            <a:ext cx="11201400" cy="7498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051C2C"/>
                </a:solidFill>
                <a:latin typeface="Microsoft JhengHei"/>
              </a:rPr>
              <a:t>① 主張：公司治理是決定企業生死的「樹根」，透過界定股東與經理人的權力與利益，支撐經營管理與長期業績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33856"/>
            <a:ext cx="112014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4748B"/>
                </a:solidFill>
                <a:latin typeface="Microsoft JhengHei"/>
              </a:rPr>
              <a:t>發刊詞核心主張：不能只用事後成敗評價聯想與華為，必須回到「兩類人 × 兩件事」的頂層制度設計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44752"/>
            <a:ext cx="112014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20140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4748B"/>
                </a:solidFill>
                <a:latin typeface="Microsoft JhengHei"/>
              </a:rPr>
              <a:t>Source: 劉松博《公司治理30講》00 發刊詞 ｜ 知識庫條目 #001 ｜ McKinsey Pyramid Style  ｜  關鍵字：發刊詞 / 華為 / 聯想 / 柳傳志 / 任正非 / 公司治理 / 企業管理 / 樹根與樹幹 / 股東 / 經理人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051C2C"/>
                </a:solidFill>
                <a:latin typeface="Microsoft JhengHei"/>
              </a:rPr>
              <a:t>3 /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72768"/>
            <a:ext cx="3685031" cy="3611880"/>
          </a:xfrm>
          <a:prstGeom prst="rect">
            <a:avLst/>
          </a:prstGeom>
          <a:solidFill>
            <a:srgbClr val="F4F6F9"/>
          </a:solidFill>
          <a:ln w="19050"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572768"/>
            <a:ext cx="3685031" cy="694944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627632"/>
            <a:ext cx="3538727" cy="585216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FFFFFF"/>
                </a:solidFill>
                <a:latin typeface="Microsoft JhengHei"/>
              </a:rPr>
              <a:t>② 主要素 1：治理聚焦「兩類人 × 兩件事」頂層規則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359152"/>
            <a:ext cx="3502151" cy="273405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30" b="0">
                <a:solidFill>
                  <a:srgbClr val="1A202C"/>
                </a:solidFill>
                <a:latin typeface="Microsoft JhengHei"/>
              </a:rPr>
              <a:t>▪ ③ 事實 A（兩類人）： 聚焦【股東】與【高層經理人】之間的委託代理與控制關係</a:t>
            </a:r>
          </a:p>
          <a:p>
            <a:pPr algn="l">
              <a:lnSpc>
                <a:spcPct val="118000"/>
              </a:lnSpc>
            </a:pPr>
          </a:p>
          <a:p>
            <a:pPr algn="l">
              <a:lnSpc>
                <a:spcPct val="118000"/>
              </a:lnSpc>
            </a:pPr>
            <a:r>
              <a:rPr sz="930" b="0">
                <a:solidFill>
                  <a:srgbClr val="1A202C"/>
                </a:solidFill>
                <a:latin typeface="Microsoft JhengHei"/>
              </a:rPr>
              <a:t>▪ ③ 事實 B（兩件事）： 確立【權力如何配置（誰說了算）】與【利益如何分配（怎麼分錢）】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7" y="1572768"/>
            <a:ext cx="3685031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7" y="1572768"/>
            <a:ext cx="3685031" cy="694944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19" y="1627632"/>
            <a:ext cx="3538727" cy="585216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FFFFFF"/>
                </a:solidFill>
                <a:latin typeface="Microsoft JhengHei"/>
              </a:rPr>
              <a:t>② 主要素 2：治理結構決定企業的長期戰略選擇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7" y="2359152"/>
            <a:ext cx="3502151" cy="273405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30" b="0">
                <a:solidFill>
                  <a:srgbClr val="1A202C"/>
                </a:solidFill>
                <a:latin typeface="Microsoft JhengHei"/>
              </a:rPr>
              <a:t>▪ ③ 事實 C（聯想案例）： 柳傳志身為國企背景職業經理人，受股東回報與資本市場短期壓力約束</a:t>
            </a:r>
          </a:p>
          <a:p>
            <a:pPr algn="l">
              <a:lnSpc>
                <a:spcPct val="118000"/>
              </a:lnSpc>
            </a:pPr>
          </a:p>
          <a:p>
            <a:pPr algn="l">
              <a:lnSpc>
                <a:spcPct val="118000"/>
              </a:lnSpc>
            </a:pPr>
            <a:r>
              <a:rPr sz="930" b="0">
                <a:solidFill>
                  <a:srgbClr val="1A202C"/>
                </a:solidFill>
                <a:latin typeface="Microsoft JhengHei"/>
              </a:rPr>
              <a:t>▪ ③ 事實 D（華為案例）： 任正非身為民企創始股東，擁有自主投入晶片長線研發並承擔虧損的權限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330952"/>
            <a:ext cx="7498079" cy="1014984"/>
          </a:xfrm>
          <a:prstGeom prst="round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5404104"/>
            <a:ext cx="7168895" cy="86868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1019" b="1">
                <a:solidFill>
                  <a:srgbClr val="FFFFFF"/>
                </a:solidFill>
                <a:latin typeface="Microsoft JhengHei"/>
              </a:rPr>
              <a:t>🎯 結合型核心綜效：① 頂層結論：公司治理（樹根）決定管理（樹幹）能否結出長期業績（花果）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79" y="1572768"/>
            <a:ext cx="3520440" cy="47731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79" y="1572768"/>
            <a:ext cx="3520440" cy="29260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7031" y="1591056"/>
            <a:ext cx="3374136" cy="25603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Microsoft JhengHei"/>
              </a:rPr>
              <a:t>🖼️ 視覺情境輔助 ＆ 入門／進階雙軌導讀</a:t>
            </a:r>
          </a:p>
        </p:txBody>
      </p:sp>
      <p:pic>
        <p:nvPicPr>
          <p:cNvPr id="23" name="Picture 22" descr="topic_00.jpg_1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607" y="1938528"/>
            <a:ext cx="3300984" cy="20574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293607" y="1938528"/>
            <a:ext cx="3300984" cy="2057400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93607" y="4032504"/>
            <a:ext cx="330098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0183" y="4050792"/>
            <a:ext cx="3227832" cy="4572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1A202C"/>
                </a:solidFill>
                <a:latin typeface="Microsoft JhengHei"/>
              </a:rPr>
              <a:t>📌 圖說：▲ 商業情境視覺：摩天大樓的地基與鋼骨結構如同「公司治理（樹根）」，外牆與營運樓層如同「企業管理（樹幹）」。若頂層地基錯位，大樓越高越危險。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93607" y="4599432"/>
            <a:ext cx="3300984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93607" y="4599432"/>
            <a:ext cx="64008" cy="841248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03335" y="4626864"/>
            <a:ext cx="3154680" cy="21945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80" b="1">
                <a:solidFill>
                  <a:srgbClr val="0077C8"/>
                </a:solidFill>
                <a:latin typeface="Microsoft JhengHei"/>
              </a:rPr>
              <a:t>🌱 入門者核心秒懂（Plain-Language）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3335" y="4828032"/>
            <a:ext cx="3154680" cy="5852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19" b="0">
                <a:solidFill>
                  <a:srgbClr val="1A202C"/>
                </a:solidFill>
                <a:latin typeface="Microsoft JhengHei"/>
              </a:rPr>
              <a:t>許多人把「公司治理」和「企業管理」混為一談。簡單來說：總經理帶著員工做行銷、研發、生產、管考勤，這叫「管理（樹幹）」；但在總經理頭上，決定「誰能當老闆、董事會怎…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93607" y="5495544"/>
            <a:ext cx="3300984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051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93607" y="5495544"/>
            <a:ext cx="64008" cy="84124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03335" y="5522976"/>
            <a:ext cx="3154680" cy="21945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80" b="1">
                <a:solidFill>
                  <a:srgbClr val="051C2C"/>
                </a:solidFill>
                <a:latin typeface="Microsoft JhengHei"/>
              </a:rPr>
              <a:t>🏛️ 進階架構：【樹根—樹幹—花果】頂層決策歸因模型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03335" y="5724144"/>
            <a:ext cx="3154680" cy="5852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19" b="0">
                <a:solidFill>
                  <a:srgbClr val="1A202C"/>
                </a:solidFill>
                <a:latin typeface="Microsoft JhengHei"/>
              </a:rPr>
              <a:t>進階決策者在診斷企業問題時，不應只停留在策略或執行層面（花果與樹幹），而應先向上追溯「決策者的產權身分與治理約束（樹根）」。全課程由「兩類人（股東、經理…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4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177B57"/>
                </a:solidFill>
                <a:latin typeface="Microsoft JhengHei"/>
              </a:rPr>
              <a:t>模組一：治理認知模型   ｜   版型 6：對立論法 (Opposition)   ｜   知識庫 #002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02336"/>
            <a:ext cx="11201400" cy="7498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4B2B"/>
                </a:solidFill>
                <a:latin typeface="Microsoft JhengHei"/>
              </a:rPr>
              <a:t>① 主張：現代公司憑藉「有限責任」與「獨立法人財產權」，徹底解決古典企業無法大規模集資與永續經營的缺陷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33856"/>
            <a:ext cx="112014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5A7365"/>
                </a:solidFill>
                <a:latin typeface="Microsoft JhengHei"/>
              </a:rPr>
              <a:t>從西門慶當鋪、胡雪岩破產到創維黃宏生案，看懂「古典自然人企業」與「現代法人公司」的本質鴻溝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44752"/>
            <a:ext cx="11201400" cy="18288"/>
          </a:xfrm>
          <a:prstGeom prst="rect">
            <a:avLst/>
          </a:prstGeom>
          <a:solidFill>
            <a:srgbClr val="C3D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201400" cy="13716"/>
          </a:xfrm>
          <a:prstGeom prst="rect">
            <a:avLst/>
          </a:prstGeom>
          <a:solidFill>
            <a:srgbClr val="C3D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5A7365"/>
                </a:solidFill>
                <a:latin typeface="Microsoft JhengHei"/>
              </a:rPr>
              <a:t>Source: 劉松博《公司治理30講》01 講 ｜ 知識庫條目 #002 ｜ BCG Opposition Style  ｜  關鍵字：有限責任 / 法人 / 胡雪岩 / 西門慶 / 黃宏生 / 創維 / 東印度公司 / 獨資 / 合夥 / 科斯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004B2B"/>
                </a:solidFill>
                <a:latin typeface="Microsoft JhengHei"/>
              </a:rPr>
              <a:t>4 /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72768"/>
            <a:ext cx="1280160" cy="530352"/>
          </a:xfrm>
          <a:prstGeom prst="rect">
            <a:avLst/>
          </a:prstGeom>
          <a:solidFill>
            <a:srgbClr val="F2F8F5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72768"/>
            <a:ext cx="1280160" cy="53035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004B2B"/>
                </a:solidFill>
                <a:latin typeface="Microsoft JhengHei"/>
              </a:rPr>
              <a:t>對立維度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56232" y="1572768"/>
            <a:ext cx="2834639" cy="5303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9384" y="1572768"/>
            <a:ext cx="2688335" cy="53035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80" b="1">
                <a:solidFill>
                  <a:srgbClr val="FFFFFF"/>
                </a:solidFill>
                <a:latin typeface="Microsoft JhengHei"/>
              </a:rPr>
              <a:t>② 見解 A：古典企業（個人獨資／合夥企業）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1" y="1572768"/>
            <a:ext cx="402336" cy="53035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177B57"/>
                </a:solidFill>
                <a:latin typeface="Microsoft JhengHei"/>
              </a:rPr>
              <a:t>VS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93207" y="1572768"/>
            <a:ext cx="2834639" cy="530352"/>
          </a:xfrm>
          <a:prstGeom prst="rect">
            <a:avLst/>
          </a:prstGeom>
          <a:solidFill>
            <a:srgbClr val="004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59" y="1572768"/>
            <a:ext cx="2688335" cy="53035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80" b="1">
                <a:solidFill>
                  <a:srgbClr val="FFFFFF"/>
                </a:solidFill>
                <a:latin typeface="Microsoft JhengHei"/>
              </a:rPr>
              <a:t>② 見解 B：現代公司（有限責任／股份有限公司）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212848"/>
            <a:ext cx="1280160" cy="964692"/>
          </a:xfrm>
          <a:prstGeom prst="rect">
            <a:avLst/>
          </a:prstGeom>
          <a:solidFill>
            <a:srgbClr val="F2F8F5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" y="2212848"/>
            <a:ext cx="1170432" cy="96469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19" b="1">
                <a:solidFill>
                  <a:srgbClr val="004B2B"/>
                </a:solidFill>
                <a:latin typeface="Microsoft JhengHei"/>
              </a:rPr>
              <a:t>法律身分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56232" y="2212848"/>
            <a:ext cx="2834639" cy="964692"/>
          </a:xfrm>
          <a:prstGeom prst="rect">
            <a:avLst/>
          </a:prstGeom>
          <a:solidFill>
            <a:srgbClr val="F8FAFC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9384" y="2267712"/>
            <a:ext cx="2688335" cy="85496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0">
                <a:solidFill>
                  <a:srgbClr val="1A2E23"/>
                </a:solidFill>
                <a:latin typeface="Microsoft JhengHei"/>
              </a:rPr>
              <a:t>③ 自然人企業：企業與老闆個人沒有法律人格邊界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0871" y="2212848"/>
            <a:ext cx="402336" cy="96469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77B57"/>
                </a:solidFill>
                <a:latin typeface="Microsoft JhengHei"/>
              </a:rPr>
              <a:t>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93207" y="2212848"/>
            <a:ext cx="2834639" cy="964692"/>
          </a:xfrm>
          <a:prstGeom prst="rect">
            <a:avLst/>
          </a:prstGeom>
          <a:solidFill>
            <a:srgbClr val="F2F8F5"/>
          </a:solidFill>
          <a:ln w="15240">
            <a:solidFill>
              <a:srgbClr val="177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59" y="2267712"/>
            <a:ext cx="2688335" cy="85496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0">
                <a:solidFill>
                  <a:srgbClr val="1A2E23"/>
                </a:solidFill>
                <a:latin typeface="Microsoft JhengHei"/>
              </a:rPr>
              <a:t>③ 法人企業（Corporation）：法律上獨立的「人」，擁有獨立法人財產權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268980"/>
            <a:ext cx="1280160" cy="964692"/>
          </a:xfrm>
          <a:prstGeom prst="rect">
            <a:avLst/>
          </a:prstGeom>
          <a:solidFill>
            <a:srgbClr val="F2F8F5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" y="3268980"/>
            <a:ext cx="1170432" cy="96469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19" b="1">
                <a:solidFill>
                  <a:srgbClr val="004B2B"/>
                </a:solidFill>
                <a:latin typeface="Microsoft JhengHei"/>
              </a:rPr>
              <a:t>債務責任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56232" y="3268980"/>
            <a:ext cx="2834639" cy="964692"/>
          </a:xfrm>
          <a:prstGeom prst="rect">
            <a:avLst/>
          </a:prstGeom>
          <a:solidFill>
            <a:srgbClr val="F8FAFC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29384" y="3323844"/>
            <a:ext cx="2688335" cy="85496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0">
                <a:solidFill>
                  <a:srgbClr val="1A2E23"/>
                </a:solidFill>
                <a:latin typeface="Microsoft JhengHei"/>
              </a:rPr>
              <a:t>無限連帶責任：胡雪岩阜康銀號倒閉，須抄家傾家蕩產抵債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0871" y="3268980"/>
            <a:ext cx="402336" cy="96469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77B57"/>
                </a:solidFill>
                <a:latin typeface="Microsoft JhengHei"/>
              </a:rPr>
              <a:t>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93207" y="3268980"/>
            <a:ext cx="2834639" cy="964692"/>
          </a:xfrm>
          <a:prstGeom prst="rect">
            <a:avLst/>
          </a:prstGeom>
          <a:solidFill>
            <a:srgbClr val="F2F8F5"/>
          </a:solidFill>
          <a:ln w="15240">
            <a:solidFill>
              <a:srgbClr val="177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66359" y="3323844"/>
            <a:ext cx="2688335" cy="85496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0">
                <a:solidFill>
                  <a:srgbClr val="1A2E23"/>
                </a:solidFill>
                <a:latin typeface="Microsoft JhengHei"/>
              </a:rPr>
              <a:t>有限責任制度：股東僅以「出資額」為限承擔債務，個人資產受保護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325112"/>
            <a:ext cx="1280160" cy="964692"/>
          </a:xfrm>
          <a:prstGeom prst="rect">
            <a:avLst/>
          </a:prstGeom>
          <a:solidFill>
            <a:srgbClr val="F2F8F5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" y="4325112"/>
            <a:ext cx="1170432" cy="96469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19" b="1">
                <a:solidFill>
                  <a:srgbClr val="004B2B"/>
                </a:solidFill>
                <a:latin typeface="Microsoft JhengHei"/>
              </a:rPr>
              <a:t>財產邊界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56232" y="4325112"/>
            <a:ext cx="2834639" cy="964692"/>
          </a:xfrm>
          <a:prstGeom prst="rect">
            <a:avLst/>
          </a:prstGeom>
          <a:solidFill>
            <a:srgbClr val="F8FAFC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9384" y="4379976"/>
            <a:ext cx="2688335" cy="85496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0">
                <a:solidFill>
                  <a:srgbClr val="1A2E23"/>
                </a:solidFill>
                <a:latin typeface="Microsoft JhengHei"/>
              </a:rPr>
              <a:t>老闆可隨意取用店內財物（如《金瓶梅》西門慶把當鋪屏風搬回家）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90871" y="4325112"/>
            <a:ext cx="402336" cy="96469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77B57"/>
                </a:solidFill>
                <a:latin typeface="Microsoft JhengHei"/>
              </a:rPr>
              <a:t>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93207" y="4325112"/>
            <a:ext cx="2834639" cy="964692"/>
          </a:xfrm>
          <a:prstGeom prst="rect">
            <a:avLst/>
          </a:prstGeom>
          <a:solidFill>
            <a:srgbClr val="F2F8F5"/>
          </a:solidFill>
          <a:ln w="15240">
            <a:solidFill>
              <a:srgbClr val="177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66359" y="4379976"/>
            <a:ext cx="2688335" cy="85496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0">
                <a:solidFill>
                  <a:srgbClr val="1A2E23"/>
                </a:solidFill>
                <a:latin typeface="Microsoft JhengHei"/>
              </a:rPr>
              <a:t>股東私拿公司錢屬犯罪（如創維創辦人黃宏生挪用資金遭判刑）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5381244"/>
            <a:ext cx="1280160" cy="964692"/>
          </a:xfrm>
          <a:prstGeom prst="rect">
            <a:avLst/>
          </a:prstGeom>
          <a:solidFill>
            <a:srgbClr val="F2F8F5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7784" y="5381244"/>
            <a:ext cx="1170432" cy="96469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19" b="1">
                <a:solidFill>
                  <a:srgbClr val="004B2B"/>
                </a:solidFill>
                <a:latin typeface="Microsoft JhengHei"/>
              </a:rPr>
              <a:t>集資與壽命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56232" y="5381244"/>
            <a:ext cx="2834639" cy="964692"/>
          </a:xfrm>
          <a:prstGeom prst="rect">
            <a:avLst/>
          </a:prstGeom>
          <a:solidFill>
            <a:srgbClr val="F8FAFC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29384" y="5436108"/>
            <a:ext cx="2688335" cy="85496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0">
                <a:solidFill>
                  <a:srgbClr val="1A2E23"/>
                </a:solidFill>
                <a:latin typeface="Microsoft JhengHei"/>
              </a:rPr>
              <a:t>親友熟人小規模集資；自然人死亡或退夥即易中斷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90871" y="5381244"/>
            <a:ext cx="402336" cy="96469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77B57"/>
                </a:solidFill>
                <a:latin typeface="Microsoft JhengHei"/>
              </a:rPr>
              <a:t>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93207" y="5381244"/>
            <a:ext cx="2834639" cy="964692"/>
          </a:xfrm>
          <a:prstGeom prst="rect">
            <a:avLst/>
          </a:prstGeom>
          <a:solidFill>
            <a:srgbClr val="F2F8F5"/>
          </a:solidFill>
          <a:ln w="15240">
            <a:solidFill>
              <a:srgbClr val="177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66359" y="5436108"/>
            <a:ext cx="2688335" cy="85496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0">
                <a:solidFill>
                  <a:srgbClr val="1A2E23"/>
                </a:solidFill>
                <a:latin typeface="Microsoft JhengHei"/>
              </a:rPr>
              <a:t>陌生人放心集聚巨額資本（如東印度公司、修鐵路）；股份自由轉讓可永續經營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83879" y="1572768"/>
            <a:ext cx="3520440" cy="4773168"/>
          </a:xfrm>
          <a:prstGeom prst="rect">
            <a:avLst/>
          </a:prstGeom>
          <a:solidFill>
            <a:srgbClr val="F7FBF9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83879" y="1572768"/>
            <a:ext cx="3520440" cy="292608"/>
          </a:xfrm>
          <a:prstGeom prst="rect">
            <a:avLst/>
          </a:prstGeom>
          <a:solidFill>
            <a:srgbClr val="004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1591056"/>
            <a:ext cx="3374136" cy="25603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Microsoft JhengHei"/>
              </a:rPr>
              <a:t>🖼️ 視覺情境輔助 ＆ 入門／進階雙軌導讀</a:t>
            </a:r>
          </a:p>
        </p:txBody>
      </p:sp>
      <p:pic>
        <p:nvPicPr>
          <p:cNvPr id="48" name="Picture 47" descr="topic_01.jpg_1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607" y="1938528"/>
            <a:ext cx="3300984" cy="2057400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8293607" y="1938528"/>
            <a:ext cx="3300984" cy="2057400"/>
          </a:xfrm>
          <a:prstGeom prst="rect">
            <a:avLst/>
          </a:prstGeom>
          <a:noFill/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93607" y="4032504"/>
            <a:ext cx="330098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30183" y="4050792"/>
            <a:ext cx="3227832" cy="4572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1A2E23"/>
                </a:solidFill>
                <a:latin typeface="Microsoft JhengHei"/>
              </a:rPr>
              <a:t>📌 圖說：▲ 商業情境視覺：17世紀遠洋貿易與大型基礎建設需要龐大資金，催生了「有限責任制度」，讓投資人無懼傾家蕩產，促成現代跨國公司誕生。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93607" y="4599432"/>
            <a:ext cx="3300984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177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93607" y="4599432"/>
            <a:ext cx="64008" cy="841248"/>
          </a:xfrm>
          <a:prstGeom prst="rect">
            <a:avLst/>
          </a:prstGeom>
          <a:solidFill>
            <a:srgbClr val="17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03335" y="4626864"/>
            <a:ext cx="3154680" cy="21945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80" b="1">
                <a:solidFill>
                  <a:srgbClr val="177B57"/>
                </a:solidFill>
                <a:latin typeface="Microsoft JhengHei"/>
              </a:rPr>
              <a:t>🌱 入門者核心秒懂（Plain-Language）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03335" y="4828032"/>
            <a:ext cx="3154680" cy="5852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19" b="0">
                <a:solidFill>
                  <a:srgbClr val="1A2E23"/>
                </a:solidFill>
                <a:latin typeface="Microsoft JhengHei"/>
              </a:rPr>
              <a:t>不是所有「企業」都叫「公司」！企業分為三種：① 個人獨資（如明星工作室）、② 合夥企業（如事務所）、③ 公司。前兩種叫「古典企業」，老闆要負「無限責任」——生意…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93607" y="5495544"/>
            <a:ext cx="3300984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4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93607" y="5495544"/>
            <a:ext cx="64008" cy="841248"/>
          </a:xfrm>
          <a:prstGeom prst="rect">
            <a:avLst/>
          </a:prstGeom>
          <a:solidFill>
            <a:srgbClr val="004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03335" y="5522976"/>
            <a:ext cx="3154680" cy="21945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80" b="1">
                <a:solidFill>
                  <a:srgbClr val="004B2B"/>
                </a:solidFill>
                <a:latin typeface="Microsoft JhengHei"/>
              </a:rPr>
              <a:t>🏛️ 進階架構：【風險隔離 × 資本聚集 × 股權流動】現代公司三支柱模型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03335" y="5724144"/>
            <a:ext cx="3154680" cy="5852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19" b="0">
                <a:solidFill>
                  <a:srgbClr val="1A2E23"/>
                </a:solidFill>
                <a:latin typeface="Microsoft JhengHei"/>
              </a:rPr>
              <a:t>科斯（Coase）的交易成本理論與阿爾欽的團隊生產理論只解釋了「為什麼有企業（Firm）」，卻沒解釋「為什麼有公司（Corporation）」。現代公司…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1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A100FF"/>
                </a:solidFill>
                <a:latin typeface="Microsoft JhengHei"/>
              </a:rPr>
              <a:t>模組一：治理認知模型   ｜   版型 4：連鎖論法 (Chain / Flow)   ｜   知識庫 #004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02336"/>
            <a:ext cx="11201400" cy="7498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2D1054"/>
                </a:solidFill>
                <a:latin typeface="Microsoft JhengHei"/>
              </a:rPr>
              <a:t>① 主張：隨著企業規模擴大與陌生股東加入，公司必須從「人際信任」演進為「制度信任」才能維持長期合作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33856"/>
            <a:ext cx="112014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E5F82"/>
                </a:solidFill>
                <a:latin typeface="Microsoft JhengHei"/>
              </a:rPr>
              <a:t>從德雲社師徒決裂看懂治理錯位：初創期靠熟人情義省成本，擴張期靠公開、公平、可執行的制度保長遠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44752"/>
            <a:ext cx="11201400" cy="18288"/>
          </a:xfrm>
          <a:prstGeom prst="rect">
            <a:avLst/>
          </a:prstGeom>
          <a:solidFill>
            <a:srgbClr val="D8C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201400" cy="13716"/>
          </a:xfrm>
          <a:prstGeom prst="rect">
            <a:avLst/>
          </a:prstGeom>
          <a:solidFill>
            <a:srgbClr val="D8C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E5F82"/>
                </a:solidFill>
                <a:latin typeface="Microsoft JhengHei"/>
              </a:rPr>
              <a:t>Source: 劉松博《公司治理30講》03 講 ｜ 知識庫條目 #004 ｜ Accenture Sequential Spectrum Style  ｜  關鍵字：人際信任 / 制度信任 / 德雲社 / 郭德綱 / 曹雲金 / 有限責任公司 / 股份有限公司 / 人合 / 資合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2D1054"/>
                </a:solidFill>
                <a:latin typeface="Microsoft JhengHei"/>
              </a:rPr>
              <a:t>5 /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72768"/>
            <a:ext cx="7498079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572768"/>
            <a:ext cx="1234440" cy="1524000"/>
          </a:xfrm>
          <a:prstGeom prst="rect">
            <a:avLst/>
          </a:prstGeom>
          <a:solidFill>
            <a:srgbClr val="2D1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" y="1572768"/>
            <a:ext cx="1161288" cy="152400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Microsoft JhengHei"/>
              </a:rPr>
              <a:t>階段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65376" y="1627632"/>
            <a:ext cx="6044183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1">
                <a:solidFill>
                  <a:srgbClr val="2D1054"/>
                </a:solidFill>
                <a:latin typeface="Microsoft JhengHei"/>
              </a:rPr>
              <a:t>個人獨資／初創期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5376" y="1901952"/>
            <a:ext cx="6044183" cy="11582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4000"/>
              </a:lnSpc>
            </a:pPr>
            <a:r>
              <a:rPr sz="919" b="0">
                <a:solidFill>
                  <a:srgbClr val="221633"/>
                </a:solidFill>
                <a:latin typeface="Microsoft JhengHei"/>
              </a:rPr>
              <a:t>信任基礎：100% 依賴對老闆個人的【人際信任】 ｜ 組織特徵：規模小、關係緊密、溝通成本極低 ｜ 治理提醒：切忌盲目照搬大企業繁瑣制度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197352"/>
            <a:ext cx="7498079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197352"/>
            <a:ext cx="1234440" cy="1524000"/>
          </a:xfrm>
          <a:prstGeom prst="rect">
            <a:avLst/>
          </a:prstGeom>
          <a:solidFill>
            <a:srgbClr val="2D1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" y="3197352"/>
            <a:ext cx="1161288" cy="152400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Microsoft JhengHei"/>
              </a:rPr>
              <a:t>階段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65376" y="3252216"/>
            <a:ext cx="6044183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1">
                <a:solidFill>
                  <a:srgbClr val="2D1054"/>
                </a:solidFill>
                <a:latin typeface="Microsoft JhengHei"/>
              </a:rPr>
              <a:t>合夥／有限責任公司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5376" y="3526536"/>
            <a:ext cx="6044183" cy="11582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4000"/>
              </a:lnSpc>
            </a:pPr>
            <a:r>
              <a:rPr sz="919" b="0">
                <a:solidFill>
                  <a:srgbClr val="221633"/>
                </a:solidFill>
                <a:latin typeface="Microsoft JhengHei"/>
              </a:rPr>
              <a:t>信任基礎：【人際信任為主 ＋ 制度信任為輔】 ｜ 組織特徵：股東限額（如 50 人內）、股權轉讓需過半股東同意（人合性） ｜ 治理痛點：德雲社用「江湖師徒制」管現代公司，導致曹雲金等骨幹出走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821936"/>
            <a:ext cx="7498079" cy="1524000"/>
          </a:xfrm>
          <a:prstGeom prst="rect">
            <a:avLst/>
          </a:prstGeom>
          <a:solidFill>
            <a:srgbClr val="F8F5FC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821936"/>
            <a:ext cx="1234440" cy="1524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" y="4821936"/>
            <a:ext cx="1161288" cy="152400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Microsoft JhengHei"/>
              </a:rPr>
              <a:t>階段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65376" y="4876800"/>
            <a:ext cx="6044183" cy="2743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1">
                <a:solidFill>
                  <a:srgbClr val="A100FF"/>
                </a:solidFill>
                <a:latin typeface="Microsoft JhengHei"/>
              </a:rPr>
              <a:t>股份有限公司／上市企業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65376" y="5151120"/>
            <a:ext cx="6044183" cy="115824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4000"/>
              </a:lnSpc>
            </a:pPr>
            <a:r>
              <a:rPr sz="919" b="0">
                <a:solidFill>
                  <a:srgbClr val="221633"/>
                </a:solidFill>
                <a:latin typeface="Microsoft JhengHei"/>
              </a:rPr>
              <a:t>信任基礎：高度依賴【制度信任】（法律、章程、資訊披露） ｜ 組織特徵：成千上萬陌生股東（資合性）、同股同權、自由買賣 ｜ 制度四要素：公平性、確定性、普遍性、可執行性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1572768"/>
            <a:ext cx="3520440" cy="4773168"/>
          </a:xfrm>
          <a:prstGeom prst="rect">
            <a:avLst/>
          </a:prstGeom>
          <a:solidFill>
            <a:srgbClr val="FAF8FD"/>
          </a:solidFill>
          <a:ln w="12700">
            <a:solidFill>
              <a:srgbClr val="D8C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79" y="1572768"/>
            <a:ext cx="3520440" cy="292608"/>
          </a:xfrm>
          <a:prstGeom prst="rect">
            <a:avLst/>
          </a:prstGeom>
          <a:solidFill>
            <a:srgbClr val="2D1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1" y="1591056"/>
            <a:ext cx="3374136" cy="25603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Microsoft JhengHei"/>
              </a:rPr>
              <a:t>🖼️ 視覺情境輔助 ＆ 入門／進階雙軌導讀</a:t>
            </a:r>
          </a:p>
        </p:txBody>
      </p:sp>
      <p:pic>
        <p:nvPicPr>
          <p:cNvPr id="28" name="Picture 27" descr="topic_03.jpg_1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607" y="1938528"/>
            <a:ext cx="3300984" cy="205740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8293607" y="1938528"/>
            <a:ext cx="3300984" cy="2057400"/>
          </a:xfrm>
          <a:prstGeom prst="rect">
            <a:avLst/>
          </a:prstGeom>
          <a:noFill/>
          <a:ln w="12700">
            <a:solidFill>
              <a:srgbClr val="D8C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93607" y="4032504"/>
            <a:ext cx="330098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4050792"/>
            <a:ext cx="3227832" cy="4572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221633"/>
                </a:solidFill>
                <a:latin typeface="Microsoft JhengHei"/>
              </a:rPr>
              <a:t>📌 圖說：▲ 商業情境視覺：熟人握手代表「人際信任」，而契約、章程與法規代表「制度信任」。制度信任不是為了消滅人情，而是為了讓陌生人之間也能建立人際信任。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93607" y="4599432"/>
            <a:ext cx="3300984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93607" y="4599432"/>
            <a:ext cx="64008" cy="84124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03335" y="4626864"/>
            <a:ext cx="3154680" cy="21945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80" b="1">
                <a:solidFill>
                  <a:srgbClr val="A100FF"/>
                </a:solidFill>
                <a:latin typeface="Microsoft JhengHei"/>
              </a:rPr>
              <a:t>🌱 入門者核心秒懂（Plain-Language）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03335" y="4828032"/>
            <a:ext cx="3154680" cy="5852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19" b="0">
                <a:solidFill>
                  <a:srgbClr val="221633"/>
                </a:solidFill>
                <a:latin typeface="Microsoft JhengHei"/>
              </a:rPr>
              <a:t>為什麼幾萬個素昧平生的股民，敢把錢投給同一家上市公司？因為信任分為兩種：一種叫「人際信任」（因為你是我親戚、老同學，所以我信你）；另一種叫「制度信任」（我不認識…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93607" y="5495544"/>
            <a:ext cx="3300984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2D1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93607" y="5495544"/>
            <a:ext cx="64008" cy="841248"/>
          </a:xfrm>
          <a:prstGeom prst="rect">
            <a:avLst/>
          </a:prstGeom>
          <a:solidFill>
            <a:srgbClr val="2D1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03335" y="5522976"/>
            <a:ext cx="3154680" cy="21945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80" b="1">
                <a:solidFill>
                  <a:srgbClr val="2D1054"/>
                </a:solidFill>
                <a:latin typeface="Microsoft JhengHei"/>
              </a:rPr>
              <a:t>🏛️ 進階架構：【人合 ➔ 資合】信任機制動態轉換光譜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03335" y="5724144"/>
            <a:ext cx="3154680" cy="5852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19" b="0">
                <a:solidFill>
                  <a:srgbClr val="221633"/>
                </a:solidFill>
                <a:latin typeface="Microsoft JhengHei"/>
              </a:rPr>
              <a:t>許多企業死於「治理錯配」：① 規模已經很大、引進了外部投資人與職業團隊，老闆卻還想用「家文化、講義氣」代替股權與契約（制度信任不足）；② 剛創業只有 5…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D1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A100FF"/>
                </a:solidFill>
                <a:latin typeface="Microsoft JhengHei"/>
              </a:rPr>
              <a:t>模組二：股東治理   ｜   版型 2：並列論法 (Parallel)   ｜   知識庫 #008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02336"/>
            <a:ext cx="11201400" cy="7498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2D1054"/>
                </a:solidFill>
                <a:latin typeface="Microsoft JhengHei"/>
              </a:rPr>
              <a:t>① 主張：創始人防止融資後被踢出局，必須綜合運用「股權、關鍵資源、持股架構、章程協議」四大控制權防線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33856"/>
            <a:ext cx="112014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E5F82"/>
                </a:solidFill>
                <a:latin typeface="Microsoft JhengHei"/>
              </a:rPr>
              <a:t>從雷士照明吳長江、國美黃光裕到馬雲合夥人架構，拆解持股低於 50% 仍能牢牢掌握公司主導權的實戰工具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44752"/>
            <a:ext cx="11201400" cy="18288"/>
          </a:xfrm>
          <a:prstGeom prst="rect">
            <a:avLst/>
          </a:prstGeom>
          <a:solidFill>
            <a:srgbClr val="D8C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201400" cy="13716"/>
          </a:xfrm>
          <a:prstGeom prst="rect">
            <a:avLst/>
          </a:prstGeom>
          <a:solidFill>
            <a:srgbClr val="D8C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E5F82"/>
                </a:solidFill>
                <a:latin typeface="Microsoft JhengHei"/>
              </a:rPr>
              <a:t>Source: 劉松博《公司治理30講》07 講 ｜ 知識庫條目 #008 ｜ Accenture Strategic Defense Cards  ｜  關鍵字：控制權 / 雷士照明 / 吳長江 / 有限合夥 / GP / LP / 一致行動人 / 表決權委託 / 公司章程 / 金字塔持股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2D1054"/>
                </a:solidFill>
                <a:latin typeface="Microsoft JhengHei"/>
              </a:rPr>
              <a:t>6 /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72768"/>
            <a:ext cx="3666743" cy="2304288"/>
          </a:xfrm>
          <a:prstGeom prst="rect">
            <a:avLst/>
          </a:prstGeom>
          <a:solidFill>
            <a:srgbClr val="F8F5FC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572768"/>
            <a:ext cx="3666743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" y="1700784"/>
            <a:ext cx="1143000" cy="237744"/>
          </a:xfrm>
          <a:prstGeom prst="round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700784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FFFFFF"/>
                </a:solidFill>
                <a:latin typeface="Microsoft JhengHei"/>
              </a:rPr>
              <a:t>核心支柱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1993392"/>
            <a:ext cx="3447287" cy="38404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D1054"/>
                </a:solidFill>
                <a:latin typeface="Microsoft JhengHei"/>
              </a:rPr>
              <a:t>② 防線 1 &amp; 2：股權控制 ＋ 關鍵資源控制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2395728"/>
            <a:ext cx="3447287" cy="14081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221633"/>
                </a:solidFill>
                <a:latin typeface="Microsoft JhengHei"/>
              </a:rPr>
              <a:t>【股權控制】：把握融資節奏，切忌早期賤賣過多股權；守住 67%、51% 或 34% 關鍵防線；【資源控制】：牢牢掌握核心技術、品牌商標、關鍵通路或客戶關係；實例：雷士照明吳長江曾遭投資人逼宮，憑藉全國經銷商力挺與核心供應鏈支持一度奪回主導權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4255" y="1572768"/>
            <a:ext cx="3666743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4255" y="1572768"/>
            <a:ext cx="3666743" cy="64008"/>
          </a:xfrm>
          <a:prstGeom prst="rect">
            <a:avLst/>
          </a:prstGeom>
          <a:solidFill>
            <a:srgbClr val="2D1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43983" y="1700784"/>
            <a:ext cx="1143000" cy="237744"/>
          </a:xfrm>
          <a:prstGeom prst="roundRect">
            <a:avLst/>
          </a:prstGeom>
          <a:solidFill>
            <a:srgbClr val="2D1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43983" y="1700784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FFFFFF"/>
                </a:solidFill>
                <a:latin typeface="Microsoft JhengHei"/>
              </a:rPr>
              <a:t>核心支柱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983" y="1993392"/>
            <a:ext cx="3447287" cy="38404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D1054"/>
                </a:solidFill>
                <a:latin typeface="Microsoft JhengHei"/>
              </a:rPr>
              <a:t>③ 防線 3：持股架構控制（金字塔／有限合夥）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3983" y="2395728"/>
            <a:ext cx="3447287" cy="14081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221633"/>
                </a:solidFill>
                <a:latin typeface="Microsoft JhengHei"/>
              </a:rPr>
              <a:t>【金字塔多層控股】：透過母公司層層控股子公司，以較小資金撬動底層公司超過 50% 表決權；【有限合夥架構 (GP/LP)】：創始人擔任普通合夥人（GP），只出極少資金卻握有 100% 執行與投票控制權；投資人與員工擔任有限合夥人（LP）只享分紅不干預決策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041648"/>
            <a:ext cx="3666743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041648"/>
            <a:ext cx="3666743" cy="64008"/>
          </a:xfrm>
          <a:prstGeom prst="rect">
            <a:avLst/>
          </a:prstGeom>
          <a:solidFill>
            <a:srgbClr val="2D1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2648" y="4169664"/>
            <a:ext cx="1143000" cy="237744"/>
          </a:xfrm>
          <a:prstGeom prst="roundRect">
            <a:avLst/>
          </a:prstGeom>
          <a:solidFill>
            <a:srgbClr val="2D1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169664"/>
            <a:ext cx="1143000" cy="237744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FFFFFF"/>
                </a:solidFill>
                <a:latin typeface="Microsoft JhengHei"/>
              </a:rPr>
              <a:t>核心支柱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4462272"/>
            <a:ext cx="3447287" cy="38404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2D1054"/>
                </a:solidFill>
                <a:latin typeface="Microsoft JhengHei"/>
              </a:rPr>
              <a:t>④ 防線 4：協議與章程控制（制度防火牆）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4864608"/>
            <a:ext cx="3447287" cy="140817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221633"/>
                </a:solidFill>
                <a:latin typeface="Microsoft JhengHei"/>
              </a:rPr>
              <a:t>【一致行動人協議】：與共同創辦人簽約，約定投票時必須與主創始人保持一致；【表決權委託 (Proxy)】：小股東將投票權全權委託給創始人行使；【公司章程客製化】：在章程中設定董事提名權與反收購條款，絕不拿工商局公版章程直接填空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79" y="1572768"/>
            <a:ext cx="3520440" cy="4773168"/>
          </a:xfrm>
          <a:prstGeom prst="rect">
            <a:avLst/>
          </a:prstGeom>
          <a:solidFill>
            <a:srgbClr val="FAF8FD"/>
          </a:solidFill>
          <a:ln w="12700">
            <a:solidFill>
              <a:srgbClr val="D8C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3879" y="1572768"/>
            <a:ext cx="3520440" cy="292608"/>
          </a:xfrm>
          <a:prstGeom prst="rect">
            <a:avLst/>
          </a:prstGeom>
          <a:solidFill>
            <a:srgbClr val="2D1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57031" y="1591056"/>
            <a:ext cx="3374136" cy="25603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Microsoft JhengHei"/>
              </a:rPr>
              <a:t>🖼️ 視覺情境輔助 ＆ 入門／進階雙軌導讀</a:t>
            </a:r>
          </a:p>
        </p:txBody>
      </p:sp>
      <p:pic>
        <p:nvPicPr>
          <p:cNvPr id="31" name="Picture 30" descr="topic_07.jpg_1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607" y="1938528"/>
            <a:ext cx="3300984" cy="205740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8293607" y="1938528"/>
            <a:ext cx="3300984" cy="2057400"/>
          </a:xfrm>
          <a:prstGeom prst="rect">
            <a:avLst/>
          </a:prstGeom>
          <a:noFill/>
          <a:ln w="12700">
            <a:solidFill>
              <a:srgbClr val="D8C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93607" y="4032504"/>
            <a:ext cx="330098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0183" y="4050792"/>
            <a:ext cx="3227832" cy="4572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221633"/>
                </a:solidFill>
                <a:latin typeface="Microsoft JhengHei"/>
              </a:rPr>
              <a:t>📌 圖說：▲ 商業情境視覺：控制權不只等於直接持股比例。透過 GP/LP 有限合夥架構、一致行動協議與關鍵資源掌控，創始人能構築多層次的掌舵防線。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93607" y="4599432"/>
            <a:ext cx="3300984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93607" y="4599432"/>
            <a:ext cx="64008" cy="84124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03335" y="4626864"/>
            <a:ext cx="3154680" cy="21945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80" b="1">
                <a:solidFill>
                  <a:srgbClr val="A100FF"/>
                </a:solidFill>
                <a:latin typeface="Microsoft JhengHei"/>
              </a:rPr>
              <a:t>🌱 入門者核心秒懂（Plain-Language）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03335" y="4828032"/>
            <a:ext cx="3154680" cy="5852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19" b="0">
                <a:solidFill>
                  <a:srgbClr val="221633"/>
                </a:solidFill>
                <a:latin typeface="Microsoft JhengHei"/>
              </a:rPr>
              <a:t>許多創辦人辛辛苦苦把公司養大，經過 A 輪、B 輪、C 輪融資後，自己的股份被稀釋到只剩 15%，結果被投資人聯合起來踢出自己創辦的公司（像早期的賈伯斯、新浪王…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93607" y="5495544"/>
            <a:ext cx="3300984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2D1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93607" y="5495544"/>
            <a:ext cx="64008" cy="841248"/>
          </a:xfrm>
          <a:prstGeom prst="rect">
            <a:avLst/>
          </a:prstGeom>
          <a:solidFill>
            <a:srgbClr val="2D10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03335" y="5522976"/>
            <a:ext cx="3154680" cy="21945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80" b="1">
                <a:solidFill>
                  <a:srgbClr val="2D1054"/>
                </a:solidFill>
                <a:latin typeface="Microsoft JhengHei"/>
              </a:rPr>
              <a:t>🏛️ 進階架構：【股權・資源・架構・協議】四維控制權防禦矩陣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03335" y="5724144"/>
            <a:ext cx="3154680" cy="5852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19" b="0">
                <a:solidFill>
                  <a:srgbClr val="221633"/>
                </a:solidFill>
                <a:latin typeface="Microsoft JhengHei"/>
              </a:rPr>
              <a:t>進階治理者將「經濟收益權（Cash-flow Rights）」與「投票控制權（Voting Rights）」解耦看待。當融資必然稀釋經濟收益權時，可透過…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0077C8"/>
                </a:solidFill>
                <a:latin typeface="Microsoft JhengHei"/>
              </a:rPr>
              <a:t>模組二：股東治理（核心轉折講）   ｜   版型 5：麥肯錫論法 (McKinsey Matrix)   ｜   知識庫 #010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02336"/>
            <a:ext cx="11201400" cy="7498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51C2C"/>
                </a:solidFill>
                <a:latin typeface="Microsoft JhengHei"/>
              </a:rPr>
              <a:t>① 主張：企業家既是公司崛起的引擎，也是後期衰敗的最大風險源，必須將「個人權威」轉化為「制度制衡與精神傳承」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33856"/>
            <a:ext cx="112014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4748B"/>
                </a:solidFill>
                <a:latin typeface="Microsoft JhengHei"/>
              </a:rPr>
              <a:t>第二模組關鍵轉折點：從「保護創始人（05-08講）」轉向「制約企業家（09-15講）」，解析 CEO 生命周期五季節模型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44752"/>
            <a:ext cx="112014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20140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4748B"/>
                </a:solidFill>
                <a:latin typeface="Microsoft JhengHei"/>
              </a:rPr>
              <a:t>Source: 劉松博《公司治理30講》09 講 ｜ 知識庫條目 #010 ｜ McKinsey Diagnostic Matrix Style  ｜  關鍵字：企業家悖論 / 五季節模型 / 賈躍亭 / 樂視 / 亨利福特 / 關鍵人風險 / 認知僵化 / 企業家精神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051C2C"/>
                </a:solidFill>
                <a:latin typeface="Microsoft JhengHei"/>
              </a:rPr>
              <a:t>7 /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72768"/>
            <a:ext cx="1170432" cy="56692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72768"/>
            <a:ext cx="1170432" cy="566928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19" b="1">
                <a:solidFill>
                  <a:srgbClr val="FFFFFF"/>
                </a:solidFill>
                <a:latin typeface="Microsoft JhengHei"/>
              </a:rPr>
              <a:t>治理維度 \ 階段</a:t>
            </a:r>
          </a:p>
        </p:txBody>
      </p:sp>
      <p:sp>
        <p:nvSpPr>
          <p:cNvPr id="12" name="Chevron 11"/>
          <p:cNvSpPr/>
          <p:nvPr/>
        </p:nvSpPr>
        <p:spPr>
          <a:xfrm>
            <a:off x="1746504" y="1572768"/>
            <a:ext cx="2036063" cy="566928"/>
          </a:xfrm>
          <a:prstGeom prst="chevron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19656" y="1572768"/>
            <a:ext cx="1871471" cy="566928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19" b="1">
                <a:solidFill>
                  <a:srgbClr val="FFFFFF"/>
                </a:solidFill>
                <a:latin typeface="Microsoft JhengHei"/>
              </a:rPr>
              <a:t>② 風險 1：道德風險</a:t>
            </a:r>
          </a:p>
          <a:p>
            <a:pPr algn="ctr">
              <a:lnSpc>
                <a:spcPct val="118000"/>
              </a:lnSpc>
            </a:pPr>
            <a:r>
              <a:rPr sz="919" b="1">
                <a:solidFill>
                  <a:srgbClr val="FFFFFF"/>
                </a:solidFill>
                <a:latin typeface="Microsoft JhengHei"/>
              </a:rPr>
              <a:t>（權力不受約束之濫用）</a:t>
            </a:r>
          </a:p>
        </p:txBody>
      </p:sp>
      <p:sp>
        <p:nvSpPr>
          <p:cNvPr id="14" name="Chevron 13"/>
          <p:cNvSpPr/>
          <p:nvPr/>
        </p:nvSpPr>
        <p:spPr>
          <a:xfrm>
            <a:off x="3855719" y="1572768"/>
            <a:ext cx="2036063" cy="566928"/>
          </a:xfrm>
          <a:prstGeom prst="chevron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28871" y="1572768"/>
            <a:ext cx="1871471" cy="566928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19" b="1">
                <a:solidFill>
                  <a:srgbClr val="FFFFFF"/>
                </a:solidFill>
                <a:latin typeface="Microsoft JhengHei"/>
              </a:rPr>
              <a:t>② 風險 2：CEO 生命周期僵化</a:t>
            </a:r>
          </a:p>
          <a:p>
            <a:pPr algn="ctr">
              <a:lnSpc>
                <a:spcPct val="118000"/>
              </a:lnSpc>
            </a:pPr>
            <a:r>
              <a:rPr sz="919" b="1">
                <a:solidFill>
                  <a:srgbClr val="FFFFFF"/>
                </a:solidFill>
                <a:latin typeface="Microsoft JhengHei"/>
              </a:rPr>
              <a:t>（認知剛性與資訊過濾）</a:t>
            </a:r>
          </a:p>
        </p:txBody>
      </p:sp>
      <p:sp>
        <p:nvSpPr>
          <p:cNvPr id="16" name="Chevron 15"/>
          <p:cNvSpPr/>
          <p:nvPr/>
        </p:nvSpPr>
        <p:spPr>
          <a:xfrm>
            <a:off x="5964935" y="1572768"/>
            <a:ext cx="2036063" cy="566928"/>
          </a:xfrm>
          <a:prstGeom prst="chevron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087" y="1572768"/>
            <a:ext cx="1871471" cy="566928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19" b="1">
                <a:solidFill>
                  <a:srgbClr val="FFFFFF"/>
                </a:solidFill>
                <a:latin typeface="Microsoft JhengHei"/>
              </a:rPr>
              <a:t>② 風險 3：個人與公司過度綁定</a:t>
            </a:r>
          </a:p>
          <a:p>
            <a:pPr algn="ctr">
              <a:lnSpc>
                <a:spcPct val="118000"/>
              </a:lnSpc>
            </a:pPr>
            <a:r>
              <a:rPr sz="919" b="1">
                <a:solidFill>
                  <a:srgbClr val="FFFFFF"/>
                </a:solidFill>
                <a:latin typeface="Microsoft JhengHei"/>
              </a:rPr>
              <a:t>（關鍵人外溢風險）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249424"/>
            <a:ext cx="1170432" cy="2002536"/>
          </a:xfrm>
          <a:prstGeom prst="rect">
            <a:avLst/>
          </a:prstGeom>
          <a:solidFill>
            <a:srgbClr val="F4F6F9"/>
          </a:solidFill>
          <a:ln w="12700">
            <a:solidFill>
              <a:srgbClr val="051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" y="2249424"/>
            <a:ext cx="1060704" cy="2002536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051C2C"/>
                </a:solidFill>
                <a:latin typeface="Microsoft JhengHei"/>
              </a:rPr>
              <a:t>③ 病徵表現 與經典案例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46504" y="2249424"/>
            <a:ext cx="2036063" cy="20025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19656" y="2304288"/>
            <a:ext cx="1889759" cy="18928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>
                <a:solidFill>
                  <a:srgbClr val="1A202C"/>
                </a:solidFill>
                <a:latin typeface="Microsoft JhengHei"/>
              </a:rPr>
              <a:t>大權獨攬後將公司資源挪作私用或盲目豪賭，無人敢投反對票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55719" y="2249424"/>
            <a:ext cx="2036063" cy="20025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28871" y="2304288"/>
            <a:ext cx="1889759" cy="18928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>
                <a:solidFill>
                  <a:srgbClr val="1A202C"/>
                </a:solidFill>
                <a:latin typeface="Microsoft JhengHei"/>
              </a:rPr>
              <a:t>經歷「受命上任➔摸索改革➔形成風格➔全面強化➔僵化阻礙」五季節（如亨利・福特晚年固執己見、樂視賈躍亭「蒙眼狂奔」拒絕逆耳忠言）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64935" y="2249424"/>
            <a:ext cx="2036063" cy="20025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8087" y="2304288"/>
            <a:ext cx="1889759" cy="18928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>
                <a:solidFill>
                  <a:srgbClr val="1A202C"/>
                </a:solidFill>
                <a:latin typeface="Microsoft JhengHei"/>
              </a:rPr>
              <a:t>創辦人健康、婚姻、言論或法律事件直接引發公司股價崩盤與授信斷裂（一榮俱榮、一損俱損）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343400"/>
            <a:ext cx="1170432" cy="2002536"/>
          </a:xfrm>
          <a:prstGeom prst="rect">
            <a:avLst/>
          </a:prstGeom>
          <a:solidFill>
            <a:srgbClr val="F4F6F9"/>
          </a:solidFill>
          <a:ln w="12700">
            <a:solidFill>
              <a:srgbClr val="051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7784" y="4343400"/>
            <a:ext cx="1060704" cy="2002536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051C2C"/>
                </a:solidFill>
                <a:latin typeface="Microsoft JhengHei"/>
              </a:rPr>
              <a:t>③ 頂層治理 解方與轉型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46504" y="4343400"/>
            <a:ext cx="2036063" cy="20025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19656" y="4398264"/>
            <a:ext cx="1889759" cy="18928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>
                <a:solidFill>
                  <a:srgbClr val="1A202C"/>
                </a:solidFill>
                <a:latin typeface="Microsoft JhengHei"/>
              </a:rPr>
              <a:t>建立實質有效的董事會與外部監督，寧可犧牲部分決策速度也要杜絕致命失誤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55719" y="4343400"/>
            <a:ext cx="2036063" cy="20025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28871" y="4398264"/>
            <a:ext cx="1889759" cy="18928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>
                <a:solidFill>
                  <a:srgbClr val="1A202C"/>
                </a:solidFill>
                <a:latin typeface="Microsoft JhengHei"/>
              </a:rPr>
              <a:t>破除「資訊過濾網」，建立制度化的反對意見管道與定期高層輪替／交班機制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4935" y="4343400"/>
            <a:ext cx="2036063" cy="20025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8087" y="4398264"/>
            <a:ext cx="1889759" cy="18928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>
                <a:solidFill>
                  <a:srgbClr val="1A202C"/>
                </a:solidFill>
                <a:latin typeface="Microsoft JhengHei"/>
              </a:rPr>
              <a:t>推動【去個人化（制度化）】：把企業家精神沉澱為組織宗旨、政策與流程，讓公司擺脫對單一英雄的依賴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79" y="1572768"/>
            <a:ext cx="3520440" cy="47731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83879" y="1572768"/>
            <a:ext cx="3520440" cy="29260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57031" y="1591056"/>
            <a:ext cx="3374136" cy="25603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Microsoft JhengHei"/>
              </a:rPr>
              <a:t>🖼️ 視覺情境輔助 ＆ 入門／進階雙軌導讀</a:t>
            </a:r>
          </a:p>
        </p:txBody>
      </p:sp>
      <p:pic>
        <p:nvPicPr>
          <p:cNvPr id="37" name="Picture 36" descr="topic_09.jpg_1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607" y="1938528"/>
            <a:ext cx="3300984" cy="205740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8293607" y="1938528"/>
            <a:ext cx="3300984" cy="2057400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93607" y="4032504"/>
            <a:ext cx="330098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30183" y="4050792"/>
            <a:ext cx="3227832" cy="4572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1A202C"/>
                </a:solidFill>
                <a:latin typeface="Microsoft JhengHei"/>
              </a:rPr>
              <a:t>📌 圖說：▲ 商業情境視覺：獨行於懸崖頂端的領導者象徵「企業家悖論」——昔日帶領企業登頂的自信與果斷，若缺乏制衡，極易在「第五季節」變成蒙眼狂奔的深淵。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93607" y="4599432"/>
            <a:ext cx="3300984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93607" y="4599432"/>
            <a:ext cx="64008" cy="841248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03335" y="4626864"/>
            <a:ext cx="3154680" cy="21945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80" b="1">
                <a:solidFill>
                  <a:srgbClr val="0077C8"/>
                </a:solidFill>
                <a:latin typeface="Microsoft JhengHei"/>
              </a:rPr>
              <a:t>🌱 入門者核心秒懂（Plain-Language）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03335" y="4828032"/>
            <a:ext cx="3154680" cy="5852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19" b="0">
                <a:solidFill>
                  <a:srgbClr val="1A202C"/>
                </a:solidFill>
                <a:latin typeface="Microsoft JhengHei"/>
              </a:rPr>
              <a:t>前四講我們都在教創辦人怎麼「保住大權」，但這一講劉松博教授來了一個 180 度大轉彎：如果創辦人權力大到沒人管得了，公司往往會死在創辦人自己手裡！這叫「企業家悖…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93607" y="5495544"/>
            <a:ext cx="3300984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051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93607" y="5495544"/>
            <a:ext cx="64008" cy="84124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03335" y="5522976"/>
            <a:ext cx="3154680" cy="21945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80" b="1">
                <a:solidFill>
                  <a:srgbClr val="051C2C"/>
                </a:solidFill>
                <a:latin typeface="Microsoft JhengHei"/>
              </a:rPr>
              <a:t>🏛️ 進階架構：【保護 ↔ 制衡】雙向擺盪模型 ＆ CEO 五季節診斷表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03335" y="5724144"/>
            <a:ext cx="3154680" cy="5852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19" b="0">
                <a:solidFill>
                  <a:srgbClr val="1A202C"/>
                </a:solidFill>
                <a:latin typeface="Microsoft JhengHei"/>
              </a:rPr>
              <a:t>本講是整個股東治理模組的分水嶺。05–08 講解決「創始人太弱被資本欺負」，09–15 講解決「創始人太強把公司帶溝裡」。進階 CEO 必須定期對自己做…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4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177B57"/>
                </a:solidFill>
                <a:latin typeface="Microsoft JhengHei"/>
              </a:rPr>
              <a:t>模組二：股東治理   ｜   版型 3：結合論法 (Combined Tree)   ｜   知識庫 #011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02336"/>
            <a:ext cx="11201400" cy="7498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4B2B"/>
                </a:solidFill>
                <a:latin typeface="Microsoft JhengHei"/>
              </a:rPr>
              <a:t>① 主張：主動公開財務與治理資訊能創造「透明化溢價」，既能贏得外部信任，更能用陽光倒逼內部掌權者自我約束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33856"/>
            <a:ext cx="112014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5A7365"/>
                </a:solidFill>
                <a:latin typeface="Microsoft JhengHei"/>
              </a:rPr>
              <a:t>從華為「雖不上市卻聘四大會計師事務所公開年報」的標竿做法，看懂上市與透明化的深層治理價值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44752"/>
            <a:ext cx="11201400" cy="18288"/>
          </a:xfrm>
          <a:prstGeom prst="rect">
            <a:avLst/>
          </a:prstGeom>
          <a:solidFill>
            <a:srgbClr val="C3D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201400" cy="13716"/>
          </a:xfrm>
          <a:prstGeom prst="rect">
            <a:avLst/>
          </a:prstGeom>
          <a:solidFill>
            <a:srgbClr val="C3D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5A7365"/>
                </a:solidFill>
                <a:latin typeface="Microsoft JhengHei"/>
              </a:rPr>
              <a:t>Source: 劉松博《公司治理30講》10 講 ｜ 知識庫條目 #011 ｜ BCG Trust &amp; Governance Tree  ｜  關鍵字：透明化溢價 / 資訊披露 / 華為 / KPMG / 上市 / 資訊不對稱 / 年報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004B2B"/>
                </a:solidFill>
                <a:latin typeface="Microsoft JhengHei"/>
              </a:rPr>
              <a:t>8 /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72768"/>
            <a:ext cx="3685031" cy="3611880"/>
          </a:xfrm>
          <a:prstGeom prst="rect">
            <a:avLst/>
          </a:prstGeom>
          <a:solidFill>
            <a:srgbClr val="F2F8F5"/>
          </a:solidFill>
          <a:ln w="19050">
            <a:solidFill>
              <a:srgbClr val="177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572768"/>
            <a:ext cx="3685031" cy="694944"/>
          </a:xfrm>
          <a:prstGeom prst="rect">
            <a:avLst/>
          </a:prstGeom>
          <a:solidFill>
            <a:srgbClr val="17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627632"/>
            <a:ext cx="3538727" cy="585216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FFFFFF"/>
                </a:solidFill>
                <a:latin typeface="Microsoft JhengHei"/>
              </a:rPr>
              <a:t>② 價值 1：消除資訊不對稱，建立外部與內部制度信任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359152"/>
            <a:ext cx="3502151" cy="273405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30" b="0">
                <a:solidFill>
                  <a:srgbClr val="1A2E23"/>
                </a:solidFill>
                <a:latin typeface="Microsoft JhengHei"/>
              </a:rPr>
              <a:t>▪ ③ 華為標竿案例： 雖為非上市公司，自 2000 年起聘請 KPMG 審計並向全球公開年報與治理架構，化解歐美客戶對其背景的疑慮</a:t>
            </a:r>
          </a:p>
          <a:p>
            <a:pPr algn="l">
              <a:lnSpc>
                <a:spcPct val="118000"/>
              </a:lnSpc>
            </a:pPr>
          </a:p>
          <a:p>
            <a:pPr algn="l">
              <a:lnSpc>
                <a:spcPct val="118000"/>
              </a:lnSpc>
            </a:pPr>
            <a:r>
              <a:rPr sz="930" b="0">
                <a:solidFill>
                  <a:srgbClr val="1A2E23"/>
                </a:solidFill>
                <a:latin typeface="Microsoft JhengHei"/>
              </a:rPr>
              <a:t>▪ ③ 員工激勵定錨： 引入外部知名投資機構或公開財報，能給公司公允估值，讓員工手上的股權激勵「看得見真實價值」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7" y="1572768"/>
            <a:ext cx="3685031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7" y="1572768"/>
            <a:ext cx="3685031" cy="694944"/>
          </a:xfrm>
          <a:prstGeom prst="rect">
            <a:avLst/>
          </a:prstGeom>
          <a:solidFill>
            <a:srgbClr val="004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19" y="1627632"/>
            <a:ext cx="3538727" cy="585216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FFFFFF"/>
                </a:solidFill>
                <a:latin typeface="Microsoft JhengHei"/>
              </a:rPr>
              <a:t>② 價值 2：陽光是最好的防腐劑，倒逼掌權者規範行為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7" y="2359152"/>
            <a:ext cx="3502151" cy="273405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30" b="0">
                <a:solidFill>
                  <a:srgbClr val="1A2E23"/>
                </a:solidFill>
                <a:latin typeface="Microsoft JhengHei"/>
              </a:rPr>
              <a:t>▪ ③ 權力自我約束： 當高管薪酬、關聯交易與重大投資必須攤在陽光下供股民、媒體與監管檢視時，大股東就不敢肆意妄為</a:t>
            </a:r>
          </a:p>
          <a:p>
            <a:pPr algn="l">
              <a:lnSpc>
                <a:spcPct val="118000"/>
              </a:lnSpc>
            </a:pPr>
          </a:p>
          <a:p>
            <a:pPr algn="l">
              <a:lnSpc>
                <a:spcPct val="118000"/>
              </a:lnSpc>
            </a:pPr>
            <a:r>
              <a:rPr sz="930" b="0">
                <a:solidFill>
                  <a:srgbClr val="1A2E23"/>
                </a:solidFill>
                <a:latin typeface="Microsoft JhengHei"/>
              </a:rPr>
              <a:t>▪ ③ 上市的真正意義： 上市不只為了圈錢融資，更是企業主動戴上「透明化緊箍咒」、完成現代公司治理成人禮的過程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330952"/>
            <a:ext cx="7498079" cy="1014984"/>
          </a:xfrm>
          <a:prstGeom prst="roundRect">
            <a:avLst/>
          </a:prstGeom>
          <a:solidFill>
            <a:srgbClr val="004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5404104"/>
            <a:ext cx="7168895" cy="86868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1019" b="1">
                <a:solidFill>
                  <a:srgbClr val="FFFFFF"/>
                </a:solidFill>
                <a:latin typeface="Microsoft JhengHei"/>
              </a:rPr>
              <a:t>🎯 結合型核心綜效：① 頂層結論：透明化溢價 (Transparency Premium) ＝ 對外贏得低成本信任 ＋ 對內形成權力防腐劑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79" y="1572768"/>
            <a:ext cx="3520440" cy="4773168"/>
          </a:xfrm>
          <a:prstGeom prst="rect">
            <a:avLst/>
          </a:prstGeom>
          <a:solidFill>
            <a:srgbClr val="F7FBF9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79" y="1572768"/>
            <a:ext cx="3520440" cy="292608"/>
          </a:xfrm>
          <a:prstGeom prst="rect">
            <a:avLst/>
          </a:prstGeom>
          <a:solidFill>
            <a:srgbClr val="004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7031" y="1591056"/>
            <a:ext cx="3374136" cy="25603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Microsoft JhengHei"/>
              </a:rPr>
              <a:t>🖼️ 視覺情境輔助 ＆ 入門／進階雙軌導讀</a:t>
            </a:r>
          </a:p>
        </p:txBody>
      </p:sp>
      <p:pic>
        <p:nvPicPr>
          <p:cNvPr id="23" name="Picture 22" descr="topic_10.jpg_1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607" y="1938528"/>
            <a:ext cx="3300984" cy="20574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293607" y="1938528"/>
            <a:ext cx="3300984" cy="2057400"/>
          </a:xfrm>
          <a:prstGeom prst="rect">
            <a:avLst/>
          </a:prstGeom>
          <a:noFill/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93607" y="4032504"/>
            <a:ext cx="330098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0183" y="4050792"/>
            <a:ext cx="3227832" cy="4572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1A2E23"/>
                </a:solidFill>
                <a:latin typeface="Microsoft JhengHei"/>
              </a:rPr>
              <a:t>📌 圖說：▲ 商業情境視覺：透明玻璃帷幕與開放式數據儀表板象徵「透明化溢價」——當財務與決策資訊攤在陽光下，信任成本最低、掌權者濫權空間最小。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93607" y="4599432"/>
            <a:ext cx="3300984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177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93607" y="4599432"/>
            <a:ext cx="64008" cy="841248"/>
          </a:xfrm>
          <a:prstGeom prst="rect">
            <a:avLst/>
          </a:prstGeom>
          <a:solidFill>
            <a:srgbClr val="17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03335" y="4626864"/>
            <a:ext cx="3154680" cy="21945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80" b="1">
                <a:solidFill>
                  <a:srgbClr val="177B57"/>
                </a:solidFill>
                <a:latin typeface="Microsoft JhengHei"/>
              </a:rPr>
              <a:t>🌱 入門者核心秒懂（Plain-Language）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3335" y="4828032"/>
            <a:ext cx="3154680" cy="5852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19" b="0">
                <a:solidFill>
                  <a:srgbClr val="1A2E23"/>
                </a:solidFill>
                <a:latin typeface="Microsoft JhengHei"/>
              </a:rPr>
              <a:t>很多老闆覺得「公司財報是最高機密，絕不能讓外人甚至員工看到」，也認為「公司不缺錢就不用上市」。劉松博教授提出一個顛覆觀點：**透明本身就能賺錢（這叫「透明化溢價…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93607" y="5495544"/>
            <a:ext cx="3300984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4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93607" y="5495544"/>
            <a:ext cx="64008" cy="841248"/>
          </a:xfrm>
          <a:prstGeom prst="rect">
            <a:avLst/>
          </a:prstGeom>
          <a:solidFill>
            <a:srgbClr val="004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03335" y="5522976"/>
            <a:ext cx="3154680" cy="21945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80" b="1">
                <a:solidFill>
                  <a:srgbClr val="004B2B"/>
                </a:solidFill>
                <a:latin typeface="Microsoft JhengHei"/>
              </a:rPr>
              <a:t>🏛️ 進階架構：【主動揭露 ➔ 信任溢價 × 權力制衡】透明化雙螺旋模型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03335" y="5724144"/>
            <a:ext cx="3154680" cy="5852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19" b="0">
                <a:solidFill>
                  <a:srgbClr val="1A2E23"/>
                </a:solidFill>
                <a:latin typeface="Microsoft JhengHei"/>
              </a:rPr>
              <a:t>資訊不對稱是所有代理問題的溫床（第 02 講）。進階 CEO 應將「資訊披露」從被動的合規負擔，轉化為主動的戰略武器：① 對內向核心合夥人與持股骨幹透明…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4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177B57"/>
                </a:solidFill>
                <a:latin typeface="Microsoft JhengHei"/>
              </a:rPr>
              <a:t>模組二：股東治理   ｜   版型 8：BCG 論法 (BCG 2×2 Matrix)   ｜   知識庫 #012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02336"/>
            <a:ext cx="11201400" cy="7498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4B2B"/>
                </a:solidFill>
                <a:latin typeface="Microsoft JhengHei"/>
              </a:rPr>
              <a:t>① 主張：上不上市不是道德口號，而是依據「資金安全需求」與「治理約束成本」隨外部環境動態調整的理性決策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33856"/>
            <a:ext cx="112014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5A7365"/>
                </a:solidFill>
                <a:latin typeface="Microsoft JhengHei"/>
              </a:rPr>
              <a:t>從西貝賈國龍、順豐王衛「先說不上市、後改口推進」看懂上市利弊權衡與企業生命周期的動態演化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44752"/>
            <a:ext cx="11201400" cy="18288"/>
          </a:xfrm>
          <a:prstGeom prst="rect">
            <a:avLst/>
          </a:prstGeom>
          <a:solidFill>
            <a:srgbClr val="C3D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201400" cy="13716"/>
          </a:xfrm>
          <a:prstGeom prst="rect">
            <a:avLst/>
          </a:prstGeom>
          <a:solidFill>
            <a:srgbClr val="C3D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5A7365"/>
                </a:solidFill>
                <a:latin typeface="Microsoft JhengHei"/>
              </a:rPr>
              <a:t>Source: 劉松博《公司治理30講》11 講 ｜ 知識庫條目 #012 ｜ BCG 2x2 Strategic Matrix Style  ｜  關鍵字：上市 / IPO / 西貝 / 賈國龍 / 順豐 / 王衛 / 老乾媽 / 華為 / 融資 / 治理成本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004B2B"/>
                </a:solidFill>
                <a:latin typeface="Microsoft JhengHei"/>
              </a:rPr>
              <a:t>9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72768"/>
            <a:ext cx="329184" cy="4443984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880" b="1">
                <a:solidFill>
                  <a:srgbClr val="004B2B"/>
                </a:solidFill>
                <a:latin typeface="Microsoft JhengHei"/>
              </a:rPr>
              <a:t>▲</a:t>
            </a:r>
          </a:p>
          <a:p>
            <a:pPr algn="ctr">
              <a:lnSpc>
                <a:spcPct val="118000"/>
              </a:lnSpc>
            </a:pPr>
            <a:r>
              <a:rPr sz="880" b="1">
                <a:solidFill>
                  <a:srgbClr val="004B2B"/>
                </a:solidFill>
                <a:latin typeface="Microsoft JhengHei"/>
              </a:rPr>
              <a:t>資金與抗風險需求（低 ➔ 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6053328"/>
            <a:ext cx="7168895" cy="27432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19" b="1">
                <a:solidFill>
                  <a:srgbClr val="004B2B"/>
                </a:solidFill>
                <a:latin typeface="Microsoft JhengHei"/>
              </a:rPr>
              <a:t>治理約束與控制權稀釋容忍度（低 ➔ 高）  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" y="1572768"/>
            <a:ext cx="3520439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" y="1572768"/>
            <a:ext cx="3520439" cy="365760"/>
          </a:xfrm>
          <a:prstGeom prst="rect">
            <a:avLst/>
          </a:prstGeom>
          <a:solidFill>
            <a:srgbClr val="004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1600200"/>
            <a:ext cx="3337559" cy="310896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19" b="1">
                <a:solidFill>
                  <a:srgbClr val="FFFFFF"/>
                </a:solidFill>
                <a:latin typeface="Microsoft JhengHei"/>
              </a:rPr>
              <a:t>左上象限 (高Y / 低X)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1993392"/>
            <a:ext cx="3300983" cy="3657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1">
                <a:solidFill>
                  <a:srgbClr val="004B2B"/>
                </a:solidFill>
                <a:latin typeface="Microsoft JhengHei"/>
              </a:rPr>
              <a:t>③ (X1Y2) 危機觸發轉向型（如：疫情後的西貝餐飲）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2377440"/>
            <a:ext cx="3300983" cy="12801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A2E23"/>
                </a:solidFill>
                <a:latin typeface="Microsoft JhengHei"/>
              </a:rPr>
              <a:t>• 原本現金流充沛拒上市，但遭遇黑天鵝（疫情停業）發現帳上現金撐不過3個月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1A2E23"/>
                </a:solidFill>
                <a:latin typeface="Microsoft JhengHei"/>
              </a:rPr>
              <a:t>• 決策轉向：承認被打臉，重新啟動資本化以強化資產負債表韌性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59" y="1572768"/>
            <a:ext cx="3520439" cy="2157984"/>
          </a:xfrm>
          <a:prstGeom prst="rect">
            <a:avLst/>
          </a:prstGeom>
          <a:solidFill>
            <a:srgbClr val="F2F8F5"/>
          </a:solidFill>
          <a:ln w="22860">
            <a:solidFill>
              <a:srgbClr val="177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59" y="1572768"/>
            <a:ext cx="3520439" cy="365760"/>
          </a:xfrm>
          <a:prstGeom prst="rect">
            <a:avLst/>
          </a:prstGeom>
          <a:solidFill>
            <a:srgbClr val="17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1999" y="1600200"/>
            <a:ext cx="3337559" cy="310896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19" b="1">
                <a:solidFill>
                  <a:srgbClr val="FFFFFF"/>
                </a:solidFill>
                <a:latin typeface="Microsoft JhengHei"/>
              </a:rPr>
              <a:t>右上象限 (高Y / 高X)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7" y="1993392"/>
            <a:ext cx="3300983" cy="3657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1">
                <a:solidFill>
                  <a:srgbClr val="004B2B"/>
                </a:solidFill>
                <a:latin typeface="Microsoft JhengHei"/>
              </a:rPr>
              <a:t>③ (X2Y2) 資本驅動上市型 ★ 規模擴張焦點（如：順豐、京東）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7" y="2377440"/>
            <a:ext cx="3300983" cy="12801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A2E23"/>
                </a:solidFill>
                <a:latin typeface="Microsoft JhengHei"/>
              </a:rPr>
              <a:t>• 產業面臨重資產投入（買飛機、建物流網）與同業資本戰，不上市即被淘汰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1A2E23"/>
                </a:solidFill>
                <a:latin typeface="Microsoft JhengHei"/>
              </a:rPr>
              <a:t>• 決策主張：善用 IPO 低成本融資、提升品牌公信力並實現早期股東/員工兌現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" y="3858768"/>
            <a:ext cx="3520439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2104" y="3858768"/>
            <a:ext cx="3520439" cy="365760"/>
          </a:xfrm>
          <a:prstGeom prst="rect">
            <a:avLst/>
          </a:prstGeom>
          <a:solidFill>
            <a:srgbClr val="004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" y="3886200"/>
            <a:ext cx="3337559" cy="310896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19" b="1">
                <a:solidFill>
                  <a:srgbClr val="FFFFFF"/>
                </a:solidFill>
                <a:latin typeface="Microsoft JhengHei"/>
              </a:rPr>
              <a:t>左下象限 (低Y / 低X)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4279392"/>
            <a:ext cx="3300983" cy="3657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1">
                <a:solidFill>
                  <a:srgbClr val="004B2B"/>
                </a:solidFill>
                <a:latin typeface="Microsoft JhengHei"/>
              </a:rPr>
              <a:t>③ (X1Y1) 堅守私有型（如：華為、老乾媽、宜家 IKEA）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663440"/>
            <a:ext cx="3300983" cy="12801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A2E23"/>
                </a:solidFill>
                <a:latin typeface="Microsoft JhengHei"/>
              </a:rPr>
              <a:t>• 現金流極度充沛，且創始人高度重視長線戰略自由、不願受華爾街季報綁架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1A2E23"/>
                </a:solidFill>
                <a:latin typeface="Microsoft JhengHei"/>
              </a:rPr>
              <a:t>• 決策主張：保持非上市，但內部建立高水準治理與分紅機制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59" y="3858768"/>
            <a:ext cx="3520439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80559" y="3858768"/>
            <a:ext cx="3520439" cy="365760"/>
          </a:xfrm>
          <a:prstGeom prst="rect">
            <a:avLst/>
          </a:prstGeom>
          <a:solidFill>
            <a:srgbClr val="004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1999" y="3886200"/>
            <a:ext cx="3337559" cy="310896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19" b="1">
                <a:solidFill>
                  <a:srgbClr val="FFFFFF"/>
                </a:solidFill>
                <a:latin typeface="Microsoft JhengHei"/>
              </a:rPr>
              <a:t>右下象限 (低Y / 高X)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0287" y="4279392"/>
            <a:ext cx="3300983" cy="3657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1">
                <a:solidFill>
                  <a:srgbClr val="004B2B"/>
                </a:solidFill>
                <a:latin typeface="Microsoft JhengHei"/>
              </a:rPr>
              <a:t>③ (X2Y1) 治理規範與傳承上市型（如：部分成熟家族企業）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0287" y="4663440"/>
            <a:ext cx="3300983" cy="12801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A2E23"/>
                </a:solidFill>
                <a:latin typeface="Microsoft JhengHei"/>
              </a:rPr>
              <a:t>• 雖不缺營運資金，但希望藉助上市完成股權規範化、透明化與二代職業化交班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1A2E23"/>
                </a:solidFill>
                <a:latin typeface="Microsoft JhengHei"/>
              </a:rPr>
              <a:t>• 決策提醒：須防範上市後高管套現躺平（暴富綜合症）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79" y="1572768"/>
            <a:ext cx="3520440" cy="4773168"/>
          </a:xfrm>
          <a:prstGeom prst="rect">
            <a:avLst/>
          </a:prstGeom>
          <a:solidFill>
            <a:srgbClr val="F7FBF9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3879" y="1572768"/>
            <a:ext cx="3520440" cy="292608"/>
          </a:xfrm>
          <a:prstGeom prst="rect">
            <a:avLst/>
          </a:prstGeom>
          <a:solidFill>
            <a:srgbClr val="004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57031" y="1591056"/>
            <a:ext cx="3374136" cy="25603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Microsoft JhengHei"/>
              </a:rPr>
              <a:t>🖼️ 視覺情境輔助 ＆ 入門／進階雙軌導讀</a:t>
            </a:r>
          </a:p>
        </p:txBody>
      </p:sp>
      <p:pic>
        <p:nvPicPr>
          <p:cNvPr id="35" name="Picture 34" descr="topic_11.jpg_1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607" y="1938528"/>
            <a:ext cx="3300984" cy="205740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8293607" y="1938528"/>
            <a:ext cx="3300984" cy="2057400"/>
          </a:xfrm>
          <a:prstGeom prst="rect">
            <a:avLst/>
          </a:prstGeom>
          <a:noFill/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93607" y="4032504"/>
            <a:ext cx="330098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0183" y="4050792"/>
            <a:ext cx="3227832" cy="4572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1A2E23"/>
                </a:solidFill>
                <a:latin typeface="Microsoft JhengHei"/>
              </a:rPr>
              <a:t>📌 圖說：▲ 商業情境視覺：敲響交易所上市鐘聲既是榮耀也是枷鎖——企業獲得公眾資本灌溉的同時，也必須承擔公開合規成本、短期業績壓力與控制權稀釋風險。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93607" y="4599432"/>
            <a:ext cx="3300984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177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93607" y="4599432"/>
            <a:ext cx="64008" cy="841248"/>
          </a:xfrm>
          <a:prstGeom prst="rect">
            <a:avLst/>
          </a:prstGeom>
          <a:solidFill>
            <a:srgbClr val="17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03335" y="4626864"/>
            <a:ext cx="3154680" cy="21945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80" b="1">
                <a:solidFill>
                  <a:srgbClr val="177B57"/>
                </a:solidFill>
                <a:latin typeface="Microsoft JhengHei"/>
              </a:rPr>
              <a:t>🌱 入門者核心秒懂（Plain-Language）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03335" y="4828032"/>
            <a:ext cx="3154680" cy="5852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19" b="0">
                <a:solidFill>
                  <a:srgbClr val="1A2E23"/>
                </a:solidFill>
                <a:latin typeface="Microsoft JhengHei"/>
              </a:rPr>
              <a:t>為什麼順豐王衛、西貝莜麵村賈國龍都曾公開斬釘截鐵說「堅決不上市」，結果後來卻紛紛宣布上市或尋求融資？難道他們言而無信嗎？劉松博教授指出：**上市從來不是目的，而…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93607" y="5495544"/>
            <a:ext cx="3300984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4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93607" y="5495544"/>
            <a:ext cx="64008" cy="841248"/>
          </a:xfrm>
          <a:prstGeom prst="rect">
            <a:avLst/>
          </a:prstGeom>
          <a:solidFill>
            <a:srgbClr val="004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03335" y="5522976"/>
            <a:ext cx="3154680" cy="21945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80" b="1">
                <a:solidFill>
                  <a:srgbClr val="004B2B"/>
                </a:solidFill>
                <a:latin typeface="Microsoft JhengHei"/>
              </a:rPr>
              <a:t>🏛️ 進階架構：【資本收益 vs. 治理代價】IPO 情境動態決策矩陣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03335" y="5724144"/>
            <a:ext cx="3154680" cy="5852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19" b="0">
                <a:solidFill>
                  <a:srgbClr val="1A2E23"/>
                </a:solidFill>
                <a:latin typeface="Microsoft JhengHei"/>
              </a:rPr>
              <a:t>進階 CEO 絕不把「上不上市」當成意識形態或面子問題，而是放在四個維度動態重評：① 產業競爭維度（對手是否已藉資本槓桿發動降維打擊？）；② 資產負債表…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4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177B57"/>
                </a:solidFill>
                <a:latin typeface="Microsoft JhengHei"/>
              </a:rPr>
              <a:t>模組三：經理治理（開篇講）   ｜   版型 6：對立論法 (Opposition)   ｜   知識庫 #017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02336"/>
            <a:ext cx="11201400" cy="7498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4B2B"/>
                </a:solidFill>
                <a:latin typeface="Microsoft JhengHei"/>
              </a:rPr>
              <a:t>① 主張：董事長與 CEO 不是上下級而是「集體監督 vs. 個人執行」的制衡關係，兩職合一或分離須依企業階段情境決定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33856"/>
            <a:ext cx="112014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5A7365"/>
                </a:solidFill>
                <a:latin typeface="Microsoft JhengHei"/>
              </a:rPr>
              <a:t>從蘋果董事會解僱賈伯斯與「中農信」兩職分合看懂權力真相：看誰官大，別看名片頭銜，要看背後的股權與任免權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44752"/>
            <a:ext cx="11201400" cy="18288"/>
          </a:xfrm>
          <a:prstGeom prst="rect">
            <a:avLst/>
          </a:prstGeom>
          <a:solidFill>
            <a:srgbClr val="C3D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201400" cy="13716"/>
          </a:xfrm>
          <a:prstGeom prst="rect">
            <a:avLst/>
          </a:prstGeom>
          <a:solidFill>
            <a:srgbClr val="C3D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5A7365"/>
                </a:solidFill>
                <a:latin typeface="Microsoft JhengHei"/>
              </a:rPr>
              <a:t>Source: 劉松博《公司治理30講》16 講 ｜ 知識庫條目 #017 ｜ BCG Role Comparison Style  ｜  關鍵字：CEO / 董事長 / 總經理 / 兩職合一 / 兩職分離 / 賈伯斯 / 蘋果 / 情境依賴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004B2B"/>
                </a:solidFill>
                <a:latin typeface="Microsoft JhengHei"/>
              </a:rPr>
              <a:t>10 /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72768"/>
            <a:ext cx="1280160" cy="530352"/>
          </a:xfrm>
          <a:prstGeom prst="rect">
            <a:avLst/>
          </a:prstGeom>
          <a:solidFill>
            <a:srgbClr val="F2F8F5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72768"/>
            <a:ext cx="1280160" cy="53035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004B2B"/>
                </a:solidFill>
                <a:latin typeface="Microsoft JhengHei"/>
              </a:rPr>
              <a:t>對立維度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56232" y="1572768"/>
            <a:ext cx="2834639" cy="5303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9384" y="1572768"/>
            <a:ext cx="2688335" cy="53035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80" b="1">
                <a:solidFill>
                  <a:srgbClr val="FFFFFF"/>
                </a:solidFill>
                <a:latin typeface="Microsoft JhengHei"/>
              </a:rPr>
              <a:t>② 角色 A：董事長 (Chairman of the Board)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1" y="1572768"/>
            <a:ext cx="402336" cy="53035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177B57"/>
                </a:solidFill>
                <a:latin typeface="Microsoft JhengHei"/>
              </a:rPr>
              <a:t>VS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93207" y="1572768"/>
            <a:ext cx="2834639" cy="530352"/>
          </a:xfrm>
          <a:prstGeom prst="rect">
            <a:avLst/>
          </a:prstGeom>
          <a:solidFill>
            <a:srgbClr val="004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59" y="1572768"/>
            <a:ext cx="2688335" cy="53035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80" b="1">
                <a:solidFill>
                  <a:srgbClr val="FFFFFF"/>
                </a:solidFill>
                <a:latin typeface="Microsoft JhengHei"/>
              </a:rPr>
              <a:t>② 角色 B：首席執行官 (CEO / 總經理)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212848"/>
            <a:ext cx="1280160" cy="964692"/>
          </a:xfrm>
          <a:prstGeom prst="rect">
            <a:avLst/>
          </a:prstGeom>
          <a:solidFill>
            <a:srgbClr val="F2F8F5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" y="2212848"/>
            <a:ext cx="1170432" cy="96469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19" b="1">
                <a:solidFill>
                  <a:srgbClr val="004B2B"/>
                </a:solidFill>
                <a:latin typeface="Microsoft JhengHei"/>
              </a:rPr>
              <a:t>權力來源與性質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56232" y="2212848"/>
            <a:ext cx="2834639" cy="964692"/>
          </a:xfrm>
          <a:prstGeom prst="rect">
            <a:avLst/>
          </a:prstGeom>
          <a:solidFill>
            <a:srgbClr val="F8FAFC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9384" y="2267712"/>
            <a:ext cx="2688335" cy="85496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0">
                <a:solidFill>
                  <a:srgbClr val="1A2E23"/>
                </a:solidFill>
                <a:latin typeface="Microsoft JhengHei"/>
              </a:rPr>
              <a:t>③ 董事會召集人：採「一人一票、集體決策」，法律上董事長個人並無直接行政指揮權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0871" y="2212848"/>
            <a:ext cx="402336" cy="96469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77B57"/>
                </a:solidFill>
                <a:latin typeface="Microsoft JhengHei"/>
              </a:rPr>
              <a:t>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93207" y="2212848"/>
            <a:ext cx="2834639" cy="964692"/>
          </a:xfrm>
          <a:prstGeom prst="rect">
            <a:avLst/>
          </a:prstGeom>
          <a:solidFill>
            <a:srgbClr val="F2F8F5"/>
          </a:solidFill>
          <a:ln w="15240">
            <a:solidFill>
              <a:srgbClr val="177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59" y="2267712"/>
            <a:ext cx="2688335" cy="85496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0">
                <a:solidFill>
                  <a:srgbClr val="1A2E23"/>
                </a:solidFill>
                <a:latin typeface="Microsoft JhengHei"/>
              </a:rPr>
              <a:t>③ 最高行政首長：採「首長負責制、個人拍板」，全權指揮日常營運、副總與各部門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268980"/>
            <a:ext cx="1280160" cy="964692"/>
          </a:xfrm>
          <a:prstGeom prst="rect">
            <a:avLst/>
          </a:prstGeom>
          <a:solidFill>
            <a:srgbClr val="F2F8F5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" y="3268980"/>
            <a:ext cx="1170432" cy="96469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19" b="1">
                <a:solidFill>
                  <a:srgbClr val="004B2B"/>
                </a:solidFill>
                <a:latin typeface="Microsoft JhengHei"/>
              </a:rPr>
              <a:t>為什麼常覺董事長大？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56232" y="3268980"/>
            <a:ext cx="2834639" cy="964692"/>
          </a:xfrm>
          <a:prstGeom prst="rect">
            <a:avLst/>
          </a:prstGeom>
          <a:solidFill>
            <a:srgbClr val="F8FAFC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29384" y="3323844"/>
            <a:ext cx="2688335" cy="85496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0">
                <a:solidFill>
                  <a:srgbClr val="1A2E23"/>
                </a:solidFill>
                <a:latin typeface="Microsoft JhengHei"/>
              </a:rPr>
              <a:t>因為亞洲企業董事長通常由「控股大股東／創始人」兼任，大的是他背後的【股東身分】而非董事長頭銜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0871" y="3268980"/>
            <a:ext cx="402336" cy="96469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77B57"/>
                </a:solidFill>
                <a:latin typeface="Microsoft JhengHei"/>
              </a:rPr>
              <a:t>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93207" y="3268980"/>
            <a:ext cx="2834639" cy="964692"/>
          </a:xfrm>
          <a:prstGeom prst="rect">
            <a:avLst/>
          </a:prstGeom>
          <a:solidFill>
            <a:srgbClr val="F2F8F5"/>
          </a:solidFill>
          <a:ln w="15240">
            <a:solidFill>
              <a:srgbClr val="177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66359" y="3323844"/>
            <a:ext cx="2688335" cy="85496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0">
                <a:solidFill>
                  <a:srgbClr val="1A2E23"/>
                </a:solidFill>
                <a:latin typeface="Microsoft JhengHei"/>
              </a:rPr>
              <a:t>在股權分散的美國企業（如蘋果、GE），CEO 往往才是實權核心，但仍受董事會集體任免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325112"/>
            <a:ext cx="1280160" cy="964692"/>
          </a:xfrm>
          <a:prstGeom prst="rect">
            <a:avLst/>
          </a:prstGeom>
          <a:solidFill>
            <a:srgbClr val="F2F8F5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" y="4325112"/>
            <a:ext cx="1170432" cy="96469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19" b="1">
                <a:solidFill>
                  <a:srgbClr val="004B2B"/>
                </a:solidFill>
                <a:latin typeface="Microsoft JhengHei"/>
              </a:rPr>
              <a:t>兩職合一 (兼任)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56232" y="4325112"/>
            <a:ext cx="2834639" cy="964692"/>
          </a:xfrm>
          <a:prstGeom prst="rect">
            <a:avLst/>
          </a:prstGeom>
          <a:solidFill>
            <a:srgbClr val="F8FAFC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9384" y="4379976"/>
            <a:ext cx="2688335" cy="85496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0">
                <a:solidFill>
                  <a:srgbClr val="1A2E23"/>
                </a:solidFill>
                <a:latin typeface="Microsoft JhengHei"/>
              </a:rPr>
              <a:t>【適用情境】：創業期、動盪轉型期、需強人快速決策時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90871" y="4325112"/>
            <a:ext cx="402336" cy="96469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77B57"/>
                </a:solidFill>
                <a:latin typeface="Microsoft JhengHei"/>
              </a:rPr>
              <a:t>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93207" y="4325112"/>
            <a:ext cx="2834639" cy="964692"/>
          </a:xfrm>
          <a:prstGeom prst="rect">
            <a:avLst/>
          </a:prstGeom>
          <a:solidFill>
            <a:srgbClr val="F2F8F5"/>
          </a:solidFill>
          <a:ln w="15240">
            <a:solidFill>
              <a:srgbClr val="177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66359" y="4379976"/>
            <a:ext cx="2688335" cy="85496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0">
                <a:solidFill>
                  <a:srgbClr val="1A2E23"/>
                </a:solidFill>
                <a:latin typeface="Microsoft JhengHei"/>
              </a:rPr>
              <a:t>【核心風險】：自己當裁判又當球員，監督機制形同虛設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5381244"/>
            <a:ext cx="1280160" cy="964692"/>
          </a:xfrm>
          <a:prstGeom prst="rect">
            <a:avLst/>
          </a:prstGeom>
          <a:solidFill>
            <a:srgbClr val="F2F8F5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7784" y="5381244"/>
            <a:ext cx="1170432" cy="96469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19" b="1">
                <a:solidFill>
                  <a:srgbClr val="004B2B"/>
                </a:solidFill>
                <a:latin typeface="Microsoft JhengHei"/>
              </a:rPr>
              <a:t>兩職分離 (分設)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56232" y="5381244"/>
            <a:ext cx="2834639" cy="964692"/>
          </a:xfrm>
          <a:prstGeom prst="rect">
            <a:avLst/>
          </a:prstGeom>
          <a:solidFill>
            <a:srgbClr val="F8FAFC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29384" y="5436108"/>
            <a:ext cx="2688335" cy="85496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0">
                <a:solidFill>
                  <a:srgbClr val="1A2E23"/>
                </a:solidFill>
                <a:latin typeface="Microsoft JhengHei"/>
              </a:rPr>
              <a:t>【適用情境】：成熟穩定期、大型公眾公司，強化對管理層之制衡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90871" y="5381244"/>
            <a:ext cx="402336" cy="96469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77B57"/>
                </a:solidFill>
                <a:latin typeface="Microsoft JhengHei"/>
              </a:rPr>
              <a:t>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93207" y="5381244"/>
            <a:ext cx="2834639" cy="964692"/>
          </a:xfrm>
          <a:prstGeom prst="rect">
            <a:avLst/>
          </a:prstGeom>
          <a:solidFill>
            <a:srgbClr val="F2F8F5"/>
          </a:solidFill>
          <a:ln w="15240">
            <a:solidFill>
              <a:srgbClr val="177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66359" y="5436108"/>
            <a:ext cx="2688335" cy="85496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0">
                <a:solidFill>
                  <a:srgbClr val="1A2E23"/>
                </a:solidFill>
                <a:latin typeface="Microsoft JhengHei"/>
              </a:rPr>
              <a:t>【核心風險】：易出現「一山不容二虎」雙頭馬車內耗，降低決策效率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83879" y="1572768"/>
            <a:ext cx="3520440" cy="4773168"/>
          </a:xfrm>
          <a:prstGeom prst="rect">
            <a:avLst/>
          </a:prstGeom>
          <a:solidFill>
            <a:srgbClr val="F7FBF9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83879" y="1572768"/>
            <a:ext cx="3520440" cy="292608"/>
          </a:xfrm>
          <a:prstGeom prst="rect">
            <a:avLst/>
          </a:prstGeom>
          <a:solidFill>
            <a:srgbClr val="004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1591056"/>
            <a:ext cx="3374136" cy="25603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Microsoft JhengHei"/>
              </a:rPr>
              <a:t>🖼️ 視覺情境輔助 ＆ 入門／進階雙軌導讀</a:t>
            </a:r>
          </a:p>
        </p:txBody>
      </p:sp>
      <p:pic>
        <p:nvPicPr>
          <p:cNvPr id="48" name="Picture 47" descr="topic_16.jpg_1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607" y="1938528"/>
            <a:ext cx="3300984" cy="2057400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8293607" y="1938528"/>
            <a:ext cx="3300984" cy="2057400"/>
          </a:xfrm>
          <a:prstGeom prst="rect">
            <a:avLst/>
          </a:prstGeom>
          <a:noFill/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93607" y="4032504"/>
            <a:ext cx="330098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30183" y="4050792"/>
            <a:ext cx="3227832" cy="4572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1A2E23"/>
                </a:solidFill>
                <a:latin typeface="Microsoft JhengHei"/>
              </a:rPr>
              <a:t>📌 圖說：▲ 商業情境視覺：董事長代表董事會掌握「方向盤與煞車（集體議事）」，CEO 則掌握「油門與引擎（行政執行）」。兩者是分工制衡，而非單純的官大官小。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93607" y="4599432"/>
            <a:ext cx="3300984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177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93607" y="4599432"/>
            <a:ext cx="64008" cy="841248"/>
          </a:xfrm>
          <a:prstGeom prst="rect">
            <a:avLst/>
          </a:prstGeom>
          <a:solidFill>
            <a:srgbClr val="17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03335" y="4626864"/>
            <a:ext cx="3154680" cy="21945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80" b="1">
                <a:solidFill>
                  <a:srgbClr val="177B57"/>
                </a:solidFill>
                <a:latin typeface="Microsoft JhengHei"/>
              </a:rPr>
              <a:t>🌱 入門者核心秒懂（Plain-Language）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03335" y="4828032"/>
            <a:ext cx="3154680" cy="5852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19" b="0">
                <a:solidFill>
                  <a:srgbClr val="1A2E23"/>
                </a:solidFill>
                <a:latin typeface="Microsoft JhengHei"/>
              </a:rPr>
              <a:t>「董事長和 CEO（總經理）到底誰官大？」在台灣和大陸，90% 的人都會說「當然是董事長大」！但劉松博教授告訴你：**在法律職權上，董事長個人其實沒有任何行政指…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93607" y="5495544"/>
            <a:ext cx="3300984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4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93607" y="5495544"/>
            <a:ext cx="64008" cy="841248"/>
          </a:xfrm>
          <a:prstGeom prst="rect">
            <a:avLst/>
          </a:prstGeom>
          <a:solidFill>
            <a:srgbClr val="004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03335" y="5522976"/>
            <a:ext cx="3154680" cy="21945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80" b="1">
                <a:solidFill>
                  <a:srgbClr val="004B2B"/>
                </a:solidFill>
                <a:latin typeface="Microsoft JhengHei"/>
              </a:rPr>
              <a:t>🏛️ 進階架構：【職銜 vs. 實權】穿透式權力盤點 ＆ 情境分合模型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03335" y="5724144"/>
            <a:ext cx="3154680" cy="5852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19" b="0">
                <a:solidFill>
                  <a:srgbClr val="1A2E23"/>
                </a:solidFill>
                <a:latin typeface="Microsoft JhengHei"/>
              </a:rPr>
              <a:t>進階治理者看一家公司的權力結構，絕不看名片上的職銜（Title），而是穿透看三層底牌：① **產權底牌**（誰是控股股東或實際控制人？）；② **任免底…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0077C8"/>
                </a:solidFill>
                <a:latin typeface="Microsoft JhengHei"/>
              </a:rPr>
              <a:t>模組三：經理治理   ｜   版型 3：結合論法 (Combined Tree)   ｜   知識庫 #018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02336"/>
            <a:ext cx="11201400" cy="7498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51C2C"/>
                </a:solidFill>
                <a:latin typeface="Microsoft JhengHei"/>
              </a:rPr>
              <a:t>① 主張：老闆與職業經理人反目不僅源於「自利代理問題」，更常源於優秀經理人將公司當自己家而產生的「過高心理所有權」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33856"/>
            <a:ext cx="112014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4748B"/>
                </a:solidFill>
                <a:latin typeface="Microsoft JhengHei"/>
              </a:rPr>
              <a:t>從國美電器「黃光裕 vs. 陳曉控制權大戰」看懂兩類需被制約的人：故意做壞事的人，與自以為做好事卻越界的人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44752"/>
            <a:ext cx="112014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20140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4748B"/>
                </a:solidFill>
                <a:latin typeface="Microsoft JhengHei"/>
              </a:rPr>
              <a:t>Source: 劉松博《公司治理30講》17 講 ｜ 知識庫條目 #018 ｜ McKinsey Dual-Cause Tree Style  ｜  關鍵字：職業經理人 / 國美 / 黃光裕 / 陳曉 / 心理所有權 / 委託代理 / 內部人控制 / 亞當斯密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051C2C"/>
                </a:solidFill>
                <a:latin typeface="Microsoft JhengHei"/>
              </a:rPr>
              <a:t>11 /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72768"/>
            <a:ext cx="3685031" cy="3611880"/>
          </a:xfrm>
          <a:prstGeom prst="rect">
            <a:avLst/>
          </a:prstGeom>
          <a:solidFill>
            <a:srgbClr val="F4F6F9"/>
          </a:solidFill>
          <a:ln w="19050"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572768"/>
            <a:ext cx="3685031" cy="694944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627632"/>
            <a:ext cx="3538727" cy="585216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FFFFFF"/>
                </a:solidFill>
                <a:latin typeface="Microsoft JhengHei"/>
              </a:rPr>
              <a:t>② 原因 1：委託代理問題（故意做壞事／自利動機）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359152"/>
            <a:ext cx="3502151" cy="273405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30" b="0">
                <a:solidFill>
                  <a:srgbClr val="1A202C"/>
                </a:solidFill>
                <a:latin typeface="Microsoft JhengHei"/>
              </a:rPr>
              <a:t>▪ ③ 亞當・斯密洞見： 「管理別人的錢，很難像管理自己的錢那樣盡心盡力」——目標不一致＋資訊不對稱導致偷懶、在職消費或利益輸送</a:t>
            </a:r>
          </a:p>
          <a:p>
            <a:pPr algn="l">
              <a:lnSpc>
                <a:spcPct val="118000"/>
              </a:lnSpc>
            </a:pPr>
          </a:p>
          <a:p>
            <a:pPr algn="l">
              <a:lnSpc>
                <a:spcPct val="118000"/>
              </a:lnSpc>
            </a:pPr>
            <a:r>
              <a:rPr sz="930" b="0">
                <a:solidFill>
                  <a:srgbClr val="1A202C"/>
                </a:solidFill>
                <a:latin typeface="Microsoft JhengHei"/>
              </a:rPr>
              <a:t>▪ ③ 內部人控制： 當大股東缺位或受困（如黃光裕入獄），經理人利用經營實權架空原股東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7" y="1572768"/>
            <a:ext cx="3685031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7" y="1572768"/>
            <a:ext cx="3685031" cy="694944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19" y="1627632"/>
            <a:ext cx="3538727" cy="585216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FFFFFF"/>
                </a:solidFill>
                <a:latin typeface="Microsoft JhengHei"/>
              </a:rPr>
              <a:t>② 原因 2：心理所有權過高（自以為做好事／鳩佔鵲巢）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7" y="2359152"/>
            <a:ext cx="3502151" cy="273405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30" b="0">
                <a:solidFill>
                  <a:srgbClr val="1A202C"/>
                </a:solidFill>
                <a:latin typeface="Microsoft JhengHei"/>
              </a:rPr>
              <a:t>▪ ③ 心理所有權 (Psychological Ownership)： 經理人傾注心血拯救公司後，在心理上覺得「這家公司是我的」，進而抗拒真正老闆（大股東）的干預</a:t>
            </a:r>
          </a:p>
          <a:p>
            <a:pPr algn="l">
              <a:lnSpc>
                <a:spcPct val="118000"/>
              </a:lnSpc>
            </a:pPr>
          </a:p>
          <a:p>
            <a:pPr algn="l">
              <a:lnSpc>
                <a:spcPct val="118000"/>
              </a:lnSpc>
            </a:pPr>
            <a:r>
              <a:rPr sz="930" b="0">
                <a:solidFill>
                  <a:srgbClr val="1A202C"/>
                </a:solidFill>
                <a:latin typeface="Microsoft JhengHei"/>
              </a:rPr>
              <a:t>▪ ③ 經理治理三大處方： 1. 【監控機制】（沿用第二模組內外部防線） 2. 【選人機制】（第18講職業化標準） 3. 【激勵機制】（第19-20講薪酬與股權）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330952"/>
            <a:ext cx="7498079" cy="1014984"/>
          </a:xfrm>
          <a:prstGeom prst="round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5404104"/>
            <a:ext cx="7168895" cy="86868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1019" b="1">
                <a:solidFill>
                  <a:srgbClr val="FFFFFF"/>
                </a:solidFill>
                <a:latin typeface="Microsoft JhengHei"/>
              </a:rPr>
              <a:t>🎯 結合型核心綜效：① 頂層結論：經理與老闆掐架的兩大病灶 ＝ 傳統委託代理衝突 ＋ 過高心理所有權越界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79" y="1572768"/>
            <a:ext cx="3520440" cy="47731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79" y="1572768"/>
            <a:ext cx="3520440" cy="29260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7031" y="1591056"/>
            <a:ext cx="3374136" cy="25603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Microsoft JhengHei"/>
              </a:rPr>
              <a:t>🖼️ 視覺情境輔助 ＆ 入門／進階雙軌導讀</a:t>
            </a:r>
          </a:p>
        </p:txBody>
      </p:sp>
      <p:pic>
        <p:nvPicPr>
          <p:cNvPr id="23" name="Picture 22" descr="topic_17.jpg_1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607" y="1938528"/>
            <a:ext cx="3300984" cy="20574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293607" y="1938528"/>
            <a:ext cx="3300984" cy="2057400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93607" y="4032504"/>
            <a:ext cx="330098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0183" y="4050792"/>
            <a:ext cx="3227832" cy="4572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1A202C"/>
                </a:solidFill>
                <a:latin typeface="Microsoft JhengHei"/>
              </a:rPr>
              <a:t>📌 圖說：▲ 商業情境視覺：創始大股東與強勢職業經理人在會議室的眼神交鋒——衝突往往不是因為經理人不努力，而是因為經理人產生了「這家公司歸我管才對」的心理所有權。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93607" y="4599432"/>
            <a:ext cx="3300984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93607" y="4599432"/>
            <a:ext cx="64008" cy="841248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03335" y="4626864"/>
            <a:ext cx="3154680" cy="21945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80" b="1">
                <a:solidFill>
                  <a:srgbClr val="0077C8"/>
                </a:solidFill>
                <a:latin typeface="Microsoft JhengHei"/>
              </a:rPr>
              <a:t>🌱 入門者核心秒懂（Plain-Language）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3335" y="4828032"/>
            <a:ext cx="3154680" cy="5852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19" b="0">
                <a:solidFill>
                  <a:srgbClr val="1A202C"/>
                </a:solidFill>
                <a:latin typeface="Microsoft JhengHei"/>
              </a:rPr>
              <a:t>為什麼老闆請來的能幹總經理，最後常常跟老闆翻臉成仇人（像國美的黃光裕與陳曉）？老闆常罵經理人是「白眼狼」，但劉松博教授指出背後有兩個深層原因：第一種是「自私型（…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93607" y="5495544"/>
            <a:ext cx="3300984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051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93607" y="5495544"/>
            <a:ext cx="64008" cy="84124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03335" y="5522976"/>
            <a:ext cx="3154680" cy="21945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80" b="1">
                <a:solidFill>
                  <a:srgbClr val="051C2C"/>
                </a:solidFill>
                <a:latin typeface="Microsoft JhengHei"/>
              </a:rPr>
              <a:t>🏛️ 進階架構：【代理自利 × 心理所有權】經理人雙重衝突診斷模型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03335" y="5724144"/>
            <a:ext cx="3154680" cy="5852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19" b="0">
                <a:solidFill>
                  <a:srgbClr val="1A202C"/>
                </a:solidFill>
                <a:latin typeface="Microsoft JhengHei"/>
              </a:rPr>
              <a:t>本講是第三模組「經理治理」的總綱。傳統經濟學只假設經理人是「自利的小人（Agency Theory）」，但組織行為學發現，高階經理人往往具有強烈的成就動…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4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177B57"/>
                </a:solidFill>
                <a:latin typeface="Microsoft JhengHei"/>
              </a:rPr>
              <a:t>模組三：特殊產權治理   ｜   版型 7：比較論法 (Comparison / Venn)   ｜   知識庫 #022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02336"/>
            <a:ext cx="11201400" cy="7498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4B2B"/>
                </a:solidFill>
                <a:latin typeface="Microsoft JhengHei"/>
              </a:rPr>
              <a:t>① 主張：國有企業改革的核心不在「一賣了之」，而在於依「商業類 vs. 公益類」分類推進混合所有制，劃清行政治理與公司治理邊界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33856"/>
            <a:ext cx="112014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5A7365"/>
                </a:solidFill>
                <a:latin typeface="Microsoft JhengHei"/>
              </a:rPr>
              <a:t>從聯想、雲南白藥（陳發樹投入 254 億獲並立第一大股東）與中國聯通混改，看懂國資保值與民企活力的交集融合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44752"/>
            <a:ext cx="11201400" cy="18288"/>
          </a:xfrm>
          <a:prstGeom prst="rect">
            <a:avLst/>
          </a:prstGeom>
          <a:solidFill>
            <a:srgbClr val="C3D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201400" cy="13716"/>
          </a:xfrm>
          <a:prstGeom prst="rect">
            <a:avLst/>
          </a:prstGeom>
          <a:solidFill>
            <a:srgbClr val="C3D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5A7365"/>
                </a:solidFill>
                <a:latin typeface="Microsoft JhengHei"/>
              </a:rPr>
              <a:t>Source: 劉松博《公司治理30講》21 講 ｜ 知識庫條目 #022 ｜ BCG Venn Comparison Style  ｜  關鍵字：混合所有制 / 國企改革 / 雲南白藥 / 陳發樹 / 中國聯通 / MBO / 所有者缺位 / 分類治理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004B2B"/>
                </a:solidFill>
                <a:latin typeface="Microsoft JhengHei"/>
              </a:rPr>
              <a:t>12 /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72768"/>
            <a:ext cx="2426207" cy="4773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572768"/>
            <a:ext cx="2426207" cy="621792"/>
          </a:xfrm>
          <a:prstGeom prst="rect">
            <a:avLst/>
          </a:prstGeom>
          <a:solidFill>
            <a:srgbClr val="004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609344"/>
            <a:ext cx="2279903" cy="54864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icrosoft JhengHei"/>
              </a:rPr>
              <a:t>① 國有資本屬性（④ 差異點）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304288"/>
            <a:ext cx="2206751" cy="39319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19" b="0">
                <a:solidFill>
                  <a:srgbClr val="1A2E23"/>
                </a:solidFill>
                <a:latin typeface="Microsoft JhengHei"/>
              </a:rPr>
              <a:t>● 背負多重目標：除經濟利潤外，還承擔國家安全、民生保供、穩定就業與策略基建等社會責任</a:t>
            </a:r>
          </a:p>
          <a:p>
            <a:pPr algn="l">
              <a:lnSpc>
                <a:spcPct val="118000"/>
              </a:lnSpc>
            </a:pPr>
          </a:p>
          <a:p>
            <a:pPr algn="l">
              <a:lnSpc>
                <a:spcPct val="118000"/>
              </a:lnSpc>
            </a:pPr>
            <a:r>
              <a:rPr sz="919" b="0">
                <a:solidFill>
                  <a:srgbClr val="1A2E23"/>
                </a:solidFill>
                <a:latin typeface="Microsoft JhengHei"/>
              </a:rPr>
              <a:t>● 治理痛點：「所有者缺位（誰都是老闆、誰都不是真老闆）」與行政干預過多、高管限薪缺乏激勵</a:t>
            </a:r>
          </a:p>
          <a:p>
            <a:pPr algn="l">
              <a:lnSpc>
                <a:spcPct val="118000"/>
              </a:lnSpc>
            </a:pPr>
          </a:p>
          <a:p>
            <a:pPr algn="l">
              <a:lnSpc>
                <a:spcPct val="118000"/>
              </a:lnSpc>
            </a:pPr>
            <a:r>
              <a:rPr sz="919" b="0">
                <a:solidFill>
                  <a:srgbClr val="1A2E23"/>
                </a:solidFill>
                <a:latin typeface="Microsoft JhengHei"/>
              </a:rPr>
              <a:t>● 改革紅線：嚴防管理層收購（MBO）低價賤賣導致國有資產流失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8855" y="1572768"/>
            <a:ext cx="2426207" cy="4773168"/>
          </a:xfrm>
          <a:prstGeom prst="rect">
            <a:avLst/>
          </a:prstGeom>
          <a:solidFill>
            <a:srgbClr val="F2F8F5"/>
          </a:solidFill>
          <a:ln w="22860">
            <a:solidFill>
              <a:srgbClr val="177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38855" y="1572768"/>
            <a:ext cx="2426207" cy="621792"/>
          </a:xfrm>
          <a:prstGeom prst="rect">
            <a:avLst/>
          </a:prstGeom>
          <a:solidFill>
            <a:srgbClr val="17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12007" y="1609344"/>
            <a:ext cx="2279903" cy="54864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icrosoft JhengHei"/>
              </a:rPr>
              <a:t>③ 混合所有制核心交集（混改成功關鍵）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8583" y="2304288"/>
            <a:ext cx="2206751" cy="39319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19" b="0">
                <a:solidFill>
                  <a:srgbClr val="1A2E23"/>
                </a:solidFill>
                <a:latin typeface="Microsoft JhengHei"/>
              </a:rPr>
              <a:t>● 【不光要『混』，更要『改』】：引入非公資本後，必須將「行政治理」轉軌為真正的「現代公司治理」</a:t>
            </a:r>
          </a:p>
          <a:p>
            <a:pPr algn="l">
              <a:lnSpc>
                <a:spcPct val="118000"/>
              </a:lnSpc>
            </a:pPr>
          </a:p>
          <a:p>
            <a:pPr algn="l">
              <a:lnSpc>
                <a:spcPct val="118000"/>
              </a:lnSpc>
            </a:pPr>
            <a:r>
              <a:rPr sz="919" b="0">
                <a:solidFill>
                  <a:srgbClr val="1A2E23"/>
                </a:solidFill>
                <a:latin typeface="Microsoft JhengHei"/>
              </a:rPr>
              <a:t>● 【雲南白藥標竿模式】：國資與民企新華都（陳發樹）各持 45% 並列、董事會席位對等、管理層完全市場化選聘與激勵</a:t>
            </a:r>
          </a:p>
          <a:p>
            <a:pPr algn="l">
              <a:lnSpc>
                <a:spcPct val="118000"/>
              </a:lnSpc>
            </a:pPr>
          </a:p>
          <a:p>
            <a:pPr algn="l">
              <a:lnSpc>
                <a:spcPct val="118000"/>
              </a:lnSpc>
            </a:pPr>
            <a:r>
              <a:rPr sz="919" b="0">
                <a:solidFill>
                  <a:srgbClr val="1A2E23"/>
                </a:solidFill>
                <a:latin typeface="Microsoft JhengHei"/>
              </a:rPr>
              <a:t>● 【分類治理】：商業競爭類國企大膽放開混改；公益保障類國企聚焦公共服務效率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4791" y="1572768"/>
            <a:ext cx="2426207" cy="4773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74791" y="1572768"/>
            <a:ext cx="2426207" cy="621792"/>
          </a:xfrm>
          <a:prstGeom prst="rect">
            <a:avLst/>
          </a:prstGeom>
          <a:solidFill>
            <a:srgbClr val="004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47943" y="1609344"/>
            <a:ext cx="2279903" cy="54864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icrosoft JhengHei"/>
              </a:rPr>
              <a:t>① 民營與社會資本屬性（④ 差異點）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84519" y="2304288"/>
            <a:ext cx="2206751" cy="393192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19" b="0">
                <a:solidFill>
                  <a:srgbClr val="1A2E23"/>
                </a:solidFill>
                <a:latin typeface="Microsoft JhengHei"/>
              </a:rPr>
              <a:t>● 目標單一明確：追求資本回報與市場競爭效率最大化</a:t>
            </a:r>
          </a:p>
          <a:p>
            <a:pPr algn="l">
              <a:lnSpc>
                <a:spcPct val="118000"/>
              </a:lnSpc>
            </a:pPr>
          </a:p>
          <a:p>
            <a:pPr algn="l">
              <a:lnSpc>
                <a:spcPct val="118000"/>
              </a:lnSpc>
            </a:pPr>
            <a:r>
              <a:rPr sz="919" b="0">
                <a:solidFill>
                  <a:srgbClr val="1A2E23"/>
                </a:solidFill>
                <a:latin typeface="Microsoft JhengHei"/>
              </a:rPr>
              <a:t>● 治理優勢：產權清晰、決策靈活、激勵機制高度市場化</a:t>
            </a:r>
          </a:p>
          <a:p>
            <a:pPr algn="l">
              <a:lnSpc>
                <a:spcPct val="118000"/>
              </a:lnSpc>
            </a:pPr>
          </a:p>
          <a:p>
            <a:pPr algn="l">
              <a:lnSpc>
                <a:spcPct val="118000"/>
              </a:lnSpc>
            </a:pPr>
            <a:r>
              <a:rPr sz="919" b="0">
                <a:solidFill>
                  <a:srgbClr val="1A2E23"/>
                </a:solidFill>
                <a:latin typeface="Microsoft JhengHei"/>
              </a:rPr>
              <a:t>● 參與混改顧慮：最怕「關門打狗」——投了巨資卻在董事會毫無話語權，淪為純粹湊錢的財務附庸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1572768"/>
            <a:ext cx="3520440" cy="4773168"/>
          </a:xfrm>
          <a:prstGeom prst="rect">
            <a:avLst/>
          </a:prstGeom>
          <a:solidFill>
            <a:srgbClr val="F7FBF9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83879" y="1572768"/>
            <a:ext cx="3520440" cy="292608"/>
          </a:xfrm>
          <a:prstGeom prst="rect">
            <a:avLst/>
          </a:prstGeom>
          <a:solidFill>
            <a:srgbClr val="004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57031" y="1591056"/>
            <a:ext cx="3374136" cy="25603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Microsoft JhengHei"/>
              </a:rPr>
              <a:t>🖼️ 視覺情境輔助 ＆ 入門／進階雙軌導讀</a:t>
            </a:r>
          </a:p>
        </p:txBody>
      </p:sp>
      <p:pic>
        <p:nvPicPr>
          <p:cNvPr id="25" name="Picture 24" descr="topic_21.jpg_1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607" y="1938528"/>
            <a:ext cx="3300984" cy="20574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293607" y="1938528"/>
            <a:ext cx="3300984" cy="2057400"/>
          </a:xfrm>
          <a:prstGeom prst="rect">
            <a:avLst/>
          </a:prstGeom>
          <a:noFill/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93607" y="4032504"/>
            <a:ext cx="330098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0183" y="4050792"/>
            <a:ext cx="3227832" cy="4572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1A2E23"/>
                </a:solidFill>
                <a:latin typeface="Microsoft JhengHei"/>
              </a:rPr>
              <a:t>📌 圖說：▲ 商業情境視覺：國有資本的雄厚基石與民營資本的市場活力，唯有在「政企分開、同股同權、董事會實質制衡」的制度橋樑下才能實現真正融合。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93607" y="4599432"/>
            <a:ext cx="3300984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177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93607" y="4599432"/>
            <a:ext cx="64008" cy="841248"/>
          </a:xfrm>
          <a:prstGeom prst="rect">
            <a:avLst/>
          </a:prstGeom>
          <a:solidFill>
            <a:srgbClr val="17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03335" y="4626864"/>
            <a:ext cx="3154680" cy="21945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80" b="1">
                <a:solidFill>
                  <a:srgbClr val="177B57"/>
                </a:solidFill>
                <a:latin typeface="Microsoft JhengHei"/>
              </a:rPr>
              <a:t>🌱 入門者核心秒懂（Plain-Language）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03335" y="4828032"/>
            <a:ext cx="3154680" cy="5852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19" b="0">
                <a:solidFill>
                  <a:srgbClr val="1A2E23"/>
                </a:solidFill>
                <a:latin typeface="Microsoft JhengHei"/>
              </a:rPr>
              <a:t>為什麼有人罵國企效率低，但國家又不能把國企全部私有化賣光？因為國企不只為了賺錢，還要負責水電、高鐵、國防、偏遠地區通訊等民生大計！那競爭性行業的國企怎麼提升效率…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93607" y="5495544"/>
            <a:ext cx="3300984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4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93607" y="5495544"/>
            <a:ext cx="64008" cy="841248"/>
          </a:xfrm>
          <a:prstGeom prst="rect">
            <a:avLst/>
          </a:prstGeom>
          <a:solidFill>
            <a:srgbClr val="004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03335" y="5522976"/>
            <a:ext cx="3154680" cy="21945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80" b="1">
                <a:solidFill>
                  <a:srgbClr val="004B2B"/>
                </a:solidFill>
                <a:latin typeface="Microsoft JhengHei"/>
              </a:rPr>
              <a:t>🏛️ 進階架構：【產權混合 × 治理邊界隔離】公私合營治理模型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03335" y="5724144"/>
            <a:ext cx="3154680" cy="5852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19" b="0">
                <a:solidFill>
                  <a:srgbClr val="1A2E23"/>
                </a:solidFill>
                <a:latin typeface="Microsoft JhengHei"/>
              </a:rPr>
              <a:t>從第 04 講「對等原則」來看，傳統國企的核心痛點在於「握有控制權的行政主管部門不享有合法的剩餘索取權」，而混改若只引資不放權，則會造成「民營股東有索取…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4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177B57"/>
                </a:solidFill>
                <a:latin typeface="Microsoft JhengHei"/>
              </a:rPr>
              <a:t>模組三：公司目的與治理哲學   ｜   版型 6：對立論法 (Opposition)   ｜   知識庫 #025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02336"/>
            <a:ext cx="11201400" cy="7498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4B2B"/>
                </a:solidFill>
                <a:latin typeface="Microsoft JhengHei"/>
              </a:rPr>
              <a:t>① 主張：利害關係人理論雖修正了「股東至上」的短視自利，但因「多元目標無法考核經理人」而難以在操作層面完全取代股東至上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33856"/>
            <a:ext cx="112014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5A7365"/>
                </a:solidFill>
                <a:latin typeface="Microsoft JhengHei"/>
              </a:rPr>
              <a:t>從 1919 年「道奇兄弟告贏亨利・福特案」到 2019 年美國商業圓桌會議 181 位 CEO 聯合宣言，看懂百年公司目的之爭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44752"/>
            <a:ext cx="11201400" cy="18288"/>
          </a:xfrm>
          <a:prstGeom prst="rect">
            <a:avLst/>
          </a:prstGeom>
          <a:solidFill>
            <a:srgbClr val="C3D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201400" cy="13716"/>
          </a:xfrm>
          <a:prstGeom prst="rect">
            <a:avLst/>
          </a:prstGeom>
          <a:solidFill>
            <a:srgbClr val="C3D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5A7365"/>
                </a:solidFill>
                <a:latin typeface="Microsoft JhengHei"/>
              </a:rPr>
              <a:t>Source: 劉松博《公司治理30講》24 講 ｜ 知識庫條目 #025 ｜ BCG Governance Philosophy Opposition Style  ｜  關鍵字：股東至上 / 利害關係人 / 利益相關者 / 道奇兄弟 / 福特 / 傅利曼 / 商業圓桌會議 / ESG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004B2B"/>
                </a:solidFill>
                <a:latin typeface="Microsoft JhengHei"/>
              </a:rPr>
              <a:t>13 /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72768"/>
            <a:ext cx="1280160" cy="530352"/>
          </a:xfrm>
          <a:prstGeom prst="rect">
            <a:avLst/>
          </a:prstGeom>
          <a:solidFill>
            <a:srgbClr val="F2F8F5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72768"/>
            <a:ext cx="1280160" cy="53035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004B2B"/>
                </a:solidFill>
                <a:latin typeface="Microsoft JhengHei"/>
              </a:rPr>
              <a:t>對立維度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56232" y="1572768"/>
            <a:ext cx="2834639" cy="5303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9384" y="1572768"/>
            <a:ext cx="2688335" cy="53035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80" b="1">
                <a:solidFill>
                  <a:srgbClr val="FFFFFF"/>
                </a:solidFill>
                <a:latin typeface="Microsoft JhengHei"/>
              </a:rPr>
              <a:t>② 流派 A：股東至上主義 (Shareholder Primacy)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1" y="1572768"/>
            <a:ext cx="402336" cy="53035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177B57"/>
                </a:solidFill>
                <a:latin typeface="Microsoft JhengHei"/>
              </a:rPr>
              <a:t>VS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93207" y="1572768"/>
            <a:ext cx="2834639" cy="530352"/>
          </a:xfrm>
          <a:prstGeom prst="rect">
            <a:avLst/>
          </a:prstGeom>
          <a:solidFill>
            <a:srgbClr val="004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59" y="1572768"/>
            <a:ext cx="2688335" cy="53035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80" b="1">
                <a:solidFill>
                  <a:srgbClr val="FFFFFF"/>
                </a:solidFill>
                <a:latin typeface="Microsoft JhengHei"/>
              </a:rPr>
              <a:t>② 流派 B：利害關係人理論 (Stakeholder Theory)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212848"/>
            <a:ext cx="1280160" cy="964692"/>
          </a:xfrm>
          <a:prstGeom prst="rect">
            <a:avLst/>
          </a:prstGeom>
          <a:solidFill>
            <a:srgbClr val="F2F8F5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" y="2212848"/>
            <a:ext cx="1170432" cy="96469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19" b="1">
                <a:solidFill>
                  <a:srgbClr val="004B2B"/>
                </a:solidFill>
                <a:latin typeface="Microsoft JhengHei"/>
              </a:rPr>
              <a:t>核心主張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56232" y="2212848"/>
            <a:ext cx="2834639" cy="964692"/>
          </a:xfrm>
          <a:prstGeom prst="rect">
            <a:avLst/>
          </a:prstGeom>
          <a:solidFill>
            <a:srgbClr val="F8FAFC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9384" y="2267712"/>
            <a:ext cx="2688335" cy="85496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0">
                <a:solidFill>
                  <a:srgbClr val="1A2E23"/>
                </a:solidFill>
                <a:latin typeface="Microsoft JhengHei"/>
              </a:rPr>
              <a:t>③ 公司屬於股東，經理人的唯一天職就是「為股東創造最大利潤與股價回報」（傅利曼 Milton Friedman）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0871" y="2212848"/>
            <a:ext cx="402336" cy="96469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77B57"/>
                </a:solidFill>
                <a:latin typeface="Microsoft JhengHei"/>
              </a:rPr>
              <a:t>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93207" y="2212848"/>
            <a:ext cx="2834639" cy="964692"/>
          </a:xfrm>
          <a:prstGeom prst="rect">
            <a:avLst/>
          </a:prstGeom>
          <a:solidFill>
            <a:srgbClr val="F2F8F5"/>
          </a:solidFill>
          <a:ln w="15240">
            <a:solidFill>
              <a:srgbClr val="177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59" y="2267712"/>
            <a:ext cx="2688335" cy="85496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0">
                <a:solidFill>
                  <a:srgbClr val="1A2E23"/>
                </a:solidFill>
                <a:latin typeface="Microsoft JhengHei"/>
              </a:rPr>
              <a:t>③ 公司需對股東、員工、客戶、供應商、社區與環境等所有「利害關係人」共同負責（2019 美商業圓桌宣言）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268980"/>
            <a:ext cx="1280160" cy="964692"/>
          </a:xfrm>
          <a:prstGeom prst="rect">
            <a:avLst/>
          </a:prstGeom>
          <a:solidFill>
            <a:srgbClr val="F2F8F5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" y="3268980"/>
            <a:ext cx="1170432" cy="96469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19" b="1">
                <a:solidFill>
                  <a:srgbClr val="004B2B"/>
                </a:solidFill>
                <a:latin typeface="Microsoft JhengHei"/>
              </a:rPr>
              <a:t>經典判例／事件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56232" y="3268980"/>
            <a:ext cx="2834639" cy="964692"/>
          </a:xfrm>
          <a:prstGeom prst="rect">
            <a:avLst/>
          </a:prstGeom>
          <a:solidFill>
            <a:srgbClr val="F8FAFC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29384" y="3323844"/>
            <a:ext cx="2688335" cy="85496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0">
                <a:solidFill>
                  <a:srgbClr val="1A2E23"/>
                </a:solidFill>
                <a:latin typeface="Microsoft JhengHei"/>
              </a:rPr>
              <a:t>1919 年【道奇兄弟訴福特案】：福特想停發特別股息去降車價、給工人加薪，法院判福特敗訴，宣示「公司首要目的是為股東賺錢」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0871" y="3268980"/>
            <a:ext cx="402336" cy="96469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77B57"/>
                </a:solidFill>
                <a:latin typeface="Microsoft JhengHei"/>
              </a:rPr>
              <a:t>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93207" y="3268980"/>
            <a:ext cx="2834639" cy="964692"/>
          </a:xfrm>
          <a:prstGeom prst="rect">
            <a:avLst/>
          </a:prstGeom>
          <a:solidFill>
            <a:srgbClr val="F2F8F5"/>
          </a:solidFill>
          <a:ln w="15240">
            <a:solidFill>
              <a:srgbClr val="177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66359" y="3323844"/>
            <a:ext cx="2688335" cy="85496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0">
                <a:solidFill>
                  <a:srgbClr val="1A2E23"/>
                </a:solidFill>
                <a:latin typeface="Microsoft JhengHei"/>
              </a:rPr>
              <a:t>近年 ESG 浪潮與德日治理模式：批評華爾街「股東至上」導致企業砍研發、裁員工、回購股票炒短線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325112"/>
            <a:ext cx="1280160" cy="964692"/>
          </a:xfrm>
          <a:prstGeom prst="rect">
            <a:avLst/>
          </a:prstGeom>
          <a:solidFill>
            <a:srgbClr val="F2F8F5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" y="4325112"/>
            <a:ext cx="1170432" cy="96469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19" b="1">
                <a:solidFill>
                  <a:srgbClr val="004B2B"/>
                </a:solidFill>
                <a:latin typeface="Microsoft JhengHei"/>
              </a:rPr>
              <a:t>致命缺陷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56232" y="4325112"/>
            <a:ext cx="2834639" cy="964692"/>
          </a:xfrm>
          <a:prstGeom prst="rect">
            <a:avLst/>
          </a:prstGeom>
          <a:solidFill>
            <a:srgbClr val="F8FAFC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9384" y="4379976"/>
            <a:ext cx="2688335" cy="85496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0">
                <a:solidFill>
                  <a:srgbClr val="1A2E23"/>
                </a:solidFill>
                <a:latin typeface="Microsoft JhengHei"/>
              </a:rPr>
              <a:t>容易誘發短期業績主義、忽視員工福祉、環境污染與產品安全外部性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90871" y="4325112"/>
            <a:ext cx="402336" cy="96469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77B57"/>
                </a:solidFill>
                <a:latin typeface="Microsoft JhengHei"/>
              </a:rPr>
              <a:t>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93207" y="4325112"/>
            <a:ext cx="2834639" cy="964692"/>
          </a:xfrm>
          <a:prstGeom prst="rect">
            <a:avLst/>
          </a:prstGeom>
          <a:solidFill>
            <a:srgbClr val="F2F8F5"/>
          </a:solidFill>
          <a:ln w="15240">
            <a:solidFill>
              <a:srgbClr val="177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66359" y="4379976"/>
            <a:ext cx="2688335" cy="85496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0">
                <a:solidFill>
                  <a:srgbClr val="1A2E23"/>
                </a:solidFill>
                <a:latin typeface="Microsoft JhengHei"/>
              </a:rPr>
              <a:t>【操作性死結】：當股東要利潤、員工要加薪、客戶要降價互相衝突時，經理人到底聽誰的？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5381244"/>
            <a:ext cx="1280160" cy="964692"/>
          </a:xfrm>
          <a:prstGeom prst="rect">
            <a:avLst/>
          </a:prstGeom>
          <a:solidFill>
            <a:srgbClr val="F2F8F5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7784" y="5381244"/>
            <a:ext cx="1170432" cy="96469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19" b="1">
                <a:solidFill>
                  <a:srgbClr val="004B2B"/>
                </a:solidFill>
                <a:latin typeface="Microsoft JhengHei"/>
              </a:rPr>
              <a:t>對經理人治理影響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56232" y="5381244"/>
            <a:ext cx="2834639" cy="964692"/>
          </a:xfrm>
          <a:prstGeom prst="rect">
            <a:avLst/>
          </a:prstGeom>
          <a:solidFill>
            <a:srgbClr val="F8FAFC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29384" y="5436108"/>
            <a:ext cx="2688335" cy="85496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0">
                <a:solidFill>
                  <a:srgbClr val="1A2E23"/>
                </a:solidFill>
                <a:latin typeface="Microsoft JhengHei"/>
              </a:rPr>
              <a:t>考核指標極度清晰（ROE、淨利潤、股價），經理人無法找藉口推卸責任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90871" y="5381244"/>
            <a:ext cx="402336" cy="96469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77B57"/>
                </a:solidFill>
                <a:latin typeface="Microsoft JhengHei"/>
              </a:rPr>
              <a:t>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93207" y="5381244"/>
            <a:ext cx="2834639" cy="964692"/>
          </a:xfrm>
          <a:prstGeom prst="rect">
            <a:avLst/>
          </a:prstGeom>
          <a:solidFill>
            <a:srgbClr val="F2F8F5"/>
          </a:solidFill>
          <a:ln w="15240">
            <a:solidFill>
              <a:srgbClr val="177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66359" y="5436108"/>
            <a:ext cx="2688335" cy="85496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0">
                <a:solidFill>
                  <a:srgbClr val="1A2E23"/>
                </a:solidFill>
                <a:latin typeface="Microsoft JhengHei"/>
              </a:rPr>
              <a:t>一旦沒有單一主目標，經理人極易拿「我在照顧員工/社會」當作經營不善的擋箭牌！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83879" y="1572768"/>
            <a:ext cx="3520440" cy="4773168"/>
          </a:xfrm>
          <a:prstGeom prst="rect">
            <a:avLst/>
          </a:prstGeom>
          <a:solidFill>
            <a:srgbClr val="F7FBF9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83879" y="1572768"/>
            <a:ext cx="3520440" cy="292608"/>
          </a:xfrm>
          <a:prstGeom prst="rect">
            <a:avLst/>
          </a:prstGeom>
          <a:solidFill>
            <a:srgbClr val="004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1591056"/>
            <a:ext cx="3374136" cy="25603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Microsoft JhengHei"/>
              </a:rPr>
              <a:t>🖼️ 視覺情境輔助 ＆ 入門／進階雙軌導讀</a:t>
            </a:r>
          </a:p>
        </p:txBody>
      </p:sp>
      <p:pic>
        <p:nvPicPr>
          <p:cNvPr id="48" name="Picture 47" descr="topic_24.jpg_1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607" y="1938528"/>
            <a:ext cx="3300984" cy="2057400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8293607" y="1938528"/>
            <a:ext cx="3300984" cy="2057400"/>
          </a:xfrm>
          <a:prstGeom prst="rect">
            <a:avLst/>
          </a:prstGeom>
          <a:noFill/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93607" y="4032504"/>
            <a:ext cx="330098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30183" y="4050792"/>
            <a:ext cx="3227832" cy="4572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1A2E23"/>
                </a:solidFill>
                <a:latin typeface="Microsoft JhengHei"/>
              </a:rPr>
              <a:t>📌 圖說：▲ 商業情境視覺：股東、員工、客戶、供應商與社會共同圍繞在企業圓桌旁——照顧所有利害關係人是高尚理想，但在決策衝突時，經理人必須有一個清晰的優先序。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93607" y="4599432"/>
            <a:ext cx="3300984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177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93607" y="4599432"/>
            <a:ext cx="64008" cy="841248"/>
          </a:xfrm>
          <a:prstGeom prst="rect">
            <a:avLst/>
          </a:prstGeom>
          <a:solidFill>
            <a:srgbClr val="17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03335" y="4626864"/>
            <a:ext cx="3154680" cy="21945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80" b="1">
                <a:solidFill>
                  <a:srgbClr val="177B57"/>
                </a:solidFill>
                <a:latin typeface="Microsoft JhengHei"/>
              </a:rPr>
              <a:t>🌱 入門者核心秒懂（Plain-Language）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03335" y="4828032"/>
            <a:ext cx="3154680" cy="5852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19" b="0">
                <a:solidFill>
                  <a:srgbClr val="1A2E23"/>
                </a:solidFill>
                <a:latin typeface="Microsoft JhengHei"/>
              </a:rPr>
              <a:t>「開公司到底是為了幫股東賺錢，還是為了造福員工、客戶和社會？」一百年前，汽車大王福特賺了大錢不想分給股東，想拿去給工人加薪、把車價降下來造福大眾，結果被股東「道…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93607" y="5495544"/>
            <a:ext cx="3300984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4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93607" y="5495544"/>
            <a:ext cx="64008" cy="841248"/>
          </a:xfrm>
          <a:prstGeom prst="rect">
            <a:avLst/>
          </a:prstGeom>
          <a:solidFill>
            <a:srgbClr val="004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03335" y="5522976"/>
            <a:ext cx="3154680" cy="21945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80" b="1">
                <a:solidFill>
                  <a:srgbClr val="004B2B"/>
                </a:solidFill>
                <a:latin typeface="Microsoft JhengHei"/>
              </a:rPr>
              <a:t>🏛️ 進階架構：【單一問責目標 vs. 多方長期共生】公司目的權衡模型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03335" y="5724144"/>
            <a:ext cx="3154680" cy="5852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19" b="0">
                <a:solidFill>
                  <a:srgbClr val="1A2E23"/>
                </a:solidFill>
                <a:latin typeface="Microsoft JhengHei"/>
              </a:rPr>
              <a:t>為什麼「利害關係人理論」聽起來政治正確，卻在治理實務中舉步維艱？因為它混淆了「道德倡議」與「契約問責」。在公司治理中，若缺乏可量化的首要目標，代理成本將…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4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177B57"/>
                </a:solidFill>
                <a:latin typeface="Microsoft JhengHei"/>
              </a:rPr>
              <a:t>模組三：跨國治理比較（德國篇 I）   ｜   版型 6：對立論法 (Opposition)   ｜   知識庫 #027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02336"/>
            <a:ext cx="11201400" cy="7498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4B2B"/>
                </a:solidFill>
                <a:latin typeface="Microsoft JhengHei"/>
              </a:rPr>
              <a:t>① 主張：德國「監事會高於董事會」的垂直二元制雖賦予監事會任免大權，但若喪失實質獨立性仍會爆發德意志銀行式的監督失靈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33856"/>
            <a:ext cx="112014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5A7365"/>
                </a:solidFill>
                <a:latin typeface="Microsoft JhengHei"/>
              </a:rPr>
              <a:t>對比德國「垂直雙層制（監事會管董事會）」與亞洲常見「平行雙層制」，拆解德意志銀行衍生品豪賭巨虧背後的治理盲區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44752"/>
            <a:ext cx="11201400" cy="18288"/>
          </a:xfrm>
          <a:prstGeom prst="rect">
            <a:avLst/>
          </a:prstGeom>
          <a:solidFill>
            <a:srgbClr val="C3D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201400" cy="13716"/>
          </a:xfrm>
          <a:prstGeom prst="rect">
            <a:avLst/>
          </a:prstGeom>
          <a:solidFill>
            <a:srgbClr val="C3D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5A7365"/>
                </a:solidFill>
                <a:latin typeface="Microsoft JhengHei"/>
              </a:rPr>
              <a:t>Source: 劉松博《公司治理30講》26 講 ｜ 知識庫條目 #027 ｜ BCG Institutional Comparison Style  ｜  關鍵字：德國監事會 / 德意志銀行 / 二元制 / 垂直雙層制 / 交叉持股 / 獨立性 / 旋轉門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004B2B"/>
                </a:solidFill>
                <a:latin typeface="Microsoft JhengHei"/>
              </a:rPr>
              <a:t>14 /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72768"/>
            <a:ext cx="1280160" cy="530352"/>
          </a:xfrm>
          <a:prstGeom prst="rect">
            <a:avLst/>
          </a:prstGeom>
          <a:solidFill>
            <a:srgbClr val="F2F8F5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72768"/>
            <a:ext cx="1280160" cy="53035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004B2B"/>
                </a:solidFill>
                <a:latin typeface="Microsoft JhengHei"/>
              </a:rPr>
              <a:t>對立維度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56232" y="1572768"/>
            <a:ext cx="2834639" cy="53035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9384" y="1572768"/>
            <a:ext cx="2688335" cy="53035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80" b="1">
                <a:solidFill>
                  <a:srgbClr val="FFFFFF"/>
                </a:solidFill>
                <a:latin typeface="Microsoft JhengHei"/>
              </a:rPr>
              <a:t>② 制度設計：德國垂直二元制（監事會高高在上）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1" y="1572768"/>
            <a:ext cx="402336" cy="53035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177B57"/>
                </a:solidFill>
                <a:latin typeface="Microsoft JhengHei"/>
              </a:rPr>
              <a:t>VS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93207" y="1572768"/>
            <a:ext cx="2834639" cy="530352"/>
          </a:xfrm>
          <a:prstGeom prst="rect">
            <a:avLst/>
          </a:prstGeom>
          <a:solidFill>
            <a:srgbClr val="004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59" y="1572768"/>
            <a:ext cx="2688335" cy="53035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80" b="1">
                <a:solidFill>
                  <a:srgbClr val="FFFFFF"/>
                </a:solidFill>
                <a:latin typeface="Microsoft JhengHei"/>
              </a:rPr>
              <a:t>② 現實失靈：德意志銀行危機暴露之三大治理病灶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212848"/>
            <a:ext cx="1280160" cy="964692"/>
          </a:xfrm>
          <a:prstGeom prst="rect">
            <a:avLst/>
          </a:prstGeom>
          <a:solidFill>
            <a:srgbClr val="F2F8F5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" y="2212848"/>
            <a:ext cx="1170432" cy="96469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19" b="1">
                <a:solidFill>
                  <a:srgbClr val="004B2B"/>
                </a:solidFill>
                <a:latin typeface="Microsoft JhengHei"/>
              </a:rPr>
              <a:t>組織位階與權力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56232" y="2212848"/>
            <a:ext cx="2834639" cy="964692"/>
          </a:xfrm>
          <a:prstGeom prst="rect">
            <a:avLst/>
          </a:prstGeom>
          <a:solidFill>
            <a:srgbClr val="F8FAFC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9384" y="2267712"/>
            <a:ext cx="2688335" cy="85496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0">
                <a:solidFill>
                  <a:srgbClr val="1A2E23"/>
                </a:solidFill>
                <a:latin typeface="Microsoft JhengHei"/>
              </a:rPr>
              <a:t>③ 股東會選出【監事會（Aufsichtsrat）】，再由監事會任命並監督【管理董事會（Vorstand）】——監事會是董事會的頂頭上司！（對比：中/台監事會與董事會平行，無權開除董事）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0871" y="2212848"/>
            <a:ext cx="402336" cy="96469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77B57"/>
                </a:solidFill>
                <a:latin typeface="Microsoft JhengHei"/>
              </a:rPr>
              <a:t>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93207" y="2212848"/>
            <a:ext cx="2834639" cy="964692"/>
          </a:xfrm>
          <a:prstGeom prst="rect">
            <a:avLst/>
          </a:prstGeom>
          <a:solidFill>
            <a:srgbClr val="F2F8F5"/>
          </a:solidFill>
          <a:ln w="15240">
            <a:solidFill>
              <a:srgbClr val="177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59" y="2267712"/>
            <a:ext cx="2688335" cy="85496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0">
                <a:solidFill>
                  <a:srgbClr val="1A2E23"/>
                </a:solidFill>
                <a:latin typeface="Microsoft JhengHei"/>
              </a:rPr>
              <a:t>③ 位階雖高，但德意志銀行監事會長期未能制止管理層瘋狂擴張高風險衍生品（名義本金一度高達德國 GDP 數十倍），導致連年巨虧、股價崩跌逾 90%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268980"/>
            <a:ext cx="1280160" cy="964692"/>
          </a:xfrm>
          <a:prstGeom prst="rect">
            <a:avLst/>
          </a:prstGeom>
          <a:solidFill>
            <a:srgbClr val="F2F8F5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" y="3268980"/>
            <a:ext cx="1170432" cy="96469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19" b="1">
                <a:solidFill>
                  <a:srgbClr val="004B2B"/>
                </a:solidFill>
                <a:latin typeface="Microsoft JhengHei"/>
              </a:rPr>
              <a:t>人脈與交叉持股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56232" y="3268980"/>
            <a:ext cx="2834639" cy="964692"/>
          </a:xfrm>
          <a:prstGeom prst="rect">
            <a:avLst/>
          </a:prstGeom>
          <a:solidFill>
            <a:srgbClr val="F8FAFC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29384" y="3323844"/>
            <a:ext cx="2688335" cy="85496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0">
                <a:solidFill>
                  <a:srgbClr val="1A2E23"/>
                </a:solidFill>
                <a:latin typeface="Microsoft JhengHei"/>
              </a:rPr>
              <a:t>德國傳統主銀行制度與企業間交叉持股，提供長期穩定資本、免受華爾街短期干擾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0871" y="3268980"/>
            <a:ext cx="402336" cy="96469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77B57"/>
                </a:solidFill>
                <a:latin typeface="Microsoft JhengHei"/>
              </a:rPr>
              <a:t>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93207" y="3268980"/>
            <a:ext cx="2834639" cy="964692"/>
          </a:xfrm>
          <a:prstGeom prst="rect">
            <a:avLst/>
          </a:prstGeom>
          <a:solidFill>
            <a:srgbClr val="F2F8F5"/>
          </a:solidFill>
          <a:ln w="15240">
            <a:solidFill>
              <a:srgbClr val="177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66359" y="3323844"/>
            <a:ext cx="2688335" cy="85496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0">
                <a:solidFill>
                  <a:srgbClr val="1A2E23"/>
                </a:solidFill>
                <a:latin typeface="Microsoft JhengHei"/>
              </a:rPr>
              <a:t>形成封閉的「德國俱樂部（老男孩網路）」——你當我監事、我當你董事，熟人關係摧毀了監督的獨立性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325112"/>
            <a:ext cx="1280160" cy="964692"/>
          </a:xfrm>
          <a:prstGeom prst="rect">
            <a:avLst/>
          </a:prstGeom>
          <a:solidFill>
            <a:srgbClr val="F2F8F5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" y="4325112"/>
            <a:ext cx="1170432" cy="96469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19" b="1">
                <a:solidFill>
                  <a:srgbClr val="004B2B"/>
                </a:solidFill>
                <a:latin typeface="Microsoft JhengHei"/>
              </a:rPr>
              <a:t>旋轉門與獨立性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56232" y="4325112"/>
            <a:ext cx="2834639" cy="964692"/>
          </a:xfrm>
          <a:prstGeom prst="rect">
            <a:avLst/>
          </a:prstGeom>
          <a:solidFill>
            <a:srgbClr val="F8FAFC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9384" y="4379976"/>
            <a:ext cx="2688335" cy="85496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0">
                <a:solidFill>
                  <a:srgbClr val="1A2E23"/>
                </a:solidFill>
                <a:latin typeface="Microsoft JhengHei"/>
              </a:rPr>
              <a:t>期望由最懂業務的前任高管進入監事會把關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90871" y="4325112"/>
            <a:ext cx="402336" cy="96469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77B57"/>
                </a:solidFill>
                <a:latin typeface="Microsoft JhengHei"/>
              </a:rPr>
              <a:t>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93207" y="4325112"/>
            <a:ext cx="2834639" cy="964692"/>
          </a:xfrm>
          <a:prstGeom prst="rect">
            <a:avLst/>
          </a:prstGeom>
          <a:solidFill>
            <a:srgbClr val="F2F8F5"/>
          </a:solidFill>
          <a:ln w="15240">
            <a:solidFill>
              <a:srgbClr val="177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66359" y="4379976"/>
            <a:ext cx="2688335" cy="85496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0">
                <a:solidFill>
                  <a:srgbClr val="1A2E23"/>
                </a:solidFill>
                <a:latin typeface="Microsoft JhengHei"/>
              </a:rPr>
              <a:t>前任 CEO 卸任後直接轉任監事會主席，根本不願否定自己當年的戰略與提拔的親信（後修法強制要求 2 年冷卻期）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5381244"/>
            <a:ext cx="1280160" cy="964692"/>
          </a:xfrm>
          <a:prstGeom prst="rect">
            <a:avLst/>
          </a:prstGeom>
          <a:solidFill>
            <a:srgbClr val="F2F8F5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7784" y="5381244"/>
            <a:ext cx="1170432" cy="96469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19" b="1">
                <a:solidFill>
                  <a:srgbClr val="004B2B"/>
                </a:solidFill>
                <a:latin typeface="Microsoft JhengHei"/>
              </a:rPr>
              <a:t>風控與資訊屏蔽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56232" y="5381244"/>
            <a:ext cx="2834639" cy="964692"/>
          </a:xfrm>
          <a:prstGeom prst="rect">
            <a:avLst/>
          </a:prstGeom>
          <a:solidFill>
            <a:srgbClr val="F8FAFC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29384" y="5436108"/>
            <a:ext cx="2688335" cy="85496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0">
                <a:solidFill>
                  <a:srgbClr val="1A2E23"/>
                </a:solidFill>
                <a:latin typeface="Microsoft JhengHei"/>
              </a:rPr>
              <a:t>監事會下設風險委員會負責重大風控監督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90871" y="5381244"/>
            <a:ext cx="402336" cy="96469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77B57"/>
                </a:solidFill>
                <a:latin typeface="Microsoft JhengHei"/>
              </a:rPr>
              <a:t>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93207" y="5381244"/>
            <a:ext cx="2834639" cy="964692"/>
          </a:xfrm>
          <a:prstGeom prst="rect">
            <a:avLst/>
          </a:prstGeom>
          <a:solidFill>
            <a:srgbClr val="F2F8F5"/>
          </a:solidFill>
          <a:ln w="15240">
            <a:solidFill>
              <a:srgbClr val="177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66359" y="5436108"/>
            <a:ext cx="2688335" cy="854964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4000"/>
              </a:lnSpc>
            </a:pPr>
            <a:r>
              <a:rPr sz="880" b="0">
                <a:solidFill>
                  <a:srgbClr val="1A2E23"/>
                </a:solidFill>
                <a:latin typeface="Microsoft JhengHei"/>
              </a:rPr>
              <a:t>管理層刻意邊緣化風控官、甚至將風控部門外遷，監事會因兼職時間有限與專業不足而淪為擺設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83879" y="1572768"/>
            <a:ext cx="3520440" cy="4773168"/>
          </a:xfrm>
          <a:prstGeom prst="rect">
            <a:avLst/>
          </a:prstGeom>
          <a:solidFill>
            <a:srgbClr val="F7FBF9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83879" y="1572768"/>
            <a:ext cx="3520440" cy="292608"/>
          </a:xfrm>
          <a:prstGeom prst="rect">
            <a:avLst/>
          </a:prstGeom>
          <a:solidFill>
            <a:srgbClr val="004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1591056"/>
            <a:ext cx="3374136" cy="25603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Microsoft JhengHei"/>
              </a:rPr>
              <a:t>🖼️ 視覺情境輔助 ＆ 入門／進階雙軌導讀</a:t>
            </a:r>
          </a:p>
        </p:txBody>
      </p:sp>
      <p:pic>
        <p:nvPicPr>
          <p:cNvPr id="48" name="Picture 47" descr="topic_26.jpg_1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607" y="1938528"/>
            <a:ext cx="3300984" cy="2057400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8293607" y="1938528"/>
            <a:ext cx="3300984" cy="2057400"/>
          </a:xfrm>
          <a:prstGeom prst="rect">
            <a:avLst/>
          </a:prstGeom>
          <a:noFill/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93607" y="4032504"/>
            <a:ext cx="330098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30183" y="4050792"/>
            <a:ext cx="3227832" cy="4572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1A2E23"/>
                </a:solidFill>
                <a:latin typeface="Microsoft JhengHei"/>
              </a:rPr>
              <a:t>📌 圖說：▲ 商業情境視覺：法蘭克福金融區的德意志銀行雙塔——即便擁有全球法定權力最大的「德國垂直監事會」，當監督者與被監督者淪為熟人俱樂部時，高位階也救不了風控崩潰。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93607" y="4599432"/>
            <a:ext cx="3300984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177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93607" y="4599432"/>
            <a:ext cx="64008" cy="841248"/>
          </a:xfrm>
          <a:prstGeom prst="rect">
            <a:avLst/>
          </a:prstGeom>
          <a:solidFill>
            <a:srgbClr val="177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03335" y="4626864"/>
            <a:ext cx="3154680" cy="21945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80" b="1">
                <a:solidFill>
                  <a:srgbClr val="177B57"/>
                </a:solidFill>
                <a:latin typeface="Microsoft JhengHei"/>
              </a:rPr>
              <a:t>🌱 入門者核心秒懂（Plain-Language）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03335" y="4828032"/>
            <a:ext cx="3154680" cy="5852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19" b="0">
                <a:solidFill>
                  <a:srgbClr val="1A2E23"/>
                </a:solidFill>
                <a:latin typeface="Microsoft JhengHei"/>
              </a:rPr>
              <a:t>為什麼很多公司的「監事會（或監察人）」感覺像空氣一樣沒存在感？因為在我們熟悉的制度裡，股東大會同時選出「董事會」和「監事會」，兩邊平起平坐，監事會根本沒權力開除…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93607" y="5495544"/>
            <a:ext cx="3300984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4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93607" y="5495544"/>
            <a:ext cx="64008" cy="841248"/>
          </a:xfrm>
          <a:prstGeom prst="rect">
            <a:avLst/>
          </a:prstGeom>
          <a:solidFill>
            <a:srgbClr val="004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03335" y="5522976"/>
            <a:ext cx="3154680" cy="21945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80" b="1">
                <a:solidFill>
                  <a:srgbClr val="004B2B"/>
                </a:solidFill>
                <a:latin typeface="Microsoft JhengHei"/>
              </a:rPr>
              <a:t>🏛️ 進階架構：【機構位階 vs. 實質獨立性】監督有效性檢驗模型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03335" y="5724144"/>
            <a:ext cx="3154680" cy="5852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19" b="0">
                <a:solidFill>
                  <a:srgbClr val="1A2E23"/>
                </a:solidFill>
                <a:latin typeface="Microsoft JhengHei"/>
              </a:rPr>
              <a:t>本講再次印證全課核心機制之五——**「形式不等於功能」**（見知識庫 #041）。無論是美式的「單一董事會＋獨立董事（第 15 講）」，還是德式的「垂直…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0077C8"/>
                </a:solidFill>
                <a:latin typeface="Microsoft JhengHei"/>
              </a:rPr>
              <a:t>模組四：治理下沉與外擴（開篇核心講）   ｜   版型 5：麥肯錫論法 (McKinsey Matrix)   ｜   知識庫 #030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02336"/>
            <a:ext cx="11201400" cy="7498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51C2C"/>
                </a:solidFill>
                <a:latin typeface="Microsoft JhengHei"/>
              </a:rPr>
              <a:t>① 主張：破解職業經理人「包贏不包輸」的終極答案是「事業合夥人制」，以「共擔劣後風險」將經理人升級為權力中心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33856"/>
            <a:ext cx="112014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4748B"/>
                </a:solidFill>
                <a:latin typeface="Microsoft JhengHei"/>
              </a:rPr>
              <a:t>從萬科雙層合夥人制度（公司層級槓桿增持＋項目層級強制跟投）看懂「共創・共享・共治・共擔」四位一體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44752"/>
            <a:ext cx="112014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20140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4748B"/>
                </a:solidFill>
                <a:latin typeface="Microsoft JhengHei"/>
              </a:rPr>
              <a:t>Source: 劉松博《公司治理30講》29 講 ｜ 知識庫條目 #030 ｜ McKinsey Risk-Sharing Partnership Matrix  ｜  關鍵字：事業合夥人 / 萬科 / 項目跟投 / 包贏不包輸 / 共擔風險 / 阿里巴巴合夥人 / 海爾 / 權力中心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051C2C"/>
                </a:solidFill>
                <a:latin typeface="Microsoft JhengHei"/>
              </a:rPr>
              <a:t>15 /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72768"/>
            <a:ext cx="1170432" cy="56692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72768"/>
            <a:ext cx="1170432" cy="566928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19" b="1">
                <a:solidFill>
                  <a:srgbClr val="FFFFFF"/>
                </a:solidFill>
                <a:latin typeface="Microsoft JhengHei"/>
              </a:rPr>
              <a:t>治理維度 \ 階段</a:t>
            </a:r>
          </a:p>
        </p:txBody>
      </p:sp>
      <p:sp>
        <p:nvSpPr>
          <p:cNvPr id="12" name="Chevron 11"/>
          <p:cNvSpPr/>
          <p:nvPr/>
        </p:nvSpPr>
        <p:spPr>
          <a:xfrm>
            <a:off x="1746504" y="1572768"/>
            <a:ext cx="2036063" cy="566928"/>
          </a:xfrm>
          <a:prstGeom prst="chevron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19656" y="1572768"/>
            <a:ext cx="1871471" cy="566928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19" b="1">
                <a:solidFill>
                  <a:srgbClr val="FFFFFF"/>
                </a:solidFill>
                <a:latin typeface="Microsoft JhengHei"/>
              </a:rPr>
              <a:t>② 傳統職業經理人痛點</a:t>
            </a:r>
          </a:p>
          <a:p>
            <a:pPr algn="ctr">
              <a:lnSpc>
                <a:spcPct val="118000"/>
              </a:lnSpc>
            </a:pPr>
            <a:r>
              <a:rPr sz="919" b="1">
                <a:solidFill>
                  <a:srgbClr val="FFFFFF"/>
                </a:solidFill>
                <a:latin typeface="Microsoft JhengHei"/>
              </a:rPr>
              <a:t>（包贏不包輸）</a:t>
            </a:r>
          </a:p>
        </p:txBody>
      </p:sp>
      <p:sp>
        <p:nvSpPr>
          <p:cNvPr id="14" name="Chevron 13"/>
          <p:cNvSpPr/>
          <p:nvPr/>
        </p:nvSpPr>
        <p:spPr>
          <a:xfrm>
            <a:off x="3855719" y="1572768"/>
            <a:ext cx="2036063" cy="566928"/>
          </a:xfrm>
          <a:prstGeom prst="chevron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28871" y="1572768"/>
            <a:ext cx="1871471" cy="566928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19" b="1">
                <a:solidFill>
                  <a:srgbClr val="FFFFFF"/>
                </a:solidFill>
                <a:latin typeface="Microsoft JhengHei"/>
              </a:rPr>
              <a:t>② 萬科第 1 層：公司級持股計畫</a:t>
            </a:r>
          </a:p>
          <a:p>
            <a:pPr algn="ctr">
              <a:lnSpc>
                <a:spcPct val="118000"/>
              </a:lnSpc>
            </a:pPr>
            <a:r>
              <a:rPr sz="919" b="1">
                <a:solidFill>
                  <a:srgbClr val="FFFFFF"/>
                </a:solidFill>
                <a:latin typeface="Microsoft JhengHei"/>
              </a:rPr>
              <a:t>（集體獎金池＋槓桿鎖定）</a:t>
            </a:r>
          </a:p>
        </p:txBody>
      </p:sp>
      <p:sp>
        <p:nvSpPr>
          <p:cNvPr id="16" name="Chevron 15"/>
          <p:cNvSpPr/>
          <p:nvPr/>
        </p:nvSpPr>
        <p:spPr>
          <a:xfrm>
            <a:off x="5964935" y="1572768"/>
            <a:ext cx="2036063" cy="566928"/>
          </a:xfrm>
          <a:prstGeom prst="chevron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087" y="1572768"/>
            <a:ext cx="1871471" cy="566928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19" b="1">
                <a:solidFill>
                  <a:srgbClr val="FFFFFF"/>
                </a:solidFill>
                <a:latin typeface="Microsoft JhengHei"/>
              </a:rPr>
              <a:t>② 萬科第 2 層：項目級強制跟投</a:t>
            </a:r>
          </a:p>
          <a:p>
            <a:pPr algn="ctr">
              <a:lnSpc>
                <a:spcPct val="118000"/>
              </a:lnSpc>
            </a:pPr>
            <a:r>
              <a:rPr sz="919" b="1">
                <a:solidFill>
                  <a:srgbClr val="FFFFFF"/>
                </a:solidFill>
                <a:latin typeface="Microsoft JhengHei"/>
              </a:rPr>
              <a:t>（一線自己掏錢共擔虧損）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249424"/>
            <a:ext cx="1170432" cy="2002536"/>
          </a:xfrm>
          <a:prstGeom prst="rect">
            <a:avLst/>
          </a:prstGeom>
          <a:solidFill>
            <a:srgbClr val="F4F6F9"/>
          </a:solidFill>
          <a:ln w="12700">
            <a:solidFill>
              <a:srgbClr val="051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" y="2249424"/>
            <a:ext cx="1060704" cy="2002536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051C2C"/>
                </a:solidFill>
                <a:latin typeface="Microsoft JhengHei"/>
              </a:rPr>
              <a:t>③ 制度機制 與運作細節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46504" y="2249424"/>
            <a:ext cx="2036063" cy="20025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19656" y="2304288"/>
            <a:ext cx="1889759" cy="18928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>
                <a:solidFill>
                  <a:srgbClr val="1A202C"/>
                </a:solidFill>
                <a:latin typeface="Microsoft JhengHei"/>
              </a:rPr>
              <a:t>拿高薪與免費期權：公司賺錢拿巨額分紅，公司虧錢拍拍屁股跳槽去下一家，從不掏自己口袋賠錢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55719" y="2249424"/>
            <a:ext cx="2036063" cy="20025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28871" y="2304288"/>
            <a:ext cx="1889759" cy="18928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>
                <a:solidFill>
                  <a:srgbClr val="1A202C"/>
                </a:solidFill>
                <a:latin typeface="Microsoft JhengHei"/>
              </a:rPr>
              <a:t>1320 名高管將集體獎金帳戶委託買入萬科股票，甚至引入融資槓桿——若股價大跌，高管自己的獎金本金先虧光（劣後級）！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64935" y="2249424"/>
            <a:ext cx="2036063" cy="20025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8087" y="2304288"/>
            <a:ext cx="1889759" cy="18928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>
                <a:solidFill>
                  <a:srgbClr val="1A202C"/>
                </a:solidFill>
                <a:latin typeface="Microsoft JhengHei"/>
              </a:rPr>
              <a:t>每個房地產新項目，一線項目總經理與團隊【必須自掏腰包強制跟投】，其他員工可自願跟投；項目賺錢一起分，項目虧損自己真金白銀賠！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343400"/>
            <a:ext cx="1170432" cy="2002536"/>
          </a:xfrm>
          <a:prstGeom prst="rect">
            <a:avLst/>
          </a:prstGeom>
          <a:solidFill>
            <a:srgbClr val="F4F6F9"/>
          </a:solidFill>
          <a:ln w="12700">
            <a:solidFill>
              <a:srgbClr val="051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7784" y="4343400"/>
            <a:ext cx="1060704" cy="2002536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051C2C"/>
                </a:solidFill>
                <a:latin typeface="Microsoft JhengHei"/>
              </a:rPr>
              <a:t>③ 治理躍遷 與核心成效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46504" y="4343400"/>
            <a:ext cx="2036063" cy="20025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19656" y="4398264"/>
            <a:ext cx="1889759" cy="18928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>
                <a:solidFill>
                  <a:srgbClr val="1A202C"/>
                </a:solidFill>
                <a:latin typeface="Microsoft JhengHei"/>
              </a:rPr>
              <a:t>控制權與風險承擔不對等，導致高管敢拿股東的錢盲目高價拿地、擴張規模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55719" y="4343400"/>
            <a:ext cx="2036063" cy="20025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28871" y="4398264"/>
            <a:ext cx="1889759" cy="18928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>
                <a:solidFill>
                  <a:srgbClr val="1A202C"/>
                </a:solidFill>
                <a:latin typeface="Microsoft JhengHei"/>
              </a:rPr>
              <a:t>將高管利益與公司長期市值深度綁定，同時凝聚成抵禦外部野蠻人的穩定股東力量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4935" y="4343400"/>
            <a:ext cx="2036063" cy="20025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8087" y="4398264"/>
            <a:ext cx="1889759" cy="18928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>
                <a:solidFill>
                  <a:srgbClr val="1A202C"/>
                </a:solidFill>
                <a:latin typeface="Microsoft JhengHei"/>
              </a:rPr>
              <a:t>拿地成本立刻下降、開工到開盤周期大幅縮短！真正做到【共創、共享、共治、共擔（最核心差別）】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79" y="1572768"/>
            <a:ext cx="3520440" cy="47731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83879" y="1572768"/>
            <a:ext cx="3520440" cy="29260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57031" y="1591056"/>
            <a:ext cx="3374136" cy="25603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Microsoft JhengHei"/>
              </a:rPr>
              <a:t>🖼️ 視覺情境輔助 ＆ 入門／進階雙軌導讀</a:t>
            </a:r>
          </a:p>
        </p:txBody>
      </p:sp>
      <p:pic>
        <p:nvPicPr>
          <p:cNvPr id="37" name="Picture 36" descr="topic_29.jpg_1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607" y="1938528"/>
            <a:ext cx="3300984" cy="205740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8293607" y="1938528"/>
            <a:ext cx="3300984" cy="2057400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93607" y="4032504"/>
            <a:ext cx="330098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30183" y="4050792"/>
            <a:ext cx="3227832" cy="4572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1A202C"/>
                </a:solidFill>
                <a:latin typeface="Microsoft JhengHei"/>
              </a:rPr>
              <a:t>📌 圖說：▲ 商業情境視覺：手疊手的合夥誓言背後，必須有「真金白銀掏腰包、虧損時先賠自己」的風險共擔機制，才能把旱澇保收的「打工人」變成休戚與共的「合夥人」。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93607" y="4599432"/>
            <a:ext cx="3300984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93607" y="4599432"/>
            <a:ext cx="64008" cy="841248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03335" y="4626864"/>
            <a:ext cx="3154680" cy="21945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80" b="1">
                <a:solidFill>
                  <a:srgbClr val="0077C8"/>
                </a:solidFill>
                <a:latin typeface="Microsoft JhengHei"/>
              </a:rPr>
              <a:t>🌱 入門者核心秒懂（Plain-Language）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03335" y="4828032"/>
            <a:ext cx="3154680" cy="5852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19" b="0">
                <a:solidFill>
                  <a:srgbClr val="1A202C"/>
                </a:solidFill>
                <a:latin typeface="Microsoft JhengHei"/>
              </a:rPr>
              <a:t>為什麼哪怕給職業經理人發了高薪和股票期權，老闆還是覺得不放心？因為傳統經理人是「**包贏不包輸**」的！公司賺錢了，他分幾千萬獎金；公司如果虧掉十個億，他頂多不…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93607" y="5495544"/>
            <a:ext cx="3300984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051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93607" y="5495544"/>
            <a:ext cx="64008" cy="84124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03335" y="5522976"/>
            <a:ext cx="3154680" cy="21945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80" b="1">
                <a:solidFill>
                  <a:srgbClr val="051C2C"/>
                </a:solidFill>
                <a:latin typeface="Microsoft JhengHei"/>
              </a:rPr>
              <a:t>🏛️ 進階架構：【劣後級風險共擔 × 權力中心重構】事業合夥人治理模型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03335" y="5724144"/>
            <a:ext cx="3154680" cy="5852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19" b="0">
                <a:solidFill>
                  <a:srgbClr val="1A202C"/>
                </a:solidFill>
                <a:latin typeface="Microsoft JhengHei"/>
              </a:rPr>
              <a:t>本講是第四模組「治理下沉與外擴」的靈魂開篇，也是對第 04 講「對等原則」與第 25 講「權力線何在」的終極閉環！在知識與創新密集型企業中，貨幣資本已不…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0077C8"/>
                </a:solidFill>
                <a:latin typeface="Microsoft JhengHei"/>
              </a:rPr>
              <a:t>模組四：治理下沉與外擴   ｜   版型 8：BCG 論法 (BCG 2×2 Matrix)   ｜   知識庫 #033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02336"/>
            <a:ext cx="11201400" cy="7498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51C2C"/>
                </a:solidFill>
                <a:latin typeface="Microsoft JhengHei"/>
              </a:rPr>
              <a:t>① 主張：內部裂變創業並非萬能，必須區分「顛覆式探索（設少數創新特區）」與「成熟模式複製（常態化裂變）」兩類情境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33856"/>
            <a:ext cx="11201400" cy="292608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4748B"/>
                </a:solidFill>
                <a:latin typeface="Microsoft JhengHei"/>
              </a:rPr>
              <a:t>從騰訊廣研院孵化「微信（張小龍）」、芬尼克茲裂變、到華為與萬科內部創業受挫，看懂內部創業的資源與人性邊界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44752"/>
            <a:ext cx="1120140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201400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960120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4748B"/>
                </a:solidFill>
                <a:latin typeface="Microsoft JhengHei"/>
              </a:rPr>
              <a:t>Source: 劉松博《公司治理30講》32 講 ｜ 知識庫條目 #033 ｜ McKinsey Intrapreneurship 2x2 Matrix  ｜  關鍵字：裂變式創業 / 內部創業 / 微信 / 張小龍 / 創新特區 / 海爾 / 小微企業 / 芬尼克茲 / 愛爾眼科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10528"/>
            <a:ext cx="1463040" cy="256032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051C2C"/>
                </a:solidFill>
                <a:latin typeface="Microsoft JhengHei"/>
              </a:rPr>
              <a:t>16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72768"/>
            <a:ext cx="329184" cy="4443984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880" b="1">
                <a:solidFill>
                  <a:srgbClr val="051C2C"/>
                </a:solidFill>
                <a:latin typeface="Microsoft JhengHei"/>
              </a:rPr>
              <a:t>▲</a:t>
            </a:r>
          </a:p>
          <a:p>
            <a:pPr algn="ctr">
              <a:lnSpc>
                <a:spcPct val="118000"/>
              </a:lnSpc>
            </a:pPr>
            <a:r>
              <a:rPr sz="880" b="1">
                <a:solidFill>
                  <a:srgbClr val="051C2C"/>
                </a:solidFill>
                <a:latin typeface="Microsoft JhengHei"/>
              </a:rPr>
              <a:t>資金與抗風險需求（低 ➔ 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6053328"/>
            <a:ext cx="7168895" cy="27432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>
              <a:lnSpc>
                <a:spcPct val="118000"/>
              </a:lnSpc>
            </a:pPr>
            <a:r>
              <a:rPr sz="919" b="1">
                <a:solidFill>
                  <a:srgbClr val="051C2C"/>
                </a:solidFill>
                <a:latin typeface="Microsoft JhengHei"/>
              </a:rPr>
              <a:t>治理約束與控制權稀釋容忍度（低 ➔ 高）  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" y="1572768"/>
            <a:ext cx="3520439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" y="1572768"/>
            <a:ext cx="3520439" cy="36576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1600200"/>
            <a:ext cx="3337559" cy="310896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19" b="1">
                <a:solidFill>
                  <a:srgbClr val="FFFFFF"/>
                </a:solidFill>
                <a:latin typeface="Microsoft JhengHei"/>
              </a:rPr>
              <a:t>左上象限 (高Y / 低X)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1993392"/>
            <a:ext cx="3300983" cy="3657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1">
                <a:solidFill>
                  <a:srgbClr val="051C2C"/>
                </a:solidFill>
                <a:latin typeface="Microsoft JhengHei"/>
              </a:rPr>
              <a:t>③ (X1Y2) 偽內部創業（必敗區：只換招牌不放權）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2377440"/>
            <a:ext cx="3300983" cy="12801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A202C"/>
                </a:solidFill>
                <a:latin typeface="Microsoft JhengHei"/>
              </a:rPr>
              <a:t>• 嘴上喊內部創業「人人當老闆」，但預算、人事、採購仍須層層報總部審批，且背負短期盈利 KPI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1A202C"/>
                </a:solidFill>
                <a:latin typeface="Microsoft JhengHei"/>
              </a:rPr>
              <a:t>• 結果：新業務還沒長大就被大公司的官僚流程掐死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59" y="1572768"/>
            <a:ext cx="3520439" cy="2157984"/>
          </a:xfrm>
          <a:prstGeom prst="rect">
            <a:avLst/>
          </a:prstGeom>
          <a:solidFill>
            <a:srgbClr val="F4F6F9"/>
          </a:solidFill>
          <a:ln w="22860"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59" y="1572768"/>
            <a:ext cx="3520439" cy="365760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1999" y="1600200"/>
            <a:ext cx="3337559" cy="310896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19" b="1">
                <a:solidFill>
                  <a:srgbClr val="FFFFFF"/>
                </a:solidFill>
                <a:latin typeface="Microsoft JhengHei"/>
              </a:rPr>
              <a:t>右上象限 (高Y / 高X)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7" y="1993392"/>
            <a:ext cx="3300983" cy="3657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1">
                <a:solidFill>
                  <a:srgbClr val="051C2C"/>
                </a:solidFill>
                <a:latin typeface="Microsoft JhengHei"/>
              </a:rPr>
              <a:t>③ (X2Y2) 創新特區模式 ★ 0到1突破焦點（如：張小龍孵化微信）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7" y="2377440"/>
            <a:ext cx="3300983" cy="12801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A202C"/>
                </a:solidFill>
                <a:latin typeface="Microsoft JhengHei"/>
              </a:rPr>
              <a:t>• 企業家精神極度稀缺，不可能全員皆能 0 到 1 創新！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1A202C"/>
                </a:solidFill>
                <a:latin typeface="Microsoft JhengHei"/>
              </a:rPr>
              <a:t>• 正確做法：挑選極少數頂尖將領，設立遠離總部干擾的【創新特區】（如微信生於廣州而非深圳總部），給予充分資金、獨立決策權與高容錯空間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" y="3858768"/>
            <a:ext cx="3520439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2104" y="3858768"/>
            <a:ext cx="3520439" cy="36576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" y="3886200"/>
            <a:ext cx="3337559" cy="310896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19" b="1">
                <a:solidFill>
                  <a:srgbClr val="FFFFFF"/>
                </a:solidFill>
                <a:latin typeface="Microsoft JhengHei"/>
              </a:rPr>
              <a:t>左下象限 (低Y / 低X)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4279392"/>
            <a:ext cx="3300983" cy="3657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1">
                <a:solidFill>
                  <a:srgbClr val="051C2C"/>
                </a:solidFill>
                <a:latin typeface="Microsoft JhengHei"/>
              </a:rPr>
              <a:t>③ (X1Y1) 盲目裂變分散主業（如：華為2000年內部創業教訓）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663440"/>
            <a:ext cx="3300983" cy="12801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A202C"/>
                </a:solidFill>
                <a:latin typeface="Microsoft JhengHei"/>
              </a:rPr>
              <a:t>• 在主業急需集中兵力攻堅時，鼓動大批骨幹離職搞內部創業代理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1A202C"/>
                </a:solidFill>
                <a:latin typeface="Microsoft JhengHei"/>
              </a:rPr>
              <a:t>• 結果：分散母公司資源、甚至出現內部公司與母公司搶利潤的關聯腐敗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59" y="3858768"/>
            <a:ext cx="3520439" cy="2157984"/>
          </a:xfrm>
          <a:prstGeom prst="rect">
            <a:avLst/>
          </a:prstGeom>
          <a:solidFill>
            <a:srgbClr val="F4F6F9"/>
          </a:solidFill>
          <a:ln w="22860"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80559" y="3858768"/>
            <a:ext cx="3520439" cy="365760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1999" y="3886200"/>
            <a:ext cx="3337559" cy="310896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19" b="1">
                <a:solidFill>
                  <a:srgbClr val="FFFFFF"/>
                </a:solidFill>
                <a:latin typeface="Microsoft JhengHei"/>
              </a:rPr>
              <a:t>右下象限 (低Y / 高X)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0287" y="4279392"/>
            <a:ext cx="3300983" cy="3657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1080" b="1">
                <a:solidFill>
                  <a:srgbClr val="051C2C"/>
                </a:solidFill>
                <a:latin typeface="Microsoft JhengHei"/>
              </a:rPr>
              <a:t>③ (X2Y1) 複製型裂變擴張 ★ 1到N擴張焦點（如：韓都衣舍、愛爾眼科）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0287" y="4663440"/>
            <a:ext cx="3300983" cy="128016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A202C"/>
                </a:solidFill>
                <a:latin typeface="Microsoft JhengHei"/>
              </a:rPr>
              <a:t>• 商業模式、供應鏈與IT底盤已100%跑通，只需快速複製新品牌、新門店或新單品</a:t>
            </a:r>
          </a:p>
          <a:p>
            <a:pPr algn="l">
              <a:lnSpc>
                <a:spcPct val="115000"/>
              </a:lnSpc>
            </a:pPr>
            <a:r>
              <a:rPr sz="900" b="0">
                <a:solidFill>
                  <a:srgbClr val="1A202C"/>
                </a:solidFill>
                <a:latin typeface="Microsoft JhengHei"/>
              </a:rPr>
              <a:t>• 正確做法：母公司提供中台賦能，一線小團隊以裂變合夥制快速複製擴張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79" y="1572768"/>
            <a:ext cx="3520440" cy="47731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3879" y="1572768"/>
            <a:ext cx="3520440" cy="29260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57031" y="1591056"/>
            <a:ext cx="3374136" cy="256032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Microsoft JhengHei"/>
              </a:rPr>
              <a:t>🖼️ 視覺情境輔助 ＆ 入門／進階雙軌導讀</a:t>
            </a:r>
          </a:p>
        </p:txBody>
      </p:sp>
      <p:pic>
        <p:nvPicPr>
          <p:cNvPr id="35" name="Picture 34" descr="topic_32.jpg_1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607" y="1938528"/>
            <a:ext cx="3300984" cy="205740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8293607" y="1938528"/>
            <a:ext cx="3300984" cy="2057400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93607" y="4032504"/>
            <a:ext cx="3300984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0183" y="4050792"/>
            <a:ext cx="3227832" cy="457200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1A202C"/>
                </a:solidFill>
                <a:latin typeface="Microsoft JhengHei"/>
              </a:rPr>
              <a:t>📌 圖說：▲ 商業情境視覺：在大企業母艦旁打造敏捷的「創新特區快艇」——0 到 1 的顛覆創新需要遠離官僚干擾的獨立特區（如微信），而 1 到 N 的規模擴張才適合標準化裂變。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93607" y="4599432"/>
            <a:ext cx="3300984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93607" y="4599432"/>
            <a:ext cx="64008" cy="841248"/>
          </a:xfrm>
          <a:prstGeom prst="rect">
            <a:avLst/>
          </a:prstGeom>
          <a:solidFill>
            <a:srgbClr val="007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03335" y="4626864"/>
            <a:ext cx="3154680" cy="21945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80" b="1">
                <a:solidFill>
                  <a:srgbClr val="0077C8"/>
                </a:solidFill>
                <a:latin typeface="Microsoft JhengHei"/>
              </a:rPr>
              <a:t>🌱 入門者核心秒懂（Plain-Language）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03335" y="4828032"/>
            <a:ext cx="3154680" cy="5852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19" b="0">
                <a:solidFill>
                  <a:srgbClr val="1A202C"/>
                </a:solidFill>
                <a:latin typeface="Microsoft JhengHei"/>
              </a:rPr>
              <a:t>大公司最怕患上「大企業病（反應慢、官僚、創新死掉）」，於是很多老闆迷上「內部裂變創業」——把大公司拆成幾百個小公司，讓員工自己當 CEO 內部創業！但為什麼有的…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93607" y="5495544"/>
            <a:ext cx="3300984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051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93607" y="5495544"/>
            <a:ext cx="64008" cy="84124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03335" y="5522976"/>
            <a:ext cx="3154680" cy="21945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8000"/>
              </a:lnSpc>
            </a:pPr>
            <a:r>
              <a:rPr sz="880" b="1">
                <a:solidFill>
                  <a:srgbClr val="051C2C"/>
                </a:solidFill>
                <a:latin typeface="Microsoft JhengHei"/>
              </a:rPr>
              <a:t>🏛️ 進階架構：【0到1 創新特區 vs. 1到N 複製裂變】內部創業雙模矩陣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03335" y="5724144"/>
            <a:ext cx="3154680" cy="585216"/>
          </a:xfrm>
          <a:prstGeom prst="rect">
            <a:avLst/>
          </a:prstGeom>
          <a:noFill/>
        </p:spPr>
        <p:txBody>
          <a:bodyPr wrap="square" anchor="t" lIns="54864" rIns="54864" tIns="36576" bIns="36576">
            <a:spAutoFit/>
          </a:bodyPr>
          <a:lstStyle/>
          <a:p>
            <a:pPr algn="l">
              <a:lnSpc>
                <a:spcPct val="112000"/>
              </a:lnSpc>
            </a:pPr>
            <a:r>
              <a:rPr sz="819" b="0">
                <a:solidFill>
                  <a:srgbClr val="1A202C"/>
                </a:solidFill>
                <a:latin typeface="Microsoft JhengHei"/>
              </a:rPr>
              <a:t>許多大企業搞內部創業失敗，是因為犯了兩個致命錯誤：① **假放權**（名為創業小微，實則人事財務審批全卡在總部職能部門手裡）；② **混淆探索與複製**…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