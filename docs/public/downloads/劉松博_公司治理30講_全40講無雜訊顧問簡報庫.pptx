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【頁碼與主題】ARCH｜全書四大模組與跨講次因果邏輯總覽 (⑤ 流程矩陣 (Architecture Map))</a:t>
            </a:r>
          </a:p>
          <a:p>
            <a:r>
              <a:t>【結論 Action Title】在進入各講細節前，請先掌握這張全書因果架構圖：40 講內容並非零散知識，而是一條嚴密的制度演化鏈。</a:t>
            </a:r>
          </a:p>
          <a:p>
            <a:r>
              <a:t>【顧問說明】四大模組環環相扣：因為現代公司採行「有限責任」與「兩權分離」（模組一），才衍生出大股東與小股東的「股權爭奪與設計」（模組二）；為了避免股東天天吵架並引進專業決策，必須透過「董事會與監事會」（模組三）進行集體治理；最終落實到「如何選拔、監督與激勵 CEO 及合夥人」（模組四）。</a:t>
            </a:r>
          </a:p>
          <a:p>
            <a:r>
              <a:t>【鋪墊與轉場】接下來我們將依序拆解每一講的無雜訊顧問簡報。</a:t>
            </a:r>
          </a:p>
          <a:p/>
          <a:p>
            <a:r>
              <a:t>🌱【入門者導讀】把公司治理想成「開飛機的規則」：第一模組認識飛機構造（公司與有限責任），第二模組決定誰握有方向盤所有權（股權），第三模組設計駕駛艙儀表板與副駕駛監督（董事會與監事會），第四模組則是如何獎勵機長安全飛抵目的地（CEO聘任與激勵）。</a:t>
            </a:r>
          </a:p>
          <a:p>
            <a:r>
              <a:t>📖【商業故事案例】</a:t>
            </a:r>
          </a:p>
          <a:p>
            <a:r>
              <a:t>🏛️【進階思考模型：公司治理四階因果漏斗 (4-Stage Governance Funnel)】制度起源（有限責任＋兩權分離）➔ 產權配置（股權結構＋控制權槓桿）➔ 機構制衡（董事會獨立性＋表決程序＋監事會）➔ 代理對齊（外部市場接管＋長期股權激勵＋家族憲章）。</a:t>
            </a:r>
          </a:p>
          <a:p>
            <a:r>
              <a:t>🔗【跨講因果鏈】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【頁碼與主題】00｜00｜發刊詞：搞懂公司裡那些最要命的事 (版型 3：結合論法 (Combined Tree))</a:t>
            </a:r>
          </a:p>
          <a:p>
            <a:r>
              <a:t>【結論 Action Title】公司治理不是日常營運管理，而是決定「誰有權拍板、誰承擔損益」的頂層樹根工程。</a:t>
            </a:r>
          </a:p>
          <a:p>
            <a:r>
              <a:t>【顧問說明】透過聯想與華為的對比可見，企業家的戰略選擇深受其股權結構與治理身分約束。</a:t>
            </a:r>
          </a:p>
          <a:p>
            <a:r>
              <a:t>【鋪墊與轉場】理解了治理的重要性後，下一講我們先回到原點：為什麼有了企業，人類還要發明『公司』？</a:t>
            </a:r>
          </a:p>
          <a:p/>
          <a:p>
            <a:r>
              <a:t>🌱【入門者導讀】許多人把「公司治理」和「企業管理」混為一談。簡單來說：總經理帶著員工做行銷、研發、生產、管考勤，這叫「管理（樹幹）」；但在總經理頭上，決定「誰能當老闆、董事會怎麼開、賺了錢股東和高管怎麼分」的頂層遊戲規則，才叫「公司治理（樹根）」。樹根爛了，今天花果再茂盛也會瞬間倒塌。</a:t>
            </a:r>
          </a:p>
          <a:p>
            <a:r>
              <a:t>📖【商業故事案例】【華為 vs. 聯想的路線之爭】外界常批評聯想當年沒像華為一樣砸重金研發晶片（貿工技 vs. 技工貿）。但劉松博教授指出：不能脫離「治理身分」談策略！柳傳志當年是國企體制下的「職業經理人」，沒有自掏腰包豪賭十年的權力，必須對國有股東與上市財報負責；而任正非是民營企業創辦人兼核心股東，不上市、自己承擔虧損風險，因此能做出長周期的研發決策。</a:t>
            </a:r>
          </a:p>
          <a:p>
            <a:r>
              <a:t>🏛️【進階思考模型：【樹根—樹幹—花果】頂層決策歸因模型】進階決策者在診斷企業問題時，不應只停留在策略或執行層面（花果與樹幹），而應先向上追溯「決策者的產權身分與治理約束（樹根）」。全課程由「兩類人（股東、經理人）× 兩件事（權力、利益）」展開四大模組：認知模型（00-03）➔ 股東治理（04-15）➔ 經理治理（16-28）➔ 治理下沉與外擴（29-34）。</a:t>
            </a:r>
          </a:p>
          <a:p>
            <a:r>
              <a:t>🔗【跨講因果鏈】{'prev': '全課起點：打破「只看業績與管理技巧」的認知盲區', 'current': '確立「股東 vs. 經理人」與「權力 vs. 利益」二維座標系', 'next': '接續第 01 講：探究這套規則的載體——為什麼人類有了企業，還要發明「公司」？'}</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【頁碼與主題】01｜01｜公司：有企業，為什麼還有公司？ (版型 6：對立論法 (Opposition))</a:t>
            </a:r>
          </a:p>
          <a:p>
            <a:r>
              <a:t>【結論 Action Title】企業不等於公司；「有限責任」與「獨立法人人格」是現代公司得以聚集巨資並永續經營的基石。</a:t>
            </a:r>
          </a:p>
          <a:p>
            <a:r>
              <a:t>【顧問說明】享有有限責任保護的代價，就是股東必須嚴守法人財產邊界，絕不能把公司當成私人提款機。</a:t>
            </a:r>
          </a:p>
          <a:p>
            <a:r>
              <a:t>【鋪墊與轉場】然而，公司制度在帶來巨大優勢的同時，也埋下了兩個致命的先天缺陷，這正是下一講『治理』要對抗的對象。</a:t>
            </a:r>
          </a:p>
          <a:p/>
          <a:p>
            <a:r>
              <a:t>🌱【入門者導讀】不是所有「企業」都叫「公司」！企業分為三種：① 個人獨資（如明星工作室）、② 合夥企業（如事務所）、③ 公司。前兩種叫「古典企業」，老闆要負「無限責任」——生意賠光了還要拿自己的房子車子去抵債；而「公司」是法律創造出來的獨立「法人」，股東只負「有限責任」——投 100 萬最多賠光這 100 萬，不會連累身家。</a:t>
            </a:r>
          </a:p>
          <a:p>
            <a:r>
              <a:t>📖【商業故事案例】【西門慶 vs. 創維黃宏生 / 胡雪岩破產】《金瓶梅》裡的西門慶把當鋪收來的大理石屏風直接搬回家，完全不犯法，因為當鋪是他的個人獨資企業；但創維公司老闆黃宏生把上市公司的 5000 萬港元轉入私人帳戶，卻被香港法院判刑 6 年，因為「公司財產屬於法人，不屬於大股東個人」。反過來看，晚清首富胡雪岩的阜康銀號擠兌倒閉，清廷抄沒他所有家產抵債（無限責任），而現代公司制度正是為了讓人們敢於冒險投資而生。</a:t>
            </a:r>
          </a:p>
          <a:p>
            <a:r>
              <a:t>🏛️【進階思考模型：【風險隔離 × 資本聚集 × 股權流動】現代公司三支柱模型】科斯（Coase）的交易成本理論與阿爾欽的團隊生產理論只解釋了「為什麼有企業（Firm）」，卻沒解釋「為什麼有公司（Corporation）」。現代公司的三大制度紅利互為因果：有限責任隔離個人風險 ➔ 陌生人敢跨血緣集資 ＋ 股份得以自由定價轉讓 ➔ 企業脫離自然人壽命限制，實現資本規模化與永續經營。</a:t>
            </a:r>
          </a:p>
          <a:p>
            <a:r>
              <a:t>🔗【跨講因果鏈】{'prev': '承接第 00 講：要談公司治理，先界定「公司」與其他企業型態的法律與經濟邊界', 'current': '揭示「有限責任＋獨立法人」如何創造龐大集資力與永續性，同時要求公私財產嚴格分離', 'next': '觸發第 02 講：正因股東眾多且只負有限責任，衍生出「兩權分離代理問題」與「大股東濫權」兩大先天缺陷！'}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【頁碼與主題】02｜02｜治理：公司如何對抗自身的缺陷？ (版型 3：結合論法 (Combined Tree))</a:t>
            </a:r>
          </a:p>
          <a:p>
            <a:r>
              <a:t>【結論 Action Title】公司治理的核心任務，就是對抗『經理人背離股東』與『大股東侵害小股東』兩大制度缺陷。</a:t>
            </a:r>
          </a:p>
          <a:p>
            <a:r>
              <a:t>【顧問說明】治理不能只靠貼身盯人，必須在監督制衡與保留經營活力之間找到制度平衡點。</a:t>
            </a:r>
          </a:p>
          <a:p>
            <a:r>
              <a:t>【鋪墊與轉場】既然股東與經理人之間充滿利益衝突與資訊不對稱，公司到底靠什麼維繫合作？下一講我們談『信任』。</a:t>
            </a:r>
          </a:p>
          <a:p/>
          <a:p>
            <a:r>
              <a:t>🌱【入門者導讀】公司制度雖然好，但天生有兩個大毛病：第一，股東人太多，只好花錢請專業的「職業經理人」來管（這叫所有權與經營權分離），但經理人花的是別人的錢，可能會偷懶、亂花錢甚至造假帳騙股東；第二，大股東說話算數，如果大股東把公司的錢偷偷搬去自己另一家公司，小股東根本攔不住。公司治理就是專門治這兩個毛病的頂層制度！</a:t>
            </a:r>
          </a:p>
          <a:p>
            <a:r>
              <a:t>📖【商業故事案例】【貼身監督的荒謬 vs. 安然破產】有位民企女董事長為了防範高薪聘請的總經理亂搞，乾脆把辦公桌搬到總經理辦公室對面「貼身監督」，結果不到半年總經理就受不了離職了——這說明光靠「人盯人」是不懂治理。反過來，美國能源巨頭安然（Enron）曾連續六年被評為美國最具創新精神公司，卻因高管團隊合謀財務造假、掏空公司，在 2001 年短短數週內破產，讓股東血本無歸。</a:t>
            </a:r>
          </a:p>
          <a:p>
            <a:r>
              <a:t>🏛️【進階思考模型：【雙重代理風險 × 監督激勵平衡】治理二元張力模型】企業史學家錢德勒（Alfred Chandler）稱職業經理人階層的崛起為「經理革命」。進階治理者必須同時解開兩道方程式：① 對經理人：如何在降低代理成本（監督）的同時，保留其經營自主權與積極性（激勵）？② 對大股東：如何約束控制權濫用，同時保護創始人的企業家冒險動力？這正是本課程第二模組（股東治理）與第三模組（經理治理）的底層來源。</a:t>
            </a:r>
          </a:p>
          <a:p>
            <a:r>
              <a:t>🔗【跨講因果鏈】{'prev': '承接第 01 講：有限責任與股份聚集促成「兩權分離」與「大股東控制」', 'current': '診斷出公司制度的兩大原生缺陷（經理人背離＋大股東濫權），定義公司治理的雙主線', 'next': '觸發第 03 講：要彌補這兩大缺陷、維繫陌生人合作，底層靠的究竟是什麼？（信任機制）'}</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【頁碼與主題】03｜03｜信任：公司到底是靠什麼維繫的？ (版型 4：連鎖論法 (Chain / Flow))</a:t>
            </a:r>
          </a:p>
          <a:p>
            <a:r>
              <a:t>【結論 Action Title】企業規模越大、陌生協作者越多，就越必須從『人際信任』轉向『制度信任』。</a:t>
            </a:r>
          </a:p>
          <a:p>
            <a:r>
              <a:t>【顧問說明】有限責任公司偏重人合（人際＋制度），股份有限公司偏重資合（高度制度信任），切忌在錯誤階段用錯治理方式。</a:t>
            </a:r>
          </a:p>
          <a:p>
            <a:r>
              <a:t>【鋪墊與轉場】走完第一模組的底層認知後，下一講我們正式進入第二模組『股東治理』，首先拆解：股權到底是什麼權？</a:t>
            </a:r>
          </a:p>
          <a:p/>
          <a:p>
            <a:r>
              <a:t>🌱【入門者導讀】為什麼幾萬個素昧平生的股民，敢把錢投給同一家上市公司？因為信任分為兩種：一種叫「人際信任」（因為你是我親戚、老同學，所以我信你）；另一種叫「制度信任」（我不認識你，但我相信公司法、相信會計師審計和公開透明的規則）。公司從小變大的過程，就是從「靠交情（人際信任）」升級到「靠規則（制度信任）」的過程。</a:t>
            </a:r>
          </a:p>
          <a:p>
            <a:r>
              <a:t>📖【商業故事案例】【德雲社的師徒制危機】2010 年郭德綱的德雲社爆發曹雲金、何雲偉等主力演員退社危機。問題出在哪？德雲社早期是傳統相聲班社，靠「一日為師、終身為父」的江湖規矩（人際信任）維繫；但當德雲社變成現代演藝公司、營收上億時，演員要求的是清晰的勞動契約與分紅比例（制度信任）。2010 年後德雲社改簽正式演藝合約與薪酬制度，才真正稳住陣腳。</a:t>
            </a:r>
          </a:p>
          <a:p>
            <a:r>
              <a:t>🏛️【進階思考模型：【人合 ➔ 資合】信任機制動態轉換光譜】許多企業死於「治理錯配」：① 規模已經很大、引進了外部投資人與職業團隊，老闆卻還想用「家文化、講義氣」代替股權與契約（制度信任不足）；② 剛創業只有 5 個人的小公司，卻花幾百萬請顧問搞出上市公司的繁文縟節（扼殺人際信任的高效）。進階 CEO 必須根據發展階段動態調配「人際信任」與「制度信任」的比例，並確保制度具備「公平、確定、普遍、可執行」四大屬性。</a:t>
            </a:r>
          </a:p>
          <a:p>
            <a:r>
              <a:t>🔗【跨講因果鏈】{'prev': '承接第 02 講：為了解決代理問題與利益衝突，必須找到維繫組織合作的底層力量——信任', 'current': '完成第一模組認知建構：公司治理即是以「制度信任」彌補「人際信任」隨規模擴張而衰減的工程', 'next': '進入第二模組（第 04 講）：正式拆解股東治理的核心武器——股權本質上到底是什麼權？'}</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【頁碼與主題】04｜04｜股東與股權：股權本質上到底是什麼權？ (版型 3：結合論法 (Combined Tree))</a:t>
            </a:r>
          </a:p>
          <a:p>
            <a:r>
              <a:t>【結論 Action Title】股權的核心是『剩餘索取權』與『剩餘控制權』，兩者必須對等匹配，公司才會穩定。</a:t>
            </a:r>
          </a:p>
          <a:p>
            <a:r>
              <a:t>【顧問說明】海底撈張勇將持股拉升至 68%，本質上是修正早期平均持股與實際經營貢獻不對等的結構缺陷。</a:t>
            </a:r>
          </a:p>
          <a:p>
            <a:r>
              <a:t>【鋪墊與轉場】明白了股權的本質後，創業第一天到底該不該找朋友合夥分股權？下一講我們看創業合夥人的 AIV 模型。</a:t>
            </a:r>
          </a:p>
          <a:p/>
          <a:p>
            <a:r>
              <a:t>🌱【入門者導讀】為什麼員工領死薪水、銀行領固定利息，只有「股東」能管理公司並拿走大筆利潤？諾貝爾經濟學獎得主哈特（Oliver Hart）用「不完全契約」解釋：公司未來會遇到什麼事，不可能在合約裡全部寫死。員工和銀行旱澇保收（拿固定契約收入），而股東是「最後分錢的人」——全公司都付完錢後，剩下的才歸股東（這叫「剩餘索取權」），賠錢也是股東先賠。既然股東承擔了最後的風險，那麼合約沒寫到的重大大事，自然該由股東拍板決定（這叫「剩餘控制權」）。</a:t>
            </a:r>
          </a:p>
          <a:p>
            <a:r>
              <a:t>📖【商業故事案例】【海底撈張勇的「奪權」傳奇】海底撈創業時，張勇與施永宏夫婦兩家各出資 50%。但後來海底撈完全由張勇一人帶領經營，施永宏幾乎不管事。2007 年公司做大後，張勇直接要求施永宏夫婦以原價轉讓 18% 股權給自己，讓張勇持股變成 68%（超過三分之二絕對控制線）。施永宏雖然心痛但同意了，結果海底撈上市後那剩下的 32% 股權價值數百億！這正是因為張勇讓「實際承擔經營決策的人（剩餘控制權）」與「股權收益（剩餘索取權）」重新恢復對等。</a:t>
            </a:r>
          </a:p>
          <a:p>
            <a:r>
              <a:t>🏛️【進階思考模型：【剩餘控制權 ↔ 剩餘索取權】對等匹配第一性原理】這是貫穿《公司治理 30 講》全書最重要的第一性原理！只要一家公司的「剩餘控制權（誰掌握決策大權）」與「剩餘索取權（誰享受利潤、承擔虧損）」發生嚴重背離——例如：出力拍板的人沒股份、有大把股份的人不出力、或者職業經理人包贏不包輸——這家公司必定爆發治理危機。後續的股權設計、AB 股、事業合夥人，全都是為了修復這兩者的對等性。</a:t>
            </a:r>
          </a:p>
          <a:p>
            <a:r>
              <a:t>🔗【跨講因果鏈】{'prev': '承接第 03 講：進入第二模組股東治理，將「制度信任」具象化為股東手中最核心的契約工具——股權', 'current': '確立「剩餘索取權 ↔ 剩餘控制權」對等原則，以及 67% / 51% / 34% 等關鍵控制門檻', 'next': '觸發第 05 講：既然股權這麼重要，創業時到底該找誰一起分股權？（創業合夥人選擇）'}</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【頁碼與主題】05｜05｜創業合夥人：該不該和朋友合夥開公司？ (版型 2：並列論法 (Parallel))</a:t>
            </a:r>
          </a:p>
          <a:p>
            <a:r>
              <a:t>【結論 Action Title】朋友合夥不是禁忌，缺乏『AIV 三維評估』與『事前規則』才是合夥破裂的元凶。</a:t>
            </a:r>
          </a:p>
          <a:p>
            <a:r>
              <a:t>【顧問說明】攜程四君子的成功證明，情感基礎加上高度互補的能力結構，能爆發極強的創業戰鬥力。</a:t>
            </a:r>
          </a:p>
          <a:p>
            <a:r>
              <a:t>【鋪墊與轉場】找齊了合夥人之後，最敏感的問題來了：股權比例該怎麼分？下一講我們拆解股權架構的三大雷區。</a:t>
            </a:r>
          </a:p>
          <a:p/>
          <a:p>
            <a:r>
              <a:t>🌱【入門者導讀】電影《中國合夥人》說「千萬別跟最好的朋友合夥開公司」，但現實中騰訊、新東方、攜程全都是朋友合夥創辦的！劉松博教授指出：跟朋友合夥完全沒問題（因為有信任基礎），但不能「只看交情」。選合夥人要用「AIV 模型」打分：A（Affection 感情信賴）、I（Identification 理念認同，敢不敢掏錢全職幹）、V（Value 能力資源互補）。更重要的是：在感情最好的第一天，就要把分錢和退出的規則寫清楚！</a:t>
            </a:r>
          </a:p>
          <a:p>
            <a:r>
              <a:t>📖【商業故事案例】【攜程四君子的黃金互補】1999 年攜程創立時，「攜程四君子」堪稱中國商業史上最完美的合夥組合：梁建章懂技術與全局戰略、沈南鵬是華爾街投行高手負責融資與財務、季琦擅長一線業務攻堅、范敏則是旅遊業老將負責日常精細化營運。四人能力完全互補，沒有兩個人搶同一個山頭，讓攜程短短四年就在納斯達克上市。</a:t>
            </a:r>
          </a:p>
          <a:p>
            <a:r>
              <a:t>🏛️【進階思考模型：【AIV 動態演化 × 契約前置】合夥治理模型】進階創業者必須認識到 A、I、V 三個變數都是「時間的函數」：創業第 1 年滿分的合夥人，到了第 5 年可能因財富自由而喪失奮鬥欲（I 下降）、或能力跟不上百億規模（V 下降）、甚至因分紅不均而反目（A 破裂）。因此，AIV 遴選必須搭配下一講的「動態股權架構與退出機制」，實現從人際信任向制度信任的平滑過渡。</a:t>
            </a:r>
          </a:p>
          <a:p>
            <a:r>
              <a:t>🔗【跨講因果鏈】{'prev': '承接第 04 講：知道股權是剩餘索取權與控制權後，先決定「誰有資格進入股東會成為合夥人」', 'current': '提出 AIV 三維合夥人遴選標準，強調能力互補與全職投入承諾', 'next': '觸發第 06 講：選對了合夥人，股權比例到底該怎麼分才不會踩進奪命雷區？'}</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【頁碼與主題】06｜06｜股權的架構：公司怎麼樣避免踏進雷區？ (版型 5：麥肯錫論法 (McKinsey Matrix))</a:t>
            </a:r>
          </a:p>
          <a:p>
            <a:r>
              <a:t>【結論 Action Title】股權均分是創業第一大雷區；健康的股權必須有明確主導者，並配備分批成熟與退出回購機制。</a:t>
            </a:r>
          </a:p>
          <a:p>
            <a:r>
              <a:t>【顧問說明】愛多 VCD 的慘劇證明，不匹配實際經營貢獻的平均持股，必然導致內耗甚至掏空。</a:t>
            </a:r>
          </a:p>
          <a:p>
            <a:r>
              <a:t>【鋪墊與轉場】初始股權設計好之後，公司要長大就得對外融資，股權被稀釋後創始人如何保住控制權？請看下一講。</a:t>
            </a:r>
          </a:p>
          <a:p/>
          <a:p>
            <a:r>
              <a:t>🌱【入門者導讀】創業分股權最常見的死法就是「哥倆好，一人一半（50:50）」或「三兄弟各三分之一」！看起來最公平，其實最要命：第一，意見不合時誰也說服不了誰，公司直接卡死；第二，兩個人不可能永遠出力一樣多，幹得累死的人看到躺平的人分一樣多錢，一定會翻臉。正確做法是：必須有一個明確的老大（大股東），區分「只出錢的股東」和「全職幹活的股東」，並且分 4 年逐步兌現股權（Vesting）。</a:t>
            </a:r>
          </a:p>
          <a:p>
            <a:r>
              <a:t>📖【商業故事案例】【愛多 VCD 的 45%:45% 奪命股權】1990 年代央視標王「愛多 VCD」創辦人胡志標與好友陳天南創業時各拿 45% 股權（村委會 10%）。公司暴紅後，全靠胡志標一人衝鋒陷陣，陳天南幾乎不管事卻拿走同樣分紅。胡志標心理極度失衡，竟自己另開空殼公司轉移愛多利潤；陳天南發現後在報紙登聲明開戰，最終愛多崩盤、胡志標入獄。這就是平均分配股權引發的典型慘劇。</a:t>
            </a:r>
          </a:p>
          <a:p>
            <a:r>
              <a:t>🏛️【進階思考模型：【一超多強 × 動態成熟 (Vesting) × 閉環回購】股權防雷矩陣】根據第 04 講的「對等原則」，人力資本在知識經濟時代往往比初始貨幣資本更能創造企業剩餘價值。因此股權架構必須是「動態契約」而非「靜態快照」：透過頂層差額架構（如 60:30:10 或 70:20:10）、分期成熟條款（Time/Milestone Vesting）與離職強制回購定價公式，確保股權永遠留在持續創造價值的人手中。</a:t>
            </a:r>
          </a:p>
          <a:p>
            <a:r>
              <a:t>🔗【跨講因果鏈】{'prev': '承接第 05 講：按 AIV 模型選好合夥人後，必須將合夥關係轉化為可執行的股權結構', 'current': '排除三大股權雷區，建立「帶頭大哥主導＋分批成熟＋退出回購」的初始股權架構', 'next': '觸發第 07 講：就算初始股權分對了，隨著一輪輪外部融資稀釋，創始人如何防止被資本踢出局？'}</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【頁碼與主題】07｜07｜保住控制權：創始人如何防止被踢出局？ (版型 2：並列論法 (Parallel))</a:t>
            </a:r>
          </a:p>
          <a:p>
            <a:r>
              <a:t>【結論 Action Title】持股比例小不等於失去控制權；善用資源、GP/LP 架構與章程協議，創始人能以小博大。</a:t>
            </a:r>
          </a:p>
          <a:p>
            <a:r>
              <a:t>【顧問說明】尤其『公司章程』與『有限合夥平台』是成本最低、法律效力最強的控制權槓桿工具。</a:t>
            </a:r>
          </a:p>
          <a:p>
            <a:r>
              <a:t>【鋪墊與轉場】如果公司要公開上市，還能做到股份少卻說了算嗎？下一講我們看科技巨頭最愛的『同股不同權』。</a:t>
            </a:r>
          </a:p>
          <a:p/>
          <a:p>
            <a:r>
              <a:t>🌱【入門者導讀】許多創辦人辛辛苦苦把公司養大，經過 A 輪、B 輪、C 輪融資後，自己的股份被稀釋到只剩 15%，結果被投資人聯合起來踢出自己創辦的公司（像早期的賈伯斯、新浪王志東、一號店于剛）。怎麼防範？劉松博教授給出四大武器：① 管住融資節奏保股權；② 握住公司離不開的核心資源（如通路、專利）；③ 用「有限合夥企業（創辦人當 GP）」把投票權集中起來；④ 簽「一致行動人協議」並改寫公司章程！</a:t>
            </a:r>
          </a:p>
          <a:p>
            <a:r>
              <a:t>📖【商業故事案例】【有限合夥 GP/LP 的槓桿威力】假設你要給員工或外部投資人股份，又怕他們亂投票怎麼辦？你可以成立一家「有限合夥企業」作為持股平台：你當「普通合夥人（GP）」，哪怕只出 1% 的錢，法律規定由 GP 獨立執行合夥事務（擁有 100% 投票權，但負無限責任）；其他人當「有限合夥人（LP）」，出 99% 的錢、分 99% 的利潤，但沒有投票權！馬雲當年控制螞蟻金服，正是活用了這套有限合夥架構。</a:t>
            </a:r>
          </a:p>
          <a:p>
            <a:r>
              <a:t>🏛️【進階思考模型：【股權・資源・架構・協議】四維控制權防禦矩陣】進階治理者將「經濟收益權（Cash-flow Rights）」與「投票控制權（Voting Rights）」解耦看待。當融資必然稀釋經濟收益權時，可透過「架構槓桿（GP/LP、金字塔控股）」與「契約槓桿（一致行動人、投票權委託、章程董事提名條款）」維持投票控制權 &gt;50% 或 &gt;67%。但必須謹記：控制權設計也是與資本博弈的籌碼，過度剝奪投資人話語權會提高融資難度與折價。</a:t>
            </a:r>
          </a:p>
          <a:p>
            <a:r>
              <a:t>🔗【跨講因果鏈】{'prev': '承接第 06 講：初始股權架構設好後，面對外部融資稀釋的動態挑戰', 'current': '建構非上市階段四大控制權防禦工具（股權、資源、GP/LP 架構、章程協議）', 'next': '觸發第 08 講：當公司準備上市、多數交易所不允許隨意修改章程時，如何用「同股不同權（AB 股）」繼續保住控制權？'}</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【頁碼與主題】08｜08｜同股不同權：為什麼股份少也能說了算？ (版型 1：一對一論法 (One-to-One))</a:t>
            </a:r>
          </a:p>
          <a:p>
            <a:r>
              <a:t>【結論 Action Title】同股不同權讓創始人以少數股份掌握絕對控制權，是效率優先於形式公平的制度創新。</a:t>
            </a:r>
          </a:p>
          <a:p>
            <a:r>
              <a:t>【顧問說明】但超級投票權是一把雙面刃，它既能保護像祖克柏、雷軍這樣的長期主義者，也可能讓失職的創辦人無法被撤換。</a:t>
            </a:r>
          </a:p>
          <a:p>
            <a:r>
              <a:t>【鋪墊與轉場】這就引出了整個第二模組最關鍵的轉折點：創辦人權力太大，會不會反而害死公司？下一講我們談『企業家悖論』。</a:t>
            </a:r>
          </a:p>
          <a:p/>
          <a:p>
            <a:r>
              <a:t>🌱【入門者導讀】傳統股票講究「同股同權」——買 1 股就有 1 票。但科技公司（如 Google、Facebook、小米、京東）融資太多輪，創辦人股份只剩 10%～30%，怎麼辦？於是誕生了「同股不同權（AB 股）」：普通投資人買的 A 類股「1 股只有 1 票」，而創辦人手裡的 B 類股「1 股有 10 票」（甚至 Snap 發行的股票是 0 票）！這樣雷軍雖然只佔小米 31.4% 的股份，卻擁有 55.7% 的投票權，誰也踢不走他。</a:t>
            </a:r>
          </a:p>
          <a:p>
            <a:r>
              <a:t>📖【商業故事案例】【阿里巴巴擦肩香港 vs. 小米成為港股同股不同權第一股】2013 年阿里巴巴想在香港上市，但當時港交所死守「同股同權」傳統，拒絕阿里的合夥人制度，導致阿里轉赴美國紐交所上市。痛失阿里的港交所經過四年激辯，終於在 2018 年修改規則允許「同股不同權」，小米立刻成為港交所第一家採用 AB 股上市的企業，雷軍憑 B 類股 1 股 10 票牢牢掌舵。</a:t>
            </a:r>
          </a:p>
          <a:p>
            <a:r>
              <a:t>🏛️【進階思考模型：【效率 vs. 公平】人力資本與貨幣資本博弈模型】從第 04 講「對等原則」來看，同股不同權表面上打破了「出資比例＝控制比例」的對等，實則是將「創始人的無形人力資本」計入控制權權重。其優點是隔離華爾街短期季報壓力、支持長周期創新並防禦敵意收購；缺點則是放大了「內部人控制」與「關鍵人獨裁風險」。因此，成熟資本市場必定強制要求 AB 股搭配嚴格的「日落條款（Sunset Provisions）」與特別事項同股同權限制。</a:t>
            </a:r>
          </a:p>
          <a:p>
            <a:r>
              <a:t>🔗【跨講因果鏈】{'prev': '承接第 07 講：將創始人控制權保護從「非上市架構」推進至「公開資本市場（AB 股）」', 'current': '揭示同股不同權如何賦予創始人超級控制力，同時暴露少數股東無法制衡的隱憂', 'next': '觸發第 09 講（模組二重大轉折點）：如果把創始人保護得滴水不漏、誰也管不了他，創始人會不會反而把公司害死？（企業家悖論）'}</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【頁碼與主題】09｜09｜企業家悖論：企業家會「害死」公司嗎？ (版型 5：麥肯錫論法 (McKinsey Matrix))</a:t>
            </a:r>
          </a:p>
          <a:p>
            <a:r>
              <a:t>【結論 Action Title】保護創始人與制衡創始人是一體兩面；缺乏制衡的絕對權力，最終會透過認知僵化反噬企業。</a:t>
            </a:r>
          </a:p>
          <a:p>
            <a:r>
              <a:t>【顧問說明】CEO 五季節模型揭示：隨著任期拉長，領導者的權力與固執同步上升，而有效資訊輸入卻急劇萎縮。</a:t>
            </a:r>
          </a:p>
          <a:p>
            <a:r>
              <a:t>【鋪墊與轉場】那麼，我們該如何制約強勢的企業家與大股東？下一講我們看第一種制約力量：『透明化溢價』。</a:t>
            </a:r>
          </a:p>
          <a:p/>
          <a:p>
            <a:r>
              <a:t>🌱【入門者導讀】前四講我們都在教創辦人怎麼「保住大權」，但這一講劉松博教授來了一個 180 度大轉彎：如果創辦人權力大到沒人管得了，公司往往會死在創辦人自己手裡！這叫「企業家悖論（成也蕭何，敗也蕭何）」。管理學著名的「CEO 五季節模型」發現：老闆幹久了，身邊只剩拍馬屁的人（資訊被過濾），過去成功的經驗變成固執的偏見（認知僵化），權力卻大到失控。所以真正愛公司的老闆，必須主動給自己裝上「煞車系統」！</a:t>
            </a:r>
          </a:p>
          <a:p>
            <a:r>
              <a:t>📖【商業故事案例】【樂視賈躍亭的「蒙眼狂奔」與亨利・福特的晚年固執】賈躍亭曾帶領樂視創造市值千億神話，但因為大權獨攬、毫無制衡，在資金鏈已極度緊繃時仍執意造車、收購，把所有反對聲音當成保守，最終資金斷裂崩盤。同樣地，汽車大王亨利・福特年輕時憑 T 型車改變世界，晚年卻極度固執、拒絕改款、甚至拿槍威脅改造車型的兒子，差點讓福特汽車破產。</a:t>
            </a:r>
          </a:p>
          <a:p>
            <a:r>
              <a:t>🏛️【進階思考模型：【保護 ↔ 制衡】雙向擺盪模型 ＆ CEO 五季節診斷表】本講是整個股東治理模組的分水嶺。05–08 講解決「創始人太弱被資本欺負」，09–15 講解決「創始人太強把公司帶溝裡」。進階 CEO 必須定期對自己做「五季節自我診斷」：當你發現高管會議上再也沒人反駁你、所有資訊都經過秘書或親信過濾時，代表你已進入危險的第四、五季節。唯有完成從「能人治理」向「制度治理」的驚險一躍，企業才能跨越創辦人生命周期。</a:t>
            </a:r>
          </a:p>
          <a:p>
            <a:r>
              <a:t>🔗【跨講因果鏈】{'prev': '承接第 07–08 講：當創始人透過架構與 AB 股取得絕對控制權後，必然引發權力失控的副作用', 'current': '提出「企業家悖論」與「CEO 五季節模型」，完成從「保護控制權」向「制衡控制權」的邏輯轉折', 'next': '觸發第 10–15 講：既然要制約掌權者，有哪些具體工具？首先從最溫和卻最有力量的第 10 講「透明化」開始！'}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【頁碼與主題】10｜10｜透明化溢價：公司上市只是為了融資嗎？ (版型 3：結合論法 (Combined Tree))</a:t>
            </a:r>
          </a:p>
          <a:p>
            <a:r>
              <a:t>【結論 Action Title】透明化不僅是為了合規，更是贏得外部信任、制約內部濫權的『透明化溢價』來源。</a:t>
            </a:r>
          </a:p>
          <a:p>
            <a:r>
              <a:t>【顧問說明】華為雖不上市卻堅持公開經四大審計的年報，證明『不上市』絕不等於『不透明』。</a:t>
            </a:r>
          </a:p>
          <a:p>
            <a:r>
              <a:t>【鋪墊與轉場】既然上市能帶來資金與透明化溢價，為什麼許多知名企業家卻發誓不上市，最後又真香打臉？下一講我們拆解『上市的糾結』。</a:t>
            </a:r>
          </a:p>
          <a:p/>
          <a:p>
            <a:r>
              <a:t>🌱【入門者導讀】很多老闆覺得「公司財報是最高機密，絕不能讓外人甚至員工看到」，也認為「公司不缺錢就不用上市」。劉松博教授提出一個顛覆觀點：**透明本身就能賺錢（這叫「透明化溢價」）**！為什麼？第一，你敢把經過頂尖會計師審計的真實帳本亮出來，銀行敢借你錢、大客戶敢給你長期訂單、優秀人才敢要你的股票；第二，帳本一旦公開，老闆和高管就不敢亂報銷、亂搞關聯交易。就算不上市（像華為），也應該主動做個「透明公司」！</a:t>
            </a:r>
          </a:p>
          <a:p>
            <a:r>
              <a:t>📖【商業故事案例】【華為為什麼不上市卻年年發布公開年報？】華為沒有上市，按法律完全不需要向社會公開任何財務數據。但為了打入歐洲電信市場、消除外國客戶對華為「神祕背景」的恐懼，任正非從 2000 年起花重金聘請四大會計師事務所（KPMG）進行嚴格審計，自 2006 年起每年在官網公開厚達百頁的年報，連董事會名單、持股員工代表名單都一清二楚。這份主動透明，為華為贏得了全球客戶的百億級訂單。</a:t>
            </a:r>
          </a:p>
          <a:p>
            <a:r>
              <a:t>🏛️【進階思考模型：【主動揭露 ➔ 信任溢價 × 權力制衡】透明化雙螺旋模型】資訊不對稱是所有代理問題的溫床（第 02 講）。進階 CEO 應將「資訊披露」從被動的合規負擔，轉化為主動的戰略武器：① 對內向核心合夥人與持股骨幹透明經營數據，可消除猜忌並提升股權激勵含金量；② 對外向供應商、銀行與客戶透明治理結構，可建立超越同業的制度信任護城河；③ 藉助外部投資人或準上市輔導，倒逼家族或創始團隊戒除財務不規範習慣。</a:t>
            </a:r>
          </a:p>
          <a:p>
            <a:r>
              <a:t>🔗【跨講因果鏈】{'prev': '承接第 09 講：面對「企業家悖論」，需要尋找制約大股東與核心領導人的制度工具', 'current': '提出第一道溫和而強大的制約工具——「透明化」，揭示上市在融資之外的治理升級價值', 'next': '觸發第 11 講：既然透明與上市有這麼多好處，為什麼老乾媽、華為、西貝等無數企業家在「上不上市」問題上反覆糾結甚至被打臉？'}</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【頁碼與主題】11｜11｜上市的糾結：為什麼企業家經常被打臉？ (版型 8：BCG 論法 (BCG 2×2 Matrix))</a:t>
            </a:r>
          </a:p>
          <a:p>
            <a:r>
              <a:t>【結論 Action Title】上市是企業特定階段的戰略工具，隨環境與風險變化調整上市決策，正是企業家成熟的表現。</a:t>
            </a:r>
          </a:p>
          <a:p>
            <a:r>
              <a:t>【顧問說明】西貝與順豐的轉變說明，當黑天鵝風險或產業重資產競爭來臨時，資本市場的造血功能無可替代。</a:t>
            </a:r>
          </a:p>
          <a:p>
            <a:r>
              <a:t>【鋪墊與轉場】如果公司引進了多個股東甚至上市了，大股東依然一手遮天怎麼辦？下一講我們看『如何制衡控股股東』。</a:t>
            </a:r>
          </a:p>
          <a:p/>
          <a:p>
            <a:r>
              <a:t>🌱【入門者導讀】為什麼順豐王衛、西貝莜麵村賈國龍都曾公開斬釘截鐵說「堅決不上市」，結果後來卻紛紛宣布上市或尋求融資？難道他們言而無信嗎？劉松博教授指出：**上市從來不是目的，而是工具**！上市有四大好處（融大錢、打廣告、規範治理、讓老員工和投資人套現），但也有四大痛處（財報秘密全公開、合規成本高、被股民逼著看短期利潤、早期員工暴富後集體辭職）。當外部環境劇變（如疫情衝擊或對手全上市了），改變主意才是負責任的企業家！</a:t>
            </a:r>
          </a:p>
          <a:p>
            <a:r>
              <a:t>📖【商業故事案例】【西貝賈國龍的「真香」轉折】西貝餐飲創辦人賈國龍過去常說「西貝現金流好得很，永不上市」。然而 2020 年初新冠疫情爆發，全國數百家西貝門店瞬間停業，每月光發兩萬名員工薪水就要燒掉上億，帳上現金眼看撐不過三個月。危機過後賈國龍公開承認：「疫情教育了我，餐飲業抗風險能力太弱，西貝決定重新評估上市！」這不是打臉，而是根據風險認知升級做出的理性修正。</a:t>
            </a:r>
          </a:p>
          <a:p>
            <a:r>
              <a:t>🏛️【進階思考模型：【資本收益 vs. 治理代價】IPO 情境動態決策矩陣】進階 CEO 絕不把「上不上市」當成意識形態或面子問題，而是放在四個維度動態重評：① 產業競爭維度（對手是否已藉資本槓桿發動降維打擊？）；② 資產負債表韌性（能否抵禦極端黑天鵝現金流斷裂？）；③ 利害關係人訴求（早期 VC 基金到期退出壓力、核心員工兌現期權訴求、地方政府期待）；④ 內部治理成熟度（能否承受公開市場監管與做空機構檢驗？）。</a:t>
            </a:r>
          </a:p>
          <a:p>
            <a:r>
              <a:t>🔗【跨講因果鏈】{'prev': '承接第 10 講：討論完上市帶來的「透明化溢價」正面效益，本講完整拆解上市的正反兩面與動態取捨', 'current': '建立「不因上市與否論成敗、隨環境變化動態調整」的情境決策框架', 'next': '觸發第 12 講：無論上市與否，當控股大股東權力過大時，公司內部該如何制衡控股股東？'}</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【頁碼與主題】12｜12｜權力的制衡：公司該如何治理控股股東？ (版型 3：結合論法 (Combined Tree))</a:t>
            </a:r>
          </a:p>
          <a:p>
            <a:r>
              <a:t>【結論 Action Title】制衡控股股東需要『有分量的制衡股東』與『事前股東協議』，並依靠內外部同心圓共同監督。</a:t>
            </a:r>
          </a:p>
          <a:p>
            <a:r>
              <a:t>【顧問說明】銀隆案例證明，若事前缺乏對大股東關聯交易的制度約束，事後奪權就算贏了官司也會讓企業元氣大傷。</a:t>
            </a:r>
          </a:p>
          <a:p>
            <a:r>
              <a:t>【鋪墊與轉場】如果面對強勢大股東的是成千上萬手無寸鐵的『中小股東』，他們該如何維權？下一講我們看小股東的庶民勝利。</a:t>
            </a:r>
          </a:p>
          <a:p/>
          <a:p>
            <a:r>
              <a:t>🌱【入門者導讀】在歐美，很多上市公司沒有單一大股東（股權很分散），所以他們主要防經理人；但在亞洲（台灣與中國大陸），絕大多數公司都有一個說一不二的「控股大股東」（或大家族）。如果大股東變壞，把公司的錢透過假採購、高價買自己親戚的材料轉走（這叫「關聯交易掏空」），怎麼辦？劉松博教授指出：第一，公司最好有幾個「有分量的二股東、三股東」能聯合起來盯著大股東；第二，進場投資前一定要簽好「事前股東協議」，把關聯交易的審批紅線鎖死！</a:t>
            </a:r>
          </a:p>
          <a:p>
            <a:r>
              <a:t>📖【商業故事案例】【董明珠大戰銀隆原大股東魏銀倉】格力電器董事長董明珠個人聯手王健林、劉強東等人投資「銀隆新能源」，成為第二大股東。入股後深入查帳才驚覺：原控股大股東魏銀倉父子涉嫌透過關聯交易、虛增工程款等方式侵占公司利益超過 10 億元！董明珠隨即聯合其他股東發起法律訴訟、查封資產並改組管理層，最終魏銀倉遠遁美國。這場慘烈商戰說明：若缺乏事前盡職調查與關聯交易制度防線，事後維權代價極其慘重。</a:t>
            </a:r>
          </a:p>
          <a:p>
            <a:r>
              <a:t>🏛️【進階思考模型：【內外部同心圓 × 股權制衡度】控股股東約束模型】參考課程原版「內外部治理力量同心圓圖」：治理控股股東不能只靠「以暴制暴（換另一個強人獨裁）」。最健康的股權結構是「適度集中、有效制衡」——既有一位能拍板的大股東（避免股權均分僵局），又有持股合計可達 34% 以上的第 2～5 大機構／策略股東（具備否決與監督能力），並輔以獨立董事關聯交易委員會與外部審計。</a:t>
            </a:r>
          </a:p>
          <a:p>
            <a:r>
              <a:t>🔗【跨講因果鏈】{'prev': '承接第 09–11 講：在「透明化」之後，進入實質權力博弈——如何用股東力量制衡控股大股東？', 'current': '建立「有實力的二三股東聯合＋事前股東協議＋內外部治理同心圓」三大制衡支柱', 'next': '觸發第 13 講：如果有實力的二股東都沒有，只剩下一盤散沙的「中小散戶股東」，庶民還能翻盤維權嗎？'}</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【頁碼與主題】13｜13｜小股東維權：「庶民」要怎樣取得勝利？ (版型 4：連鎖論法 (Chain / Flow))</a:t>
            </a:r>
          </a:p>
          <a:p>
            <a:r>
              <a:t>【結論 Action Title】累積投票制與網路結盟讓中小股東得以送代表進董事會，但『選舉獲勝』不等於『經營成功』。</a:t>
            </a:r>
          </a:p>
          <a:p>
            <a:r>
              <a:t>【顧問說明】深康佳案例證明，臨時結盟的小股東容易因利益分歧與缺乏經營能力而迅速瓦解。</a:t>
            </a:r>
          </a:p>
          <a:p>
            <a:r>
              <a:t>【鋪墊與轉場】當公司內部的股東制衡仍然不夠用時，我們還需要外部力量的介入。下一講我們看外部治理的『三道防火線』。</a:t>
            </a:r>
          </a:p>
          <a:p/>
          <a:p>
            <a:r>
              <a:t>🌱【入門者導讀】假設大股東持股 60%，小股東加起來 40%，公司要選 5 個董事。如果按普通投票法（一案一投），大股東每個候選人都能拿到 60% 贊成票，5 個董事全是大股東的人（贏者全拿）！為了保護小股東，法律設計了「累積投票制」：選 5 個董事，你手上的 1 股就變成 5 票，而且你可以把 5 票全部集中砸在同 1 個候選人身上！這樣 40% 的小股東只要團結起來集中投票，就能穩穩把自己的代表送進董事會！</a:t>
            </a:r>
          </a:p>
          <a:p>
            <a:r>
              <a:t>📖【商業故事案例】【深康佳 2015 年「庶民的勝利」與結局反轉】2015 年，老牌家電廠「深康佳」的中小股東不滿大股東華僑城集團長期獨攬大權，透過雪球網等網路社群串聯，加上運用「網路投票」與「累積投票制」，竟在股東大會上一舉拿下 7 席董事中的 4 席，把大股東拉下馬！然而好景不長：這群臨時湊在一起的小股東各有算盤、不懂實業經營，推上去的總經理 3 個月就被換掉，公司陷入混亂，最後小股東只好把指揮權還給大股東華僑城。</a:t>
            </a:r>
          </a:p>
          <a:p>
            <a:r>
              <a:t>🏛️【進階思考模型：【累積投票槓桿 × 集體行動困境】中小股東治理邊界模型】奧爾森（Mancur Olson）的《集體行動的邏輯》指出：群體越大，搭便車現象越嚴重，聯盟越脆弱。康佳案例給進階治理者兩個深刻啟示：① 制度設計上，累積投票制＋網路投票大幅降低了小股東集體行動的門檻，大股東不可再視散戶為無物；② 治理實務上，「奪取席位」不等於「提升經營績效」，中小股東聯盟缺乏共同願景與長期承擔風險能力，其最佳角色是「監督者與制衡者」，而非直接取代經營層。</a:t>
            </a:r>
          </a:p>
          <a:p>
            <a:r>
              <a:t>🔗【跨講因果鏈】{'prev': '承接第 12 講：談完「有力量的二股東」制衡大股東後，進一步探討「分散弱小的中小股東」如何發聲', 'current': '解析累積投票制與網路結盟如何促成小股東維權，並點出小股東聯盟易瓦解、偏短視的內在極限', 'next': '觸發第 14 講：既然內部大小股東博弈都有極限，當內部治理失靈時，如何靠「外部治理三道防火線」兜底？'}</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【頁碼與主題】14｜14｜三道防火線：外部治理要如何控制權力？ (版型 2：並列論法 (Parallel))</a:t>
            </a:r>
          </a:p>
          <a:p>
            <a:r>
              <a:t>【結論 Action Title】外部治理透過『資訊披露、市場懲罰、司法救濟』三道防線，為內部治理提供最後的底線保障。</a:t>
            </a:r>
          </a:p>
          <a:p>
            <a:r>
              <a:t>【顧問說明】資訊讓問題可見，市場讓壞公司貶值，而強有力的司法集體訴訟則提高違法成本。</a:t>
            </a:r>
          </a:p>
          <a:p>
            <a:r>
              <a:t>【鋪墊與轉場】在第二模組的最後一講，我們回到連接股東與經理人的核心樞紐——『董事會』，看看這塊壓艙石為何常常靠不住？</a:t>
            </a:r>
          </a:p>
          <a:p/>
          <a:p>
            <a:r>
              <a:t>🌱【入門者導讀】如果一家公司的大股東和總經理串通一氣造假帳，公司內部根本沒人管得了，怎麼辦？這時候就要靠公司外面的「三道防火線（外部治理）」：① **第一道防線：資訊披露與媒體審計**（逼你把帳本公開，讓會計師、記者和做空機構拿放大鏡挑毛病）；② **第二道防線：市場淘汰**（客戶不買你的產品、股民拋售你的股票讓你股價崩盤）；③ **第三道防線：法院重罰與集體訴訟**（像美國的集團訴訟，一告贏就罰幾十億美金，直接罰到造假老闆破產坐牢）！</a:t>
            </a:r>
          </a:p>
          <a:p>
            <a:r>
              <a:t>📖【商業故事案例】【為什麼美國上市公司極少敢財務造假？】在美國證券「集體訴訟（Class Action）」制度下，只要有幾位小股民起訴公司造假，全體受害股民「自動默認加入索賠（除非你主動聲明退出）」；更狠的是採「舉證責任倒置」——不是小股民去證明大股東造假，而是公司高管必須自己拿證據證明「我沒有欺詐」！加上專業維權律師採取「不贏不收費、贏了分 20%~30% 賠償金」，一旦公司造假曝光，數十億美元的巨額賠償與數十年刑期足以讓任何掌權者膽寒。</a:t>
            </a:r>
          </a:p>
          <a:p>
            <a:r>
              <a:t>🏛️【進階思考模型：【揭露 ➔ 定價 ➔ 追責】外部治理三級聯防架構】內部治理與外部治理具有強烈的互補與替代效應。當一個法域的外部治理（尤其是第一道資訊核查與第三道司法懲戒成本）越強大，內部人掏空與舞弊的預期淨收益就越趨近於負無窮大。進階決策者（特別是跨國經營或赴海外上市的 CEO）必須清楚認識不同資本市場法域（如美股 SEC、港股、台股、A 股）在資訊揭露與集體訴訟上的懲罰梯度。</a:t>
            </a:r>
          </a:p>
          <a:p>
            <a:r>
              <a:t>🔗【跨講因果鏈】{'prev': '承接第 12–13 講：當內部大小股東博弈難以完全制衡掌權者時，將視野擴展至公司外部環境', 'current': '建構「資訊披露 ➔ 三大市場反應 ➔ 司法集體訴訟」三道外部治理防火線', 'next': '觸發第 15 講（第二模組收官講）：看完了股東大會與外部防線，回到公司內部最核心的權力樞紐——為什麼被譽為「壓艙石」的董事會卻常常失靈？'}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【頁碼與主題】15｜15｜董事會迷失：壓艙石為什麼常常靠不住？ (版型 5：麥肯錫論法 (McKinsey Matrix))</a:t>
            </a:r>
          </a:p>
          <a:p>
            <a:r>
              <a:t>【結論 Action Title】董事會是公司治理的壓艙石，但唯有解決『選任獨立性』與『資訊對稱性』，才能告別橡皮圖章。</a:t>
            </a:r>
          </a:p>
          <a:p>
            <a:r>
              <a:t>【顧問說明】康美藥業案證明，掛名簽字卻不實質審查的董事與獨董，不僅害了公司，更會讓自己面臨傾家蕩產的法律追責。</a:t>
            </a:r>
          </a:p>
          <a:p>
            <a:r>
              <a:t>【鋪墊與轉場】到此我們完成了第二模組『股東治理』。從下一講第 16 講開始，我們正式進入第三模組『經理治理』，先問一個最刺激的問題：CEO 和董事長到底誰官大？</a:t>
            </a:r>
          </a:p>
          <a:p/>
          <a:p>
            <a:r>
              <a:t>🌱【入門者導讀】股東幾千幾萬人，不可能天天開會，所以選出十來個人組成「董事會」，代表全體股東做兩件大事：① **定戰略、選總經理**；② **監督總經理別亂來**。為了怕董事會全是大股東自己人，法律還規定上市公司必須請三分之一跟公司沒利益關係的外部專家當「獨立董事（獨董）」。但為什麼像康美藥業造假 300 億，董事會和獨董卻全都簽字通過？因為獨董往往是大股東找熟人來當的，領著公司發的車馬費、一年只開幾次會，既沒時間查帳，也不好意思翻臉（這叫「花瓶獨董」）。</a:t>
            </a:r>
          </a:p>
          <a:p>
            <a:r>
              <a:t>📖【商業故事案例】【康美藥業 300 億財務造假與獨董天價連帶賠償】中醫藥巨頭康美藥業在 2016–2018 年間虛增貨幣資金高達近 300 億元，震驚資本市場。事後查明，多年來康美董事會對所有財報議案幾乎全票通過，毫無異議。後來法院判決康美藥業賠償股民 24.59 億元，其中 5 名兼職獨立董事雖然每年只領十幾萬津貼、沒參與造假，卻因在財報上簽字未盡勤勉監督義務，被判承擔 5%～10% 連帶賠償（高達上億元人民幣）！一舉震醒整個獨董界。</a:t>
            </a:r>
          </a:p>
          <a:p>
            <a:r>
              <a:t>🏛️【進階思考模型：【獨立性 × 專業性 × 資訊權】高效董事會三維重構模型】「形式上有董事會，不等於實質上有董事會治理。」進階企業主在建構董事會時，不應將其視為應付工商登記或上市合規的橡皮圖章，而應將其打造為真正的「外部大腦與風險防火牆」：① 在成員結構上，引入真正懂產業、懂財務、敢講真話的外部董事；② 在運作機制上，確保審計與薪酬委員會獨立運作，並提前 10–14 天提供未經粉飾的完整經營數據；③ 釐清董事會與管理層邊界，做到「議而不決、決而不行（集體決策、授權 CEO 執行）」。</a:t>
            </a:r>
          </a:p>
          <a:p>
            <a:r>
              <a:t>🔗【跨講因果鏈】{'prev': '承接第 04–14 講：總結整個第二模組「股東治理」，董事會正是股東派駐在公司內部的最高常設代言機構', 'current': '剖析董事會與獨立董事失靈的三大制度根源（人情提名、激勵悖論、資訊匱乏）與改革方向', 'next': '銜接第三模組（第 16 講）：董事會的頭兒是「董事長」，管理層的頭兒是「CEO」，這兩個人到底誰的官更大？正式進入「經理治理」！'}</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【頁碼與主題】16｜16｜首席執行官：CEO 和董事長誰的官兒更大？ (版型 6：對立論法 (Opposition))</a:t>
            </a:r>
          </a:p>
          <a:p>
            <a:r>
              <a:t>【結論 Action Title】董事長與 CEO 並非上下級，而是『董事會集體決策監督』與『經理層個人行政執行』的分工制衡。</a:t>
            </a:r>
          </a:p>
          <a:p>
            <a:r>
              <a:t>【顧問說明】判斷誰說了算，不能看頭銜，必須穿透看背後的股權結構、實際控制力與公司發展階段。</a:t>
            </a:r>
          </a:p>
          <a:p>
            <a:r>
              <a:t>【鋪墊與轉場】當創始老闆與職業經理人分別擔任董事長與 CEO 時，為什麼兩人總容易掐架反目？下一講我們深入剖析『職業經理人與老闆的衝突根源』。</a:t>
            </a:r>
          </a:p>
          <a:p/>
          <a:p>
            <a:r>
              <a:t>🌱【入門者導讀】「董事長和 CEO（總經理）到底誰官大？」在台灣和大陸，90% 的人都會說「當然是董事長大」！但劉松博教授告訴你：**在法律職權上，董事長個人其實沒有任何行政指揮權**！董事長只是「董事會會議的主持人」，董事會投票是「一人一票」，董事長也只有 1 票；而 CEO 則是公司行政金字塔的最高長官，下面所有副總、部門經理都聽 CEO 一個人的！那為什麼我們總覺得董事長最大？因為在華人企業裡，董事長通常就是「最大股東／創辦人」本人——他大是因為他是「大老闆（大股東）」，而不是因為「董事長」這個職位！</a:t>
            </a:r>
          </a:p>
          <a:p>
            <a:r>
              <a:t>📖【商業故事案例】【1985 年蘋果董事會為何能把創辦人賈伯斯踢出局？】1985 年，賈伯斯親自挖來的 CEO 史考利（John Sculley）與賈伯斯發生嚴重戰略衝突。當時賈伯斯雖然是創辦人，但持股已很少，董事會開會投票時，多數董事選擇支持 CEO 史考利，直接剝奪了賈伯斯的業務主管權！這說明在股權分散的成熟公司裡，真正擁有最高權力的是「董事會這個集體」，而不是某一個頭銜。</a:t>
            </a:r>
          </a:p>
          <a:p>
            <a:r>
              <a:t>🏛️【進階思考模型：【職銜 vs. 實權】穿透式權力盤點 ＆ 情境分合模型】進階治理者看一家公司的權力結構，絕不看名片上的職銜（Title），而是穿透看三層底牌：① **產權底牌**（誰是控股股東或實際控制人？）；② **任免底牌**（誰掌握董事會多數席位的提名與罷免權？）；③ **情境配置**（動盪創業期與危機期宜「兩職合一」集中火力；規模化平穩期與交班期宜「兩職分離」強化監督與傳承）。</a:t>
            </a:r>
          </a:p>
          <a:p>
            <a:r>
              <a:t>🔗【跨講因果鏈】{'prev': '承接第 15 講：從第二模組最後的「董事會」，自然過渡到第三模組「經理治理」的最高首長——CEO', 'current': '釐清董事長（集體會議主持）與 CEO（個人行政指揮）的制度邊界，建立兩職分合的情境權變觀', 'next': '觸發第 17 講：當老闆（董事長／大股東）請了職業經理人（CEO）來管公司，為什麼兩人總是吵架甚至拔刀相向？'}</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【頁碼與主題】17｜17｜職業經理人：為什麼經理總是和老闆掐架？ (版型 3：結合論法 (Combined Tree))</a:t>
            </a:r>
          </a:p>
          <a:p>
            <a:r>
              <a:t>【結論 Action Title】老闆與經理人掐架，除了自利動機外，往往是因為能幹的經理人產生了過高的『心理所有權』。</a:t>
            </a:r>
          </a:p>
          <a:p>
            <a:r>
              <a:t>【顧問說明】國美黃陳之爭告訴我們，經理人救活公司後若模糊了『代理人』與『所有人』的邊界，必然引發控制權大戰。</a:t>
            </a:r>
          </a:p>
          <a:p>
            <a:r>
              <a:t>【鋪墊與轉場】要減少這種衝突，首先得選對人。什麼樣的人才算真正優秀的『職業經理人』？下一講我們談『何為職業化』。</a:t>
            </a:r>
          </a:p>
          <a:p/>
          <a:p>
            <a:r>
              <a:t>🌱【入門者導讀】為什麼老闆請來的能幹總經理，最後常常跟老闆翻臉成仇人（像國美的黃光裕與陳曉）？老闆常罵經理人是「白眼狼」，但劉松博教授指出背後有兩個深層原因：第一種是「自私型（委託代理問題）」——畢竟花的是老闆的錢，經理人想給自己多發獎金、少擔風險；第二種更隱蔽，叫「**心理所有權過高**」——經理人沒日沒夜把公司救活、帶大，心裡開始覺得「這家公司是我的心血，老闆你根本不懂行，別來指手畫腳」！結果越能幹的經理人，越容易跟老闆搶方向盤！</a:t>
            </a:r>
          </a:p>
          <a:p>
            <a:r>
              <a:t>📖【商業故事案例】【國美電器「黃陳之爭」世紀商戰】2008 年國美創辦人黃光裕入獄，國美面臨銀行抽貸生死危機。臨危受命的總裁陳曉力挽狂瀾，引進貝恩資本、關停虧損門店，把國美從懸崖邊救了回來。然而在救亡過程中，陳曉與高管團隊對國美產生了強烈的「心理所有權」，認為應該「去黃光裕化」，甚至透過增發新股稀釋黃光裕家族股份；獄中的黃光裕大怒，發動股東大會全面反擊，最終陳曉被迫辭職出局，雙方兩敗俱傷。</a:t>
            </a:r>
          </a:p>
          <a:p>
            <a:r>
              <a:t>🏛️【進階思考模型：【代理自利 × 心理所有權】經理人雙重衝突診斷模型】本講是第三模組「經理治理」的總綱。傳統經濟學只假設經理人是「自利的小人（Agency Theory）」，但組織行為學發現，高階經理人往往具有強烈的成就動機與領地意識（Psychological Ownership）。心理所有權是一把雙面刃：適度時能激發主人翁責任感，過度時則會跨過「代理人邊界」挑戰「委託人主權」。因此，經理治理必須同時靠「監控、選人、激勵」三套機制協同運作。</a:t>
            </a:r>
          </a:p>
          <a:p>
            <a:r>
              <a:t>🔗【跨講因果鏈】{'prev': '承接第 16 講：釐清董事長與 CEO 的職權後，深入剖析大股東（老闆）與職業經理人（CEO）衝突的底層成因', 'current': '揭示「委託代理問題」與「過高心理所有權」兩大衝突根源，並確立經理治理的「監控、選人、激勵」三支柱（其中監控沿用第二模組）', 'next': '觸發第 18 講：既然監控機制已在第二模組講過，接下來重點看第二個抓手——到底怎麼「選人」？（何為職業化）'}</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【頁碼與主題】18｜18｜何為職業化：怎麼才算優秀的職業經理人？ (版型 2：並列論法 (Parallel))</a:t>
            </a:r>
          </a:p>
          <a:p>
            <a:r>
              <a:t>【結論 Action Title】真正的職業化由『技能、態度、道德』構成，核心底線是『受人之託、忠人之事』的契約精神。</a:t>
            </a:r>
          </a:p>
          <a:p>
            <a:r>
              <a:t>【顧問說明】陸奇與百度的案例證明，職業經理人與企業未必需要終身綁定，在任內創造價值、離任時體面守信，就是雙贏。</a:t>
            </a:r>
          </a:p>
          <a:p>
            <a:r>
              <a:t>【鋪墊與轉場】選到了優秀的職業經理人，到底該給他開多少薪水？為什麼高管薪酬會越來越高？請看第 19 講。</a:t>
            </a:r>
          </a:p>
          <a:p/>
          <a:p>
            <a:r>
              <a:t>🌱【入門者導讀】什麼叫「這個人很職業（Professional）」？劉松博教授把「職業化」拆成三個標準：① **有本事（職業技能）**；② **有敬業精神（職業態度）**；③ 最重要的是**有契約精神（職業道德：受人之託、忠人之事）**！很多人以為職業經理人一旦離職就是失敗，甚至離職後跟老東家在網路上互撕、帶走客戶名單。真正的頂級職業經理人（如前微軟全球執行副總裁、百度總裁陸奇），在職每一天都拚盡全力幫老闆打仗，如果發現水土不服或目標無法一致，就體面交接、絕不口出惡言！</a:t>
            </a:r>
          </a:p>
          <a:p>
            <a:r>
              <a:t>📖【商業故事案例】【陸奇在百度的 486 天：體面分手的職業化天花板】2017 年百度陷入低谷，李彥宏三顧茅廬請來華人科技界傳奇高管陸奇擔任總裁兼 COO。陸奇大刀闊斧確立「All in AI」戰略，讓百度市值一度暴漲突破 990 億美元。2018 年 5 月，陸奇因個人家庭與內部既有利益阻力選擇離職（消息一出百度市值蒸發 900 億人民幣，被稱「史上最貴離職」）。但無論在職或離職後，陸奇與李彥宏始終互相高度讚譽，從未流出一句互相抱怨的八卦，堪稱華人商業史上最職業化的典範。</a:t>
            </a:r>
          </a:p>
          <a:p>
            <a:r>
              <a:t>🏛️【進階思考模型：【技能 × 態度 × 契約精神】高管選任與空降落地模型】在不完全契約下（第 04 講），一紙聘任合約不可能寫盡所有道德風險，因此高管的「職業道德與聲譽約束」是降低代理成本的無形資產。進階企業主在引進外部空降高管時，除了用三維度考察候選人過往履歷（特別是其與前任東家的分手姿態），更要反思「老闆自身的職業化」：你是否給了空降高管清晰的授權邊界與容錯周期，而非一邊請他來改革、一邊又縱容元老重臣架空他？</a:t>
            </a:r>
          </a:p>
          <a:p>
            <a:r>
              <a:t>🔗【跨講因果鏈】{'prev': '承接第 17 講：針對經理治理三大機制（監控、選人、激勵），本講專門拆解第二大機制——「選人」', 'current': '建立衡量職業經理人的三維標準（技能、態度、契約精神），並破除「離職等於失敗」的迷思', 'next': '觸發第 19 講：選到了優秀的職業經理人，接下來該給他發多少錢？進入第三大機制——「激勵（高管薪酬）」！'}</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【頁碼與主題】19｜19｜管理層權力：高管薪酬為什麼會越來越高？ (版型 3：結合論法 (Combined Tree))</a:t>
            </a:r>
          </a:p>
          <a:p>
            <a:r>
              <a:t>【結論 Action Title】高管高薪既有『錦標賽激勵』與『人才爭奪』的合理性，也常暗藏『管理層操縱定薪權』的治理缺陷。</a:t>
            </a:r>
          </a:p>
          <a:p>
            <a:r>
              <a:t>【顧問說明】評估高管薪酬不能只看絕對金額高低，關鍵要看『由誰定薪』以及『是否與長期真實績效同向聯動』。</a:t>
            </a:r>
          </a:p>
          <a:p>
            <a:r>
              <a:t>【鋪墊與轉場】為了讓高管與股東利益一致，企業普遍採用『股權激勵』。但為什麼發了股票，高管激勵還是會失效？請看第 20 講。</a:t>
            </a:r>
          </a:p>
          <a:p/>
          <a:p>
            <a:r>
              <a:t>🌱【入門者導讀】為什麼大公司的 CEO 一年能領幾千萬甚至上億薪水，普通員工不吃不喝幾百年都賺不到？劉松博教授從正反兩面拆解：**正面來看（合理面）**：第一，頂級 CEO 是稀缺資源，你不給高薪他就被對手挖走（這叫「參與約束」）；第二，把 CEO 薪水設得極高，就像網球大滿貫冠軍獎金一樣，是為了讓下面所有副總、經理看到「只要我爬上去就能拿一個億」，激勵整支隊伍拚命工作（這叫「錦標賽理論」）。**反面來看（不合理面）**：很多公司業績大跌，CEO 薪水卻照漲不誤！因為董事會被 CEO 控制了，變成「CEO 自己給自己開薪水」（這叫「管理層權力理論」）。</a:t>
            </a:r>
          </a:p>
          <a:p>
            <a:r>
              <a:t>📖【商業故事案例】【《權力的遊戲》謎語與高管自肥現象】統計顯示，在某年度 A 股市場表現不佳的背景下，仍有 65% 上市公司高管加薪，其中 431 家公司營收或淨利潤下跌，高管卻照樣漲薪！為什麼？就像美劇《權力的遊戲》裡那個著名謎語：國王、僧侶、富翁三人命令中間拿劍的士兵殺死另外兩人，誰生誰死？答案是：取決於拿劍的士兵！在很多公司裡，管理層手裡就握著資訊與控制董事會的那把「劍」，讓薪酬委員會淪為幫高管加薪的背書工具。</a:t>
            </a:r>
          </a:p>
          <a:p>
            <a:r>
              <a:t>🏛️【進階思考模型：【參與約束 × 激勵相容 × 定薪權隔離】高管薪酬治理模型】進階決策者在設計高管薪酬體系時，必須跳出「給多給少」的直覺爭論，建立三層制度防線：① **市場對標（滿足參與約束）**；② **結構掛鉤（滿足激勵相容，看下一講第 20 講）**；③ **程序獨立（隔離管理層權力）**——高管絕對不能參與決定自身薪酬的薪酬委員會會議，且必須強制揭露「高管薪酬變動幅度 vs. 公司長短期淨利潤變動幅度」的匹配度。</a:t>
            </a:r>
          </a:p>
          <a:p>
            <a:r>
              <a:t>🔗【跨講因果鏈】{'prev': '承接第 18 講：選好職業經理人後，進入經理治理第三大機制——「激勵」的第一部分（薪酬水平為何越來越高）', 'current': '從「參與約束、激勵相容、錦標賽理論」與「管理層權力理論」雙向解構高管高薪之謎', 'next': '觸發第 20 講：除了給現金年薪，為了讓高管看長遠，大家都在發「股權激勵」，但為什麼高管股權激勵卻常常失效甚至引發造假？'}</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【頁碼與主題】20｜20｜股權怎麼發：為什麼高管股權激勵會失效？ (版型 5：麥肯錫論法 (McKinsey Matrix))</a:t>
            </a:r>
          </a:p>
          <a:p>
            <a:r>
              <a:t>【結論 Action Title】發股票不等於有效激勵；唯有結合科學考核、價值定額、動態調整與強監督，股權激勵才不會變質。</a:t>
            </a:r>
          </a:p>
          <a:p>
            <a:r>
              <a:t>【顧問說明】非上市公司切忌按『購買力』發股，上市公司則須防範高管為短期拉抬股價而犧牲長遠發展。</a:t>
            </a:r>
          </a:p>
          <a:p>
            <a:r>
              <a:t>【鋪墊與轉場】講完了一般公司的經理治理三機制，接下來兩講我們看兩種最特殊的企業型態：第 21 講『國企混改』與第 22 講『家族企業傳承』。</a:t>
            </a:r>
          </a:p>
          <a:p/>
          <a:p>
            <a:r>
              <a:t>🌱【入門者導讀】很多老闆以為「只要給高管發了股票，高管就會把公司當自己家拚命幹」，結果往往大失所望！為什麼高管股權激勵常失效？第一，上市公司的股價常受大盤影響（大盤跌時高管再努力股票也不值錢，大盤漲時混日子也能發財）；第二，有些高管為了讓股票漲上去好套現，故意砍掉長期研發、甚至造假帳拉抬股價；第三，非上市公司常犯一個大錯——「讓高管自己掏錢買股，誰有錢誰多買」，結果有錢的老油條買最多，真正出力卻沒錢的年輕骨幹買不起！</a:t>
            </a:r>
          </a:p>
          <a:p>
            <a:r>
              <a:t>📖【商業故事案例】【某非上市民企「按購買力發股」的慘痛教訓】劉松博教授曾輔導一家非上市企業，老闆好心拿出股份讓高管認購，但沒有設定每人的額度上限，而是「誰拿得出錢誰就多買」。結果家底豐厚但業務平庸的老副總買了一大堆，而剛引進、最有衝勁的核心業務副總因為剛買房手頭緊，只買了一點點。一年後分紅時，老副總躺著拿走大筆分紅，業務副總氣得直接跳槽。這證明股權額度必須按「崗位價值與績效貢獻」分配，絕不能按「誰口袋有錢」分配！</a:t>
            </a:r>
          </a:p>
          <a:p>
            <a:r>
              <a:t>🏛️【進階思考模型：【績效・估值・動態・梯隊・溝通】五維股權激勵系統】股權激勵本質上是將部分「剩餘索取權」讓渡給經理人以換取長期投入。但若缺乏「監控機制（防操縱財報）」與「滾動鎖定機制（防一把套現走人）」，股權激勵反而會放大代理風險。進階 CEO 必須用「人力資源管理思維」做股權激勵：將授予額度與崗位價值掛鉤、解禁條件與多維度健康指標掛鉤、並永遠備好接班梯隊以消除高管「挾人才自重」的籌碼。</a:t>
            </a:r>
          </a:p>
          <a:p>
            <a:r>
              <a:t>🔗【跨講因果鏈】{'prev': '承接第 19 講：談完現金薪酬與管理層權力後，深入探討長期激勵工具——高管股權激勵的利弊與落地條件', 'current': '拆解股權激勵失效的三大機制陷阱，提出五大系統化落地原則', 'next': '觸發第 21–22 講：看完了一般商業公司的經理治理，接下來看兩類特殊產權企業——「國有企業（第21講）」與「家族企業（第22講）」如何治理？'}</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【頁碼與主題】21｜21｜混合所有制：國有企業改革到底路在何方？ (版型 7：比較論法 (Comparison / Venn))</a:t>
            </a:r>
          </a:p>
          <a:p>
            <a:r>
              <a:t>【結論 Action Title】國企混改的成敗不在於股權比例的加減，而在於能否真正將『行政治理』轉換為『公司治理』。</a:t>
            </a:r>
          </a:p>
          <a:p>
            <a:r>
              <a:t>【顧問說明】雲南白藥透過對等股權與取消管理層行政級別，為國資與民資的深度融合提供了制度範本。</a:t>
            </a:r>
          </a:p>
          <a:p>
            <a:r>
              <a:t>【鋪墊與轉場】國企要切開『行政與公司』，而佔全球企業多數的家族企業則要切開『家族與公司』。下一講我們看家族企業傳承。</a:t>
            </a:r>
          </a:p>
          <a:p/>
          <a:p>
            <a:r>
              <a:t>🌱【入門者導讀】為什麼有人罵國企效率低，但國家又不能把國企全部私有化賣光？因為國企不只為了賺錢，還要負責水電、高鐵、國防、偏遠地區通訊等民生大計！那競爭性行業的國企怎麼提升效率？答案是「混合所有制改革（混改）」——把國有股權和民營資本混合在一起。但劉松博教授提醒：**光把股權混在一起沒用（「混」只是第一步），真正關鍵是「改」**——要讓民營股東在董事會有真話語權、讓總經理按市場化選聘和拿薪水（像雲南白藥那樣），否則民企絕對不敢進場！</a:t>
            </a:r>
          </a:p>
          <a:p>
            <a:r>
              <a:t>📖【商業故事案例】【雲南白藥 50:50 混改破局典範】過去民企參與國企混改最怕「出了幾十億卻連個副董事長都當不上」。2016–2017 年雲南白藥混改寫下里程碑：民營企業家陳發樹（新華都）前後投入高達 254 億元，最終在控股母公司層面實現「雲南省國資委 45%、新華都 45%、江蘇魚躍 10%」的均衡結構，陳發樹與國資代表共同擔任聯席董事長，管理層全數解除公務員行政級別、實行市場化高薪與持股。這才真正打消了民營資本的顧慮。</a:t>
            </a:r>
          </a:p>
          <a:p>
            <a:r>
              <a:t>🏛️【進階思考模型：【產權混合 × 治理邊界隔離】公私合營治理模型】從第 04 講「對等原則」來看，傳統國企的核心痛點在於「握有控制權的行政主管部門不享有合法的剩餘索取權」，而混改若只引資不放權，則會造成「民營股東有索取權卻無控制權」。成功的公私合營（PPP／混改／政府基金投資民企）必須嚴守一條鐵律：**把「行政治理」與「公司治理」切開**，所有股東在董事會內一律按章程與股權說話。</a:t>
            </a:r>
          </a:p>
          <a:p>
            <a:r>
              <a:t>🔗【跨講因果鏈】{'prev': '承接第 16–20 講：完成一般商業公司的經理治理後，檢視特殊產權結構之一——國有企業的治理難題', 'current': '提出「分類改革」與「行政治理 vs. 公司治理分離」原則', 'next': '觸發第 22 講：國企的難題是「行政干預公司」，而民營企業最大的特殊產權難題則是「家族情感干預公司」——家族企業如何打破富不過三代？'}</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【頁碼與主題】22｜22｜家族與企業：富不過三代是傳承的宿命嗎？ (版型 5：麥肯錫論法 (McKinsey Matrix))</a:t>
            </a:r>
          </a:p>
          <a:p>
            <a:r>
              <a:t>【結論 Action Title】家族企業並不落後，落後的是把家族情感帶進公司決策；唯有切開『家族治理』與『公司治理』才能基業長青。</a:t>
            </a:r>
          </a:p>
          <a:p>
            <a:r>
              <a:t>【顧問說明】李錦記的家族委員會與香港利豐的職業化轉型，展示了百年家族企業治理升級的兩大成功範本。</a:t>
            </a:r>
          </a:p>
          <a:p>
            <a:r>
              <a:t>【鋪墊與轉場】如果一家公司既沒有國資大股東、也沒有家族大股東，股權非常分散，就容易引來『門口的野蠻人』。下一講我們看敵意收購。</a:t>
            </a:r>
          </a:p>
          <a:p/>
          <a:p>
            <a:r>
              <a:t>🌱【入門者導讀】全球超過 80% 的企業都是家族企業（連沃爾瑪、福特、三星、寶馬都是家族企業），所以「家族企業」一點也不落後！家族企業真正的致命傷是**把「家務事」和「公司事」攪和在一起**——老婆當財務總監、小舅子管採購、兩兄弟吵架直接把公司劈成兩半。怎麼破？百年蠔油巨頭「李錦記」給出了標準答案：在「公司董事會」上面另外成立一個「**家族委員會**」！吵架、分家產、管教小孩全關起門來在「家族委員會」解決，一旦走進「公司董事會」，一切按現代公司制度辦事，連老闆兒子能力不行也照樣開除！</a:t>
            </a:r>
          </a:p>
          <a:p>
            <a:r>
              <a:t>📖【商業故事案例】【百年李錦記為什麼能打破富不過三代、越傳越旺？】李錦記在前兩代也經歷過兩次慘烈的兄弟分家。到了第三代李文達、第四代李惠森掌門時，痛定思痛創立了「家族委員會」與著名的《家族憲法》：家族委員會每季開會 4 天，專門討論家族價值觀、接班人培養與公益；同時對第五代立下鐵規——大學畢業後必須先去外面的公司打工至少 3 到 5 年，想進李錦記必須像外人一樣投履歷面試，進去後跟普通員工一樣考核，幹不好照樣解僱！</a:t>
            </a:r>
          </a:p>
          <a:p>
            <a:r>
              <a:t>🏛️【進階思考模型：【家族委員會 × 家族憲法 × 董事會】三環分離傳承架構】哈佛商學院經典「家族企業三環模型（家族、所有權、經營層）」指出，所有傳承悲劇都源於三環重疊處的規則混亂。進階家族企業掌門人必須在第一代健康掌舵時，就完成三件事：① 制定具契約精神的《家族憲法》（規定家族成員入職條件、股權轉讓限制與分紅基金）；② 將家族委員會與公司董事會切割；③ 區分「傳承所有權（當好大股東）」與「傳承經營權（當好 CEO）」，若二代無意或無力經營，果斷採用「美的集團（何享健傳位職業經理人方洪波）」模式。</a:t>
            </a:r>
          </a:p>
          <a:p>
            <a:r>
              <a:t>🔗【跨講因果鏈】{'prev': '承接第 21 講：與國企「將行政治理與公司治理分開」完全同構，家族企業必須「將家族治理與公司治理分開」', 'current': '建立家族委員會、家族憲法與職業化交班的百年傳承制度', 'next': '觸發第 23 講：看完了國企與家族企業，回到股權高度分散的現代上市公司——當大門外突然殺來「野蠻人（敵意收購）」，到底該歡迎還是防禦？'}</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【頁碼與主題】23｜23｜門口野蠻人：防內部人控制還是「失控」？ (版型 6：對立論法 (Opposition))</a:t>
            </a:r>
          </a:p>
          <a:p>
            <a:r>
              <a:t>【結論 Action Title】門口的野蠻人雖能遏制內部人控制，但若摧毀優秀管理團隊的人力資本，將造成多輸局面。</a:t>
            </a:r>
          </a:p>
          <a:p>
            <a:r>
              <a:t>【顧問說明】南玻 A 高管集體出走的慘劇提醒我們，資本雖然有權任免管理層，但不能無視人力資本的獨特價值。</a:t>
            </a:r>
          </a:p>
          <a:p>
            <a:r>
              <a:t>【鋪墊與轉場】這就逼我們思考一個更底層的哲學問題：公司真的只屬於股東嗎？『股東至上原則』為什麼開始動搖？請看第 24 講。</a:t>
            </a:r>
          </a:p>
          <a:p/>
          <a:p>
            <a:r>
              <a:t>🌱【入門者導讀】什麼叫「門口的野蠻人（敵意收購）」？就是一家上市公司沒有大股東（股權很分散），外面的資本大鱷看上這家公司，也不跟公司管理層商量，直接在股票市場上瘋狂買股票，買成第一大股東後把原來的董事長和總經理全部踢走！這到底是好事還是壞事？**如果原來的管理層很爛、混日子**，野蠻人進來把他們換掉，股民拍手叫好；但**如果原來的管理層非常優秀（像萬科、南玻 A）**，資本大鱷進來把靈魂團隊全逼走了，公司只剩個空殼，最後倒楣的還是全體股東！</a:t>
            </a:r>
          </a:p>
          <a:p>
            <a:r>
              <a:t>📖【商業故事案例】【寶萬之爭 vs. 南玻 A 的血淋淋教訓】2015 年，寶能系姚振華動用數百億資金在股市狂買萬科股票，一舉超越華潤成為萬科第一大股東，王石公開痛斥寶能是「不歡迎的野蠻人」，最終靠引入「白衣騎士（深圳地鐵）」才化解危機。而在另一家優質玻璃巨頭「南玻 A」身上，寶能成為第一大股東後與原管理層爆發激烈衝突，導致創辦人曾南及 7 位核心高管在 2016 年 11 月集體憤而辭職，令這家中國玻璃業標竿企業元氣大傷。</a:t>
            </a:r>
          </a:p>
          <a:p>
            <a:r>
              <a:t>🏛️【進階思考模型：【外部接管懲戒 vs. 人力資本保全】控制權市場權衡模型】經典英美公司治理將「外部控制權市場（Market for Corporate Control）」視為懲戒經理人代理問題的終極武器。但劉松博教授透過萬科與南玻案例點出其盲點：這套理論假設「股東拿錢買公司，換誰當經理都一樣」，卻忽略了現代知識型企業的核心資產是「不可替代的管理團隊人力資本」。這也直接引出了後續第 24～25 講對「股東至上主義」的根本反思。</a:t>
            </a:r>
          </a:p>
          <a:p>
            <a:r>
              <a:t>🔗【跨講因果鏈】{'prev': '承接第 16–22 講：當內部股東監督與激勵之外，外部資本市場直接發動「控制權接管」時會發生什麼？', 'current': '辯證剖析敵意收購對「懲戒懶惰高管」與「摧毀優秀團隊」的雙重影響', 'next': '觸發第 24 講（第三模組思想深水區）：為什麼寶能只要有錢買股票就能把辛苦經營三十年的管理團隊趕走？「誰出錢誰就是唯一老大（股東至上原則）」真的是天經地義嗎？'}</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【頁碼與主題】24｜24｜利益相關者：股東至上原則為何沒被取代？ (版型 6：對立論法 (Opposition))</a:t>
            </a:r>
          </a:p>
          <a:p>
            <a:r>
              <a:t>【結論 Action Title】利害關係人理論糾正了股東至上的偏頗，但因缺乏單一清晰的問責指標，至今未能完全取代股東至上。</a:t>
            </a:r>
          </a:p>
          <a:p>
            <a:r>
              <a:t>【顧問說明】如果讓經理人同時對股東、員工、客戶、社會五個衝突目標負責，經理人反而可以用A目標掩蓋B目標的失敗。</a:t>
            </a:r>
          </a:p>
          <a:p>
            <a:r>
              <a:t>【鋪墊與轉場】既然不能同時把所有人排第一，那到底應該把誰排在第一位？下一講我們看德魯克與頂尖企業的答案：『客戶為什麼應該排在最前面？』</a:t>
            </a:r>
          </a:p>
          <a:p/>
          <a:p>
            <a:r>
              <a:t>🌱【入門者導讀】「開公司到底是為了幫股東賺錢，還是為了造福員工、客戶和社會？」一百年前，汽車大王福特賺了大錢不想分給股東，想拿去給工人加薪、把車價降下來造福大眾，結果被股東「道奇兄弟」告上法院，法官判福特敗訴，留下名言：「商業公司組織起來的首要目的，就是為股東賺錢！」這叫「**股東至上原則**」。後來大家發現只顧股東賺錢太冷血，於是提出「**利益相關者理論（ESG）**」，要求公司兼顧員工、客戶、供應商和環境。但為什麼直到今天「股東至上」還沒被徹底廢除？因為如果讓總經理同時對五群人負責，當他業績爛的時候就會找藉口說「我今年雖然沒賺錢，但我把員工照顧得很好啊」，最後變成誰也考核不了他！</a:t>
            </a:r>
          </a:p>
          <a:p>
            <a:r>
              <a:t>📖【商業故事案例】【1919 年道奇兄弟訴福特汽車案（Dodge v. Ford）】當年福特汽車帳上躺著高達 6000 萬美元現金，亨利・福特卻宣布停止發放特別股息，理由是：「我的野心是僱用更多工人、讓更多人買得起汽車，我們賺的錢已經夠多了！」持有福特 10% 股份的道奇兄弟（正想拿分紅去自己造車）一狀告上密西根州最高法院。法院最終裁定福特必須發放股息，確立了影響美國百年的「股東至上」判例。</a:t>
            </a:r>
          </a:p>
          <a:p>
            <a:r>
              <a:t>🏛️【進階思考模型：【單一問責目標 vs. 多方長期共生】公司目的權衡模型】為什麼「利害關係人理論」聽起來政治正確，卻在治理實務中舉步維艱？因為它混淆了「道德倡議」與「契約問責」。在公司治理中，若缺乏可量化的首要目標，代理成本將急劇飆升。那麼，有沒有一個目標既能克服「股東至上」的短視貪婪，又能像「股東至上」一樣清晰可考核、不會讓經理人渾水摸魚？這正是下一講（第 25 講）「客戶優先」要給出的答案！</a:t>
            </a:r>
          </a:p>
          <a:p>
            <a:r>
              <a:t>🔗【跨講因果鏈】{'prev': '承接第 23 講：萬科與南玻案例暴露了「純粹資本股東至上」可能傷害管理團隊與企業長期價值', 'current': '對比「股東至上」與「利害關係人理論」，點出後者雖具道德高度卻面臨「多元目標無法考核」的操作困境', 'next': '觸發第 25 講：既然不能籠統地說「對所有人負責」，那如果一定要排一個先後順序，誰應該排在最前面？（客戶優先！）'}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【頁碼與主題】25｜25｜公司的目的：客戶為什麼應該排在最前面？ (版型 3：結合論法 (Combined Tree))</a:t>
            </a:r>
          </a:p>
          <a:p>
            <a:r>
              <a:t>【結論 Action Title】企業存在的目的是創造並滿足客戶；治理上必須將『以客戶為利益中心』與『以誰為權力中心』分開看待。</a:t>
            </a:r>
          </a:p>
          <a:p>
            <a:r>
              <a:t>【顧問說明】Costco 與信譽樓證明，以客戶價值作為單一清晰的優先目標，最終反而能為股東創造最深厚的長期回報。</a:t>
            </a:r>
          </a:p>
          <a:p>
            <a:r>
              <a:t>【鋪墊與轉場】在揭曉『誰該成為新的權力中心（第 29 講）』之前，接下來三講我們先出國考察德國與日本的治理模式，看看他們是如何平衡多方利益的。</a:t>
            </a:r>
          </a:p>
          <a:p/>
          <a:p>
            <a:r>
              <a:t>🌱【入門者導讀】上一講說「只顧股東太短視，兼顧所有人又沒法考核」，那怎麼辦？管理學之父彼得・德魯克（Peter Drucker）和阿里巴巴、華為、Costco 給出了同一個答案：**把「客戶」排在第一位**（阿里名言：客戶第一、員工第二、股東第三）！為什麼？第一，客戶是全公司唯一的「衣食父母」，客戶不買單，員工沒薪水、股東沒分紅；第二，「客戶滿意度、復購率」非常具體好考核，經理人沒法找藉口！更重要的是，劉松博教授提醒大家：**「把客戶利益排第一（利益線）」，不等於「讓客戶來管公司（權力線）」**——把這兩條線分開看，腦袋就徹底通了！</a:t>
            </a:r>
          </a:p>
          <a:p>
            <a:r>
              <a:t>📖【商業故事案例】【河北「信譽樓」百貨的逆天奇蹟】在電商把全國實體百貨打得落花流水的時代，河北黃驊市起家的「信譽樓」百貨卻開出數十家店、年營收超過百億！它靠什麼？靠把「客戶第一」做到極致：早在 1980 年代就實行「無理由退貨」；顧客買一件毛衣，售貨員竟然主動幫顧客翻出袖口有一點小跳線，然後說「這件有小瑕疵，給您少算 10 塊錢」！這種對客戶極致的誠實，換來了顧客無條件的信賴與超高復購率，結果信譽樓的股東回報率遠超同行。</a:t>
            </a:r>
          </a:p>
          <a:p>
            <a:r>
              <a:t>🏛️【進階思考模型：【利益線（客戶中心）× 權力線（合夥人中心）】雙軌分離架構】本講是讀懂整部《公司治理 30 講》後半段架構的黃金鑰匙（參見知識庫 #041）！為什麼傳統公司治理爭論百年無果？因為大家把「利益分配優先序（Who gets priority in value creation）」與「治理權力歸屬（Who holds control rights）」綁在同一條線上。一旦拆開為兩條線：① 在**利益線**上，確立「客戶第一（以客戶價值為單一北極星指標）」，完美解決第 24 講的多元目標考核困境；② 在**權力線**上，則引出第 29 講第四模組的終極解答——由共擔風險的「事業合夥人」掌握核心控制權！</a:t>
            </a:r>
          </a:p>
          <a:p>
            <a:r>
              <a:t>🔗【跨講因果鏈】{'prev': '承接第 24 講：解決「利害關係人多元目標無法操作」的死結，從所有利害關係人中確立「客戶第一」為北極星', 'current': '明確切開「利益中心（客戶）」與「權力中心（待第四模組解答）」兩條主線', 'next': '觸發第 26–28 講：在進入第四模組回答權力中心之前，先跨國考察不奉行美式股東至上的「德國模式（26-27講）」與「日本模式（28講）」！'}</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【頁碼與主題】26｜26｜德國監事會：德意志銀行為何在破產邊緣？ (版型 6：對立論法 (Opposition))</a:t>
            </a:r>
          </a:p>
          <a:p>
            <a:r>
              <a:t>【結論 Action Title】德國垂直監事會雖擁有任免董事的最高權力，但德意志銀行危機證明：法定位階高，不等於實質獨立性高。</a:t>
            </a:r>
          </a:p>
          <a:p>
            <a:r>
              <a:t>【顧問說明】交叉持股的人情網絡、前任 CEO 直接轉任監事長，以及對風控資訊的屏蔽，都會讓上位監督機構失靈。</a:t>
            </a:r>
          </a:p>
          <a:p>
            <a:r>
              <a:t>【鋪墊與轉場】德國監事會除了位階高之外，還有一個全球獨一無二的制度：一半監事必須是員工！下一講我們看『員工共決制』。</a:t>
            </a:r>
          </a:p>
          <a:p/>
          <a:p>
            <a:r>
              <a:t>🌱【入門者導讀】為什麼很多公司的「監事會（或監察人）」感覺像空氣一樣沒存在感？因為在我們熟悉的制度裡，股東大會同時選出「董事會」和「監事會」，兩邊平起平坐，監事會根本沒權力開除董事！那如果學**德國**，把「監事會」放在「董事會」頭上，讓監事會直接決定董事的任免和薪水（這叫「垂直二元制」），總該管得住了吧？劉松博教授用「德意志銀行」瀕臨破產的案例告訴你：**就算監事會官再大，如果裡面的監事跟總經理是穿一條褲子的老熟人，照樣管不住**！</a:t>
            </a:r>
          </a:p>
          <a:p>
            <a:r>
              <a:t>📖【商業故事案例】【德意志銀行（Deutsche Bank）為何從歐洲金融霸主淪落到破產邊緣？】德國最大銀行「德意志銀行」為了跟華爾街投行比拚暴利，管理層瘋狂豪賭金融衍生品，在 2008 金融海嘯後屢遭重罰（僅美國司法部一張罰單就高達 72 億美元）、連續多年巨額虧損。人們震驚地問：德國引以為傲、權力極大的「監事會」去哪了？原來，德銀的監事會主席長期由剛退休的前任 CEO 直接轉任，外部監事則來自互相交叉持股的德國大企業好友圈，甚至當內部風控人員發出警告時還遭管理層打壓！</a:t>
            </a:r>
          </a:p>
          <a:p>
            <a:r>
              <a:t>🏛️【進階思考模型：【機構位階 vs. 實質獨立性】監督有效性檢驗模型】本講再次印證全課核心機制之五——**「形式不等於功能」**（見知識庫 #041）。無論是美式的「單一董事會＋獨立董事（第 15 講）」，還是德式的「垂直上位監事會（第 26 講）」，只要沒解決這四個底層變數：① 選任來源是否獨立於管理層？② 利益關係是否脫鉤（無交叉持股或旋轉門）？③ 資訊管道是否直通底層風控？④ 時間與專業投入是否充足？任何高大上的監督機構都會退化為橡皮圖章。</a:t>
            </a:r>
          </a:p>
          <a:p>
            <a:r>
              <a:t>🔗【跨講因果鏈】{'prev': '承接第 24–25 講：在探討完利害關係人與客戶優先後，實地檢視全球最著名的「利害關係人治理標竿」——德國模式', 'current': '拆解德國第一大特色「垂直監事會」的制度優勢與德意志銀行暴露出的獨立性失靈', 'next': '觸發第 27 講：德國監事會裡還有一個令全球老闆瞠目結舌的規定——「一半席位必須留給員工代表」！這就是下一講的「員工共決制」。'}</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【頁碼與主題】27｜27｜員工共決制：員工如何強勢參與公司治理？ (版型 8：BCG 論法 (BCG 2×2 Matrix))</a:t>
            </a:r>
          </a:p>
          <a:p>
            <a:r>
              <a:t>【結論 Action Title】德國員工共決制保障了勞方權益並孕育了工匠精神，但也讓大企業在面對顛覆式轉型時步履維艱。</a:t>
            </a:r>
          </a:p>
          <a:p>
            <a:r>
              <a:t>【顧問說明】公平與效率永遠存在取捨；我們不一定要照搬德國強制分席位的做法，而應尋找既能激活員工又不失敏捷的新機制。</a:t>
            </a:r>
          </a:p>
          <a:p>
            <a:r>
              <a:t>【鋪墊與轉場】與德國同樣屬於『利害關係人模式』代表的日本，近年卻發生了劇烈的治理轉向。下一講我們看日本的進化與慣性。</a:t>
            </a:r>
          </a:p>
          <a:p/>
          <a:p>
            <a:r>
              <a:t>🌱【入門者導讀】你能想像一家大公司裡，決定總經理生死和公司大計的「監事會」，有**整整一半（50%）的座位是普通員工和工會代表**嗎？這就是德國舉世聞名的「**員工共決制（Co-determination）**」！在德國超過 2000 人的大企業裡，不光監事會有一半是員工，基層還有一個權力極大的「企業委員會」——老闆想改考勤、想裝監視器、想加班或裁員，沒有企業委員會點頭根本寸步難行！這制度好不好？**好處是**德國工人超有安全感、願意一輩子鑽研技術（造就德國製造神話）；**壞處是**到了網路與 AI 時代，公司想關掉虧損部門或轉型裁員，根本推不動！</a:t>
            </a:r>
          </a:p>
          <a:p>
            <a:r>
              <a:t>📖【商業故事案例】【歐寶汽車的勞資雙贏 vs. 德國兩大銀行合併流產】正面案例：通用汽車旗下的德國「歐寶汽車（Opel）」遭遇經營危機時，因為有共決制互信基礎，員工代表主動同意放棄部分獎金並縮短工時，換取公司「不關廠、不裁員」的承諾，攜手度過難關。反面案例：2019 年德意志銀行與德國商業銀行計畫合併自救，預計需裁減約 3 萬個重複崗位，結果遭到監事會內的工會與員工代表強烈反對，合併案在短短一個多月後即告流產。</a:t>
            </a:r>
          </a:p>
          <a:p>
            <a:r>
              <a:t>🏛️【進階思考模型：【專用性人力資本保護 vs. 戰略重組敏捷度】勞資治理權衡模型】為什麼德國精密製造業適合「共決制」，而矽谷軟體與網路業卻不適合？從制度經濟學看：精密機械與汽車需要工人投入長達數十年的「企業專用性技能（Firm-specific Skills）」，若無共決制保護，工人怕老了被裁就不願鑽研獨門手藝；但數位與 AI 產業屬於「顛覆式創新」，要求資源快速重新配置（動態能力）。這再次證明：**公平（安全感）與效率（敏捷度）無法同時最大化**，治理模式必須匹配產業技術特徵。</a:t>
            </a:r>
          </a:p>
          <a:p>
            <a:r>
              <a:t>🔗【跨講因果鏈】{'prev': '承接第 26 講：深入德國監事會內部，剖析其最獨特的組成結構——50% 員工代表共決制', 'current': '辯證評估員工強勢參與治理對「培育長期工匠精神」與「阻礙激進組織轉型」的雙面效應', 'next': '觸發第 28 講：看完德國，再看亞洲鄰居「日本」——曾與德國一樣強調終身僱用與內部人控制的日本，近年為何大步奔向美國治理模式？'}</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【頁碼與主題】28｜28｜進化與慣性：日本治理如何奔向美國模式？ (版型 4：連鎖論法 (Chain / Flow))</a:t>
            </a:r>
          </a:p>
          <a:p>
            <a:r>
              <a:t>【結論 Action Title】日本公司治理在外部危機倒逼下奔向美式透明與獨立監督，並以『三軌選擇制』巧妙化解歷史路徑依賴。</a:t>
            </a:r>
          </a:p>
          <a:p>
            <a:r>
              <a:t>【顧問說明】借鏡外國或標竿企業制度時，必須同時看清其所處的環境階段（進化論）與文化轉換成本（路徑依賴）。</a:t>
            </a:r>
          </a:p>
          <a:p>
            <a:r>
              <a:t>【鋪墊與轉場】走完第三模組，我們終於要揭曉第 25 講留下的權力中心謎底：如何破解職業經理人『包贏不包輸』？下一講進入第四模組開篇：『事業合夥人』！</a:t>
            </a:r>
          </a:p>
          <a:p/>
          <a:p>
            <a:r>
              <a:t>🌱【入門者導讀】過去大家誇日本企業好：員工「終身僱用」、按資歷加薪（年功序列）、銀行跟企業互相抱團持股，從來不怕野蠻人收購。但 1990 年泡沫經濟破滅後，這套制度卻變成了「老社長一手遮天、全員集體隱瞞造假」的溫床（像奧林巴斯隱瞞虧損長達 20 年、東芝財務造假、高田氣囊造假）！為了救經濟，日本政府大刀闊斧學美國：逼企業賣掉交叉持股、強制請外部獨立董事。最聰明的是，日本沒有一刀切廢掉傳統的「監事會」，而是給出「三種套餐」讓企業自己選，既推動了改革又減少了阻力！</a:t>
            </a:r>
          </a:p>
          <a:p>
            <a:r>
              <a:t>📖【商業故事案例】【奧林巴斯（Olympus）隱瞞 20 年巨虧被英國籍 CEO 揭發案】日本百年光學巨頭奧林巴斯從 1990 年代起就透過假併購隱瞞高達 1700 億日圓的投資虧損，歷任日本社長與內部董事、監事全都心照不宣幫忙掩蓋。直到 2011 年，公司破天荒提拔英國人伍德福德（Michael Woodford）當 CEO，這位不懂日本「家醜不可外揚」潛規則的老外發現假帳後要求徹查，竟被日本董事會花 15 分鐘閃電開除！伍德福德向國際媒體曝光真相，引爆日本企業界大地震，直接促成日本政府全面強制推行外部獨立董事制度。</a:t>
            </a:r>
          </a:p>
          <a:p>
            <a:r>
              <a:t>🏛️【進階思考模型：【蝴蝶效應 × 進化適應 × 路徑依賴】制度變遷三維分析框架】本講為進階決策者提供了極其強大的「制度變遷分析框架」。無論是國家層面的公司法改革，還是企業內部的組織變革，都同時受這三種力量支配：① 認清歷史成因（蝴蝶效應）；② 順應外部技術與市場變遷（進化論）；③ 設計具備過渡彈性的「選單式改革」（克服路徑依賴）。同時，劉松博教授也藉日本經驗建議：與其讓董事會下設審計委員會與監事會疊床架屋，不如賦予企業自主選擇治理架構的權利。</a:t>
            </a:r>
          </a:p>
          <a:p>
            <a:r>
              <a:t>🔗【跨講因果鏈】{'prev': '承接第 26–27 講：看完德國堅守並微調雙層制後，對比日本如何從封閉內部人模式大步轉向美式外部監督', 'current': '完成第三模組「經理治理與跨國比較」：總結美、德、日三種模式各自的優劣與演化規律', 'next': '正式進入第四模組（第 29 講）：回答第 25 講留下的終極懸念——當知識與人才取代資金成為最稀缺資源，「誰應該成為新時代公司的權力中心」？（事業合夥人！）'}</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【頁碼與主題】29｜29｜事業合夥人：職業經理人包贏不包輸怎麼破？ (版型 5：麥肯錫論法 (McKinsey Matrix))</a:t>
            </a:r>
          </a:p>
          <a:p>
            <a:r>
              <a:t>【結論 Action Title】事業合夥人制與傳統股權激勵的本質區別在於『共擔風險』——只有自己掏錢承擔虧損，才會真正像老闆一樣思考。</a:t>
            </a:r>
          </a:p>
          <a:p>
            <a:r>
              <a:t>【顧問說明】萬科透過公司級持股與項目級強制跟投，成功把職業經理人從『包贏不包輸的代理人』變成了『休戚與共的合夥人』。</a:t>
            </a:r>
          </a:p>
          <a:p>
            <a:r>
              <a:t>【鋪墊與轉場】當權力下沉給眾多合夥人與骨幹後，如何確保大家心往一處想、不搞小山頭？下一講我們看『企業軟治理：價值觀如何落地』。</a:t>
            </a:r>
          </a:p>
          <a:p/>
          <a:p>
            <a:r>
              <a:t>🌱【入門者導讀】為什麼哪怕給職業經理人發了高薪和股票期權，老闆還是覺得不放心？因為傳統經理人是「**包贏不包輸**」的！公司賺錢了，他分幾千萬獎金；公司如果虧掉十個億，他頂多不領獎金、拍拍屁股跳槽去別家公司當總經理，一分錢都不用從自己口袋掏出來賠！怎麼破解這個死結？萬科發明了「**事業合夥人制度（特別是項目跟投）**」：你要買這塊地蓋樓是吧？行，項目總經理和團隊必須**從自己家裡拿真金白銀出來跟著公司一起投（強制跟投）**！賺了大家分，要是這塊地買貴了虧錢，你自己的血汗錢跟著一起賠光！結果制度一出，萬科高管再也不敢亂花錢買高價地了！</a:t>
            </a:r>
          </a:p>
          <a:p>
            <a:r>
              <a:t>📖【商業故事案例】【萬科「項目跟投制」立竿見影的魔力】2014 年萬科推出事業合夥人制度，規定所有新拿地項目，一線公司管理層和項目經理為「強制跟投人」，必須自掏腰包（甚至借錢）入股該項目。過去項目經理為了衝業績規模，常向總部哭喊要高價搶地，工程成本也抓不緊；實行強制跟投後，因為花的每一分錢裡都有自己的身家性命，項目團隊主動跟施工方砍價、把拿地到開盤的時間縮短了好幾個月，連跟投的保潔阿姨都天天盯著工地有沒有浪費材料！</a:t>
            </a:r>
          </a:p>
          <a:p>
            <a:r>
              <a:t>🏛️【進階思考模型：【劣後級風險共擔 × 權力中心重構】事業合夥人治理模型】本講是第四模組「治理下沉與外擴」的靈魂開篇，也是對第 04 講「對等原則」與第 25 講「權力線何在」的終極閉環！在知識與創新密集型企業中，貨幣資本已不再稀缺，懂得如何創造客戶價值的「人力資本團隊」才是稀缺核心。事業合夥人制透過兩個改造完成治理躍遷：① 將人力資本從「純收益分享者」改造成「劣後風險承擔者（自掏資金跟投／劣後級持股）」，補齊對等原則；② 既然承擔了真實風險，便賦予合夥人團隊在董事會提名與業務決策上的主導權（如阿里湖畔合夥人、萬科項目跟投）。</a:t>
            </a:r>
          </a:p>
          <a:p>
            <a:r>
              <a:t>🔗【跨講因果鏈】{'prev': '承接第 17–20 講與第 25 講：當傳統監督與激勵仍無法解決經理人「包贏不包輸」，且第 25 講留下的「誰是權力中心」亟待解答', 'current': '提出「事業合夥人制（強制跟投＋風險共擔）」，完成從「控制經理人」到「激活合夥人並共擔風險」的治理升維', 'next': '觸發第 30 講：當公司有了幾十上百個事業合夥人、權力下放了，靠什麼防止他們各自為政、山頭林立？（企業軟治理：價值觀落地！）'}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【頁碼與主題】30｜30｜企業軟治理：公司怎樣讓飄著的價值觀落地？ (版型 4：連鎖論法 (Chain / Flow))</a:t>
            </a:r>
          </a:p>
          <a:p>
            <a:r>
              <a:t>【結論 Action Title】軟治理是硬治理的重要補充；價值觀必須經過『成文化、制度化、形式化』並對高層零特權，才能真正落地。</a:t>
            </a:r>
          </a:p>
          <a:p>
            <a:r>
              <a:t>【顧問說明】阿里巴巴的新六脈神劍把每一句價值觀都拆解為可考核的具體行為，為軟治理硬化提供了最佳範例。</a:t>
            </a:r>
          </a:p>
          <a:p>
            <a:r>
              <a:t>【鋪墊與轉場】如果把治理進一步下沉到全體普通員工，搞『全員持股』好不好？它到底是福利還是激勵？請看第 31 講。</a:t>
            </a:r>
          </a:p>
          <a:p/>
          <a:p>
            <a:r>
              <a:t>🌱【入門者導讀】為什麼 99% 公司的企業文化都只是「掛在牆上給客戶看的假大空標語」？因為老闆不知道怎麼讓價值觀落地！劉松博教授提出「**軟治理落地三部曲**」：① **成文化**（別找公關公司編順口溜，要讓員工一起吵架討論出來，像《華為基本法》討論了三年）；② **制度化**（把價值觀翻譯成「具體行為」並跟獎金升遷掛鉤！像阿里考核一半看業績、一半看價值觀，你業績再好但自私不合作，被稱為「野狗」，堅決開除）；③ **形式化**（用花名、戒指、早會故事天天強化）。最關鍵的一條：**老闆自己違規也要受罰**（像柳傳志遲到自己罰站）！</a:t>
            </a:r>
          </a:p>
          <a:p>
            <a:r>
              <a:t>📖【商業故事案例】【阿里巴巴「野狗必殺」與柳傳志遲到罰站】阿里巴巴把員工分成四種：業績好價值觀好叫「明星」，業績差價值觀好叫「小白兔」，業績差價值觀也差叫「狗」，而**業績極好但違反價值觀（如吃回扣、欺騙客戶、搶同事功勞）的人叫「野狗」**。馬雲立下鐵規：對「野狗」零容忍，哪怕他是銷售冠軍也一律公開開除！而在聯想，當年為整頓紀律規定開會遲到一分鐘就要罰站，結果有天總裁柳傳志因為電梯故障遲到了，全場不敢吭聲，柳傳志二話不說自己走到旁邊規規矩矩罰站了半小時。從此聯想再也沒有人敢遲到！</a:t>
            </a:r>
          </a:p>
          <a:p>
            <a:r>
              <a:t>🏛️【進階思考模型：【成文化 ➔ 制度化 ➔ 形式化 × 領導零特權】軟治理閉環模型】為什麼「企業文化」會出現在《公司治理》課程裡？因為當治理從股東會、董事會向下沉到成百上千的合夥人與知識員工時（第四模組），「硬契約（不完全契約）」的監督成本會呈指數級上升！此時唯有依靠「共同價值觀（軟治理）」，讓員工在沒人盯著的時候也能做出符合公司長遠利益的選擇。但必須警惕：文化共識應建立在「尊重個體與自願認同」之上，切忌演變成反人性的精神洗腦或服從性測試。</a:t>
            </a:r>
          </a:p>
          <a:p>
            <a:r>
              <a:t>🔗【跨講因果鏈】{'prev': '承接第 29 講：當公司推行事業合夥人、把決策權下放給一線時，必須有強大的文化黏著劑防止分崩離析', 'current': '建構「成文化、制度化、形式化」軟治理三部曲與領導者以身作則底線', 'next': '觸發第 31 講：有了價值觀的軟治理基礎，很多老闆想乾脆搞「全員持股（人人都是小老闆）」，但全員持股到底是激勵神藥還是大鍋飯陷阱？'}</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【頁碼與主題】31｜31｜普惠制陷阱：全員持股到底是福利還是激勵？ (版型 6：對立論法 (Opposition))</a:t>
            </a:r>
          </a:p>
          <a:p>
            <a:r>
              <a:t>【結論 Action Title】缺乏差距與淘汰機制的全員持股只會淪為『高成本福利』；唯有與績效強掛鉤、能增能減，才能發揮激勵作用。</a:t>
            </a:r>
          </a:p>
          <a:p>
            <a:r>
              <a:t>【顧問說明】華為全員持股的核心不是『全員』，而是『以奮鬥者為本』的動態配股與回購機制。</a:t>
            </a:r>
          </a:p>
          <a:p>
            <a:r>
              <a:t>【鋪墊與轉場】將股權下沉給員工之後，能不能把經營權也徹底下沉，讓員工在公司內部直接創業？下一講我們看『裂變式創業』。</a:t>
            </a:r>
          </a:p>
          <a:p/>
          <a:p>
            <a:r>
              <a:t>🌱【入門者導讀】很多老闆聽說「華為全員持股，任正非只佔 1% 左右，所以華為戰鬥力超強」，回來也給全公司每個員工都發一點股份，結果發現大家一點也沒變努力，反而每年分紅少一點就罵娘！為什麼？這叫「**普惠制陷阱**」！心理學「雙因素理論」告訴我們：只要一個東西是**「人人都有、跟表現好壞沒關係」**，它就不再是「激勵」，而變成了像免費午餐、年終固定雙薪一樣的「**福利（保健因素）**」！華為真正的秘密根本不是「人人平均分股」，而是**只給績效好的「奮鬥者」配股、骨幹與平庸者差距極大，而且如果不努力還會把你的股份收回來**！</a:t>
            </a:r>
          </a:p>
          <a:p>
            <a:r>
              <a:t>📖【商業故事案例】【華為全員持股的四次進化 vs. 信譽樓的溫情持股】華為早年剛推行全員持股時，其實也走過「普惠制（幾乎人人可買）」的彎路，導致老員工躺在功勞簿上吃分紅。後來任正非大刀闊斧改革為「飽和配股制（TUP 等動態機制）」：按職級和每年考核 A/B/C/D 分配認購額度，考核 C、D 的人不僅不能買新股，還可能被強行回購減持！相反地，河北信譽樓百貨也搞全員持股，但它從一開始就坦白把持股定位為「共同富裕的福利」而非狼性激勵，搭配其深厚的善良文化，同樣運轉良好——關鍵在於老闆自己要先想清楚：你發股到底是為了「發福利留人」還是「強激勵衝鋒」？</a:t>
            </a:r>
          </a:p>
          <a:p>
            <a:r>
              <a:t>🏛️【進階思考模型：【福利（保健）vs. 激勵（奮鬥）】全員持股雙軌定位模型】進階 CEO 在將股權向基層員工下沉時，必須嚴防兩個誤區：① 用「分紅福利」的普惠發法，卻期待收穫「狼性衝鋒」的激勵效果；② 忽視非上市公司股東人數上限與股權管理複雜度。若要追求華為式的強激勵，必須滿足四個條件：**門檻篩選（僅限骨幹奮鬥者）、差距拉開（重獎頭部）、動態回購（能上能下、人走股退）、資金自籌（員工掏真金白銀購買以強化承諾）**。</a:t>
            </a:r>
          </a:p>
          <a:p>
            <a:r>
              <a:t>🔗【跨講因果鏈】{'prev': '承接第 29–30 講：從高層「事業合夥人」與「軟治理價值觀」，進一步將治理向下沉到最底層——普通員工的「全員持股」', 'current': '破除「全員持股＝自動激勵」的迷思，用雙因素理論劃清福利型持股與激勵型持股的制度分界', 'next': '觸發第 32 講：除了給員工發股份，很多大公司為了激發活力，乾脆讓員工在公司內部自己當老闆——「裂變式內部創業」，這到底是靈丹妙藥還是鏡花水月？'}</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【頁碼與主題】32｜32｜裂變式創業：到底是靈丹妙藥還是鏡花水月？ (版型 8：BCG 論法 (BCG 2×2 Matrix))</a:t>
            </a:r>
          </a:p>
          <a:p>
            <a:r>
              <a:t>【結論 Action Title】內部裂變創業不是萬靈丹：0 到 1 的顛覆創新要靠『少數精英＋獨立創新特區』，1 到 N 的成熟擴張才適合『中台＋常態裂變』。</a:t>
            </a:r>
          </a:p>
          <a:p>
            <a:r>
              <a:t>【顧問說明】微信的成功得益於廣州團隊遠離總部官僚干擾的『特區環境』與張小龍稀缺的產品家精神。</a:t>
            </a:r>
          </a:p>
          <a:p>
            <a:r>
              <a:t>【鋪墊與轉場】既然一家公司內部能長出的企業家終究有限，如果把治理邊界擴展到公司外部的創業夥伴呢？下一講我們看『生態治理』。</a:t>
            </a:r>
          </a:p>
          <a:p/>
          <a:p>
            <a:r>
              <a:t>🌱【入門者導讀】大公司最怕患上「大企業病（反應慢、官僚、創新死掉）」，於是很多老闆迷上「內部裂變創業」——把大公司拆成幾百個小公司，讓員工自己當 CEO 內部創業！但為什麼有的大獲成功（像騰訊內部孵出微信、芬尼克茲裂變出十幾家新公司），有的卻一地雞毛（像華為早年內部創業、萬科「小草計畫」）？劉松博教授一針見血：**你要先分清楚是「從 0 到 1 發明新東西」還是「從 1 到 100 複製老店」**！如果是開店、做服裝小組（複製成熟模式），可以搞全員裂變；但如果是搞全新科技產品（從 0 到 1），因為真正的「企業家精神」極少，只能挑極個別天才給他建一個不受總部打擾的「**創新特區**」！</a:t>
            </a:r>
          </a:p>
          <a:p>
            <a:r>
              <a:t>📖【商業故事案例】【為什麼「微信」誕生在廣州的一個小部門，而不是深圳騰訊總部？】2010 年移動互聯網爆發，騰訊深圳總部有上千人規模的龐大 QQ 團隊，卻沒能做出微信，反而是遠在廣州、原本做郵箱的張小龍小團隊用幾個月做出了微信！為什麼？因為廣州研發部遠離深圳總部的既有 KPI 考核、部門利益糾葛與層層匯報，張小龍擁有極高的產品獨立決策權，同時又能隨時調用騰訊龐大的伺服器資金與 QQ 帳號關係鏈。這就是最典型的「創新特區」！</a:t>
            </a:r>
          </a:p>
          <a:p>
            <a:r>
              <a:t>🏛️【進階思考模型：【0到1 創新特區 vs. 1到N 複製裂變】內部創業雙模矩陣】許多大企業搞內部創業失敗，是因為犯了兩個致命錯誤：① **假放權**（名為創業小微，實則人事財務審批全卡在總部職能部門手裡）；② **混淆探索與複製**（以為每個員工都有從 0 到 1 的企業家天賦，導致戰略失焦、甚至利用母公司資源自肥）。進階 CEO 必須建立雙模治理：對「探索未知業務」採少而精的【特區制（大授權＋高容錯）】；對「成熟模式擴張」採標準化的【中台賦能＋前端裂變合夥制】。</a:t>
            </a:r>
          </a:p>
          <a:p>
            <a:r>
              <a:t>🔗【跨講因果鏈】{'prev': '承接第 31 講：將治理下沉從「分股權（全員持股）」推向極致——「分經營權與創業權（內部裂變創業）」', 'current': '揭示內部創業受限於「企業家精神稀缺」與「大公司科層慣性」，區分創新特區與複製裂變兩條路徑', 'next': '觸發第 33 講：既然公司內部的企業家精神終究有限，如果我們走出公司圍牆，把外面的創業者連結起來呢？這就升維到了「生態型組織與生態治理」！'}</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【頁碼與主題】33｜33｜生態型組織：公司治理如何升維成生態治理？ (版型 2：並列論法 (Parallel))</a:t>
            </a:r>
          </a:p>
          <a:p>
            <a:r>
              <a:t>【結論 Action Title】生態治理跨越了單一公司法人的邊界，用『投資不控股＋資源賦能＋品質底線』激活外部創業者的無限潛能。</a:t>
            </a:r>
          </a:p>
          <a:p>
            <a:r>
              <a:t>【顧問說明】小米生態鏈的成功，在於既給了新創團隊『自己當老闆』的狼性動力，又給了他們『大企業級別』的供應鏈與通路武器。</a:t>
            </a:r>
          </a:p>
          <a:p>
            <a:r>
              <a:t>【鋪墊與轉場】當生態組織進一步演變為掌握數億用戶數據的『超級互聯網平台』時，治理又會面臨什麼新挑戰？下一講我們看『平台治理與大數據殺熟』。</a:t>
            </a:r>
          </a:p>
          <a:p/>
          <a:p>
            <a:r>
              <a:t>🌱【入門者導讀】如果小米想做行動電源、手環、空氣清淨機、電鍋、掃地機器人等上百種產品，要是全招員工在小米自己公司裡面做（傳統大公司做法），小米早就變成幾十萬人的笨重怪獸死掉了！雷軍怎麼做？他發明了「**小米生態鏈模式**」：小米去外面找最頂尖的創業團隊，**給他們錢投資，但堅決不當大股東（投資而不控股）**！你是老闆、公司歸你管，小米把自己的品牌、供應鏈砍價能力和全球上萬家小米門店借給你用，只要求你一件事：**產品品質和極致性價比必須符合小米的標準**！結果短短幾年，小米像航母戰鬥群一樣孵出了上百家生態鏈公司，好幾家還自己獨立上市了！</a:t>
            </a:r>
          </a:p>
          <a:p>
            <a:r>
              <a:t>📖【商業故事案例】【小米生態鏈如何用「竹林效應」打敗傳統家電巨頭？】小米生態鏈負責人劉德將這套模式比喻為「竹林」：傳統企業像種大樹，長一棵要十幾年；小米生態鏈像竹林，地下根系（供應鏈、品牌、通路、方法論）全部連在一起，地面上的竹筍（生態鏈新創公司）一夜春雨就能長出上百棵！例如做小米手環的「華米」和做掃地機器人的「石頭科技」，在小米賦能下迅速成為全球出貨量冠軍，隨後更鼓勵它們發展自有品牌並獨立上市，完美兼顧了「大企業的規模資源」與「小創業公司的狼性活力」。</a:t>
            </a:r>
          </a:p>
          <a:p>
            <a:r>
              <a:t>🏛️【進階思考模型：【少數股權連結 × 平台資源賦能 × 底線規則】生態治理三角模型】還記得第 01 講科斯（Coase）的《企業的性質》嗎？科斯說企業邊界取決於「內部管理成本」與「外部市場交易成本」的比較。而在數位時代，生態型組織創造了第三種解方：它用「少數股權＋共同價值觀」把市場交易成本降到最低，又用「外部獨立法人創始人掌舵」把大企業內部代理成本降到零！進階 CEO 在擴展新業務時，應優先思考：「這件事一定要我自己招人建部門做嗎？能不能用『參股不控股＋賦能』的方式，讓外部創業者幫我做？」</a:t>
            </a:r>
          </a:p>
          <a:p>
            <a:r>
              <a:t>🔗【跨講因果鏈】{'prev': '承接第 32 講：當企業內部裂變創業遇到科層制與人才天花板時，將治理視野從「公司內部」推向「公司外部邊界」', 'current': '建立小米式「參股不控股＋重度賦能＋品質底線」的生態治理模型', 'next': '觸發第 34 講（第四模組收官講）：如果生態系統進一步疊加了「億萬雙邊用戶交易」與「海量演算法大數據」，就變成了超級互聯網平台——為什麼「大數據殺熟」會引發平台治理危機？'}</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【頁碼與主題】34｜34｜互聯網平台：大數據殺熟為何惹得群情激憤？ (版型 5：麥肯錫論法 (McKinsey Matrix))</a:t>
            </a:r>
          </a:p>
          <a:p>
            <a:r>
              <a:t>【結論 Action Title】超級平台兼具『公司、市場、社會公器』三重屬性，不能只用效率邏輯為『大數據殺熟』開脫。</a:t>
            </a:r>
          </a:p>
          <a:p>
            <a:r>
              <a:t>【顧問說明】當消費者在不知情且無可選擇的黑箱中被演算法精準收割時，平台賴以生存的制度信任就會瞬間崩塌。</a:t>
            </a:r>
          </a:p>
          <a:p>
            <a:r>
              <a:t>【鋪墊與轉場】到此正課四大模組全部結束！接下來三講是極具實戰價值的加餐課，首先看第 35 講：當企業遭遇經營困難、帳上沒錢發工資時，如何應對激勵危機？</a:t>
            </a:r>
          </a:p>
          <a:p/>
          <a:p>
            <a:r>
              <a:t>🌱【入門者導讀】為什麼你在旅遊網或叫車軟體當了五年鑽石 VIP，結果跟旁邊剛下載 APP 的新用戶同時訂同一家飯店，你的價格竟然比他貴 300 塊？！這就叫「**大數據殺熟**」！有些經濟學家替平台辯護說：「這叫『價格歧視（差異化定價）』，頭等艙本來就比經濟艙貴、菜市場大媽看人喊價也很正常啊！」劉松博教授直接點破為什麼大家會暴怒：菜市場大媽喊價，我知道她在喊價、我可以砍價或去隔壁攤；但互聯網平台是**利用我對你的信任、偷看我的消費數據底牌，在我完全不知情的情況下背地裡坑老朋友**！當平台大到像水電煤一樣（兼具公司、市場、社會三種身分），就絕不能只用冷血演算法割韭菜！</a:t>
            </a:r>
          </a:p>
          <a:p>
            <a:r>
              <a:t>📖【商業故事案例】【老用戶訂房貴 800 元事件與電子商務法新規】曾有網友實測在某知名旅遊平台上預訂同一間高檔酒店同房型，常年消費的老會員帳號顯示價格竟比新註冊帳號貴出數百元，引發全網聲討。為什麼平台敢這麼幹？因為演算法算出老用戶轉換成本高、對價格不敏感。事件引發監管重拳出擊，《電子商務法》明確規定：平台根據消費者興趣愛好、消費習慣等特徵提供搜尋結果時，必須**同時向該消費者提供不針對其個人特徵的選項**，保障消費者的知情權與選擇權。</a:t>
            </a:r>
          </a:p>
          <a:p>
            <a:r>
              <a:t>🏛️【進階思考模型：【公司・市場・社會】平台三重屬性治理模型】本講為第四模組「治理下沉與外擴」畫下完美句點：公司治理的邊界從「股東與高管（模組二三）」➔ 下沉到「合夥人與全體員工（29-32講）」➔ 外擴到「生態夥伴（33講）」➔ 最終外擴到「平台上的億萬商戶、消費者與社會大眾（34講）」。進階平台決策者必須建立「演算法治理委員會」：任何定價與推薦演算法上線前，除了測算 GMV 與利潤轉化率，必須通過四道倫理與合規檢驗——**知情權、選擇權、交易公平感、危機熔斷機制**。</a:t>
            </a:r>
          </a:p>
          <a:p>
            <a:r>
              <a:t>🔗【跨講因果鏈】{'prev': '承接第 33 講：當生態組織疊加了多邊交易網路效應與海量用戶數據，演變為超級互聯網平台', 'current': '剖析平台的「公司、市場、社會」三重屬性，建立防範大數據殺熟與演算法濫權的平台治理框架', 'next': '完成正課四大模組（00–34講）！接下來進入第 35–37 講「實戰加餐與 AI 時代治理壓力測試」，首先看第 35 講：遭遇危機沒錢發工資時怎麼辦？'}</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【頁碼與主題】35｜35｜激勵危機：如何應對經營困難與工資照發之間的矛盾？ (版型 2：並列論法 (Parallel))</a:t>
            </a:r>
          </a:p>
          <a:p>
            <a:r>
              <a:t>【結論 Action Title】面對經營危機與發薪矛盾，第一要務是保住現金流與核心團隊，但切忌病急亂投醫隨意發放永久股權。</a:t>
            </a:r>
          </a:p>
          <a:p>
            <a:r>
              <a:t>【顧問說明】透過高管帶頭降薪、承諾未來利潤分成，以及向員工坦誠公開財務實況，能將危機轉化為凝聚團隊的契機。</a:t>
            </a:r>
          </a:p>
          <a:p>
            <a:r>
              <a:t>【鋪墊與轉場】下一講第 36 講，我們用公司治理的透鏡重新審視傳奇管理大師——『世界第一 CEO』傑克・韋爾奇為何在卸任後飽受質疑？</a:t>
            </a:r>
          </a:p>
          <a:p/>
          <a:p>
            <a:r>
              <a:t>🌱【入門者導讀】如果遇到像新冠疫情、金融海嘯或大客戶突然倒閉，公司好幾個月沒進帳，但每個月還要照發幾百萬員工薪水，老闆該怎麼辦？很多老闆一急就說：「大家這個月別領薪水了，我按薪水折算成公司股份發給你們！」劉松博教授緊急喊停：**千萬別在危機時亂發真股權**！因為現金困難只是幾個月的事，但真股權發出去是一輩子的事，等明年公司恢復正常了，你會發現股權全散光了、收都收不回來！正確做法是：高管帶頭降薪保基層、簽「未來利潤補發／分紅協議（而非永久股權）」、帶員工搞副業自救，最重要的是**把公司真實帳本攤開來跟員工坦誠溝通**！</a:t>
            </a:r>
          </a:p>
          <a:p>
            <a:r>
              <a:t>📖【商業故事案例】【危機時刻的「未來利潤分享」vs.「亂發真股」】在 2020 年危機期間，許多優秀企業採取了「階梯式留薪＋未來增量返還」方案：CEO 與高管只領基本生活費或降薪 50%，基層員工保障基本薪資，少發的部分記錄為「危機共擔金」，約定待公司恢復盈利後按 1.2～1.5 倍優先從利潤中補發（或轉為定期分紅權）。既保住了當下救命的現金流，又沒有稀釋公司頂層股權結構，更在逆境中篩選出真正與公司共患難的鐵軍。</a:t>
            </a:r>
          </a:p>
          <a:p>
            <a:r>
              <a:t>🏛️【進階思考模型：【現金流底線 × 期限匹配 × 透明共擔】危機激勵決策模型】本講是將第 03 講（信任）、第 10 講（透明化）、第 20 講（股權激勵）與第 31 講（全員持股）融會貫通的壓力測試。進階 CEO 在面對黑天鵝危機時，必須遵守「期限匹配原則（Maturity Matching）」：短期現金缺口應匹配中短期激勵工具（如延後兌現獎金池、超額利潤分享計畫、虛擬受限股），唯有經過危機考驗、證明具備長期合夥人素質（AIV）的核心將領，才在危機後正式納入長期股權激勵。</a:t>
            </a:r>
          </a:p>
          <a:p>
            <a:r>
              <a:t>🔗【跨講因果鏈】{'prev': '承接第 20、31 講：將常態下的薪酬與股權激勵理論，放入「極端現金流枯竭」的危機情境中進行實戰檢驗', 'current': '建立「保現金流、慎發真股、高管先降、透明溝通」的危機留才行動框架', 'next': '觸發第 36 講：從企業危機管理轉向管理大師的歷史功過評鑑——曾被奉為「世界第一 CEO」的傑克・韋爾奇（Jack Welch），在公司治理視角下到底犯了什麼錯？'}</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【頁碼與主題】36｜36｜制度下的管理者：傑克・韋爾奇犯了什麼錯？ (版型 6：對立論法 (Opposition))</a:t>
            </a:r>
          </a:p>
          <a:p>
            <a:r>
              <a:t>【結論 Action Title】韋爾奇是管理上的巨人，但也受制於美式『股東至上與短期股價導向』的治理模式，為 GE 後來的衰落埋下伏筆。</a:t>
            </a:r>
          </a:p>
          <a:p>
            <a:r>
              <a:t>【顧問說明】評價一位 CEO 不能只看任內市值高點，還要看他留下的業務結構與接班制度能否經受住下一個周期的考驗。</a:t>
            </a:r>
          </a:p>
          <a:p>
            <a:r>
              <a:t>【鋪墊與轉場】看完了傳統巨頭 GE，下一講第 37 講我們聚焦當下最火熱的 AI 時代：從『OpenAI 宮鬥大戰』看 AI 時代的公司治理！</a:t>
            </a:r>
          </a:p>
          <a:p/>
          <a:p>
            <a:r>
              <a:t>🌱【入門者導讀】被譽為「20 世紀最偉大 CEO」的通用電氣（GE）前掌門人傑克・韋爾奇（Jack Welch）在任 20 年，把 GE 市值從 140 億美金變成 4100 億美金！但為什麼他一退休，接班人伊梅爾特手裡的 GE 就一路暴跌、最後連百年老店都被拆賣了？難道韋爾奇是個騙子嗎？劉松博教授給出最客觀的評價：**韋爾奇在「管理」上是滿分天才（活力曲線、人才培養、六標準差全是真的），但在「治理」上，他被美國「股東至上、每季看股價」的制度綁架了**！為了讓每季財報都好看，他把製造業起家的 GE 變成了靠「GE 金融公司」賺快錢的金融怪獸，結果 2008 年金融海嘯一來，炸彈直接在接班人手裡引爆！</a:t>
            </a:r>
          </a:p>
          <a:p>
            <a:r>
              <a:t>📖【商業故事案例】【GE 耗時 7 年的「世紀接班海選」為何依然失算？】韋爾奇為了選接班人，提前 7 年啟動了商業史上最嚴密的考察流程，從幾十位高管中篩選出最後三位候選人，並規定「選中 1 人當 CEO 的同時，另外 2 人必須立刻離職（防止新 CEO 壓不住老同僚）」。2000 年底韋爾奇選中了性格樂觀的伊梅爾特，落選的納德利與麥克納尼當天走人（後分別出任家得寶與 3M 的 CEO）。然而伊梅爾特上任第 4 天就遇到 911 事件，隨後又遭遇金融海嘯，在任 16 年 GE 股價竟逆勢大跌 30%！這說明再精密的接班制度也只能降低風險，無法完全消除人性與環境的不確定性。</a:t>
            </a:r>
          </a:p>
          <a:p>
            <a:r>
              <a:t>🏛️【進階思考模型：【當期管理績效 vs. 跨期治理遺產】CEO 歷史評價雙維模型】本講將第 00 講（治理 vs. 管理）、第 09 講（企業家悖論与接班）、第 20 講（短期股價激勵扭曲）與第 24 講（美式股東至上弊病）完美串聯在韋爾奇一人身上！進階領導者應從韋爾奇身上汲取兩大智慧：① **學其管理之長**（極致重視 HR 與內部人才梯隊培養、無邊界組織學習）；② **戒其治理之短**（切忌為了迎合短期資本市場預期而透過金融槓桿或財技掏空實業根基，並在接班設計上保留應對黑天鵝的組織韌性）。</a:t>
            </a:r>
          </a:p>
          <a:p>
            <a:r>
              <a:t>🔗【跨講因果鏈】{'prev': '承接第 24、35 講：從危機管理上升到對百年標竿企業 GE 與傳奇 CEO 韋爾奇的制度級復盤', 'current': '區分「個人管理能力」與「美式股東至上治理模式的結構性缺陷」，建立跨周期的領導力評價觀', 'next': '觸發第 37 講（最新壓軸加餐）：從工業時代的 GE 跨越到 AI 時代的 OpenAI——2023 年震驚全球的「OpenAI 董事會閃電開除又請回 Sam Altman 大戰」，背後藏著什麼公司治理常識與新挑戰？'}</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【頁碼與主題】37｜37｜從 OpenAI 大戰看 AI 時代的公司治理：嘗試與常識 (版型 5：麥肯錫論法 (McKinsey Matrix))</a:t>
            </a:r>
          </a:p>
          <a:p>
            <a:r>
              <a:t>【結論 Action Title】OpenAI 宮鬥大戰證明，再精巧的頂層架構設計，一旦違背『權責對等』與『人力資本共識』的治理常識，依然會引發劇烈危機。</a:t>
            </a:r>
          </a:p>
          <a:p>
            <a:r>
              <a:t>【顧問說明】AI 時代的公司治理既要解決傳統的股東與經理人博弈，更要應對 AI 技術外部性帶來的公共使命與商業資本衝突。</a:t>
            </a:r>
          </a:p>
          <a:p>
            <a:r>
              <a:t>【鋪墊與轉場】看完了最前沿的 AI 治理大戰，我們來到全課程的結語篇（A1）：一切制度的背後都是人，什麼才是一位偉大企業家的終極修煉？</a:t>
            </a:r>
          </a:p>
          <a:p/>
          <a:p>
            <a:r>
              <a:t>🌱【入門者導讀】2023 年底科技圈最大的地震，就是開發出 ChatGPT 的 **OpenAI 董事會突然發公告把創辦人兼 CEO 阿爾特曼（Sam Altman）開除了**！更戲劇性的是，短短 5 天後，因為大金主微軟力挺、加上全公司 770 名員工裡有超過 700 人連署威脅「如果不請回 Altman 我們就全體跳槽去微軟」，董事會只好乖乖認慫把 Altman 請回來，原本開除他的董事反而被換掉！為什麼會發生這麼魔幻的事？因為 OpenAI 設計了一個怪異架構：**上面是一個「不賺錢的非營利董事會」掌握 100% 生殺大權，下面是一個「賺錢的有限合夥公司」讓微軟投了上百億美金卻連 1 席董事都沒有**！當上面不持股的學者董事嫌 Altman 商業化太快，直接動用尚方寶劍砍人，卻忘了 AI 公司最值錢的資產是「工程師的腦袋（人力資本）」！</a:t>
            </a:r>
          </a:p>
          <a:p>
            <a:r>
              <a:t>📖【商業故事案例】【OpenAI 的「怪獸級混血架構」 vs. Anthropic 的「長期利益信託」】OpenAI 創立時是非營利實驗室（為了確保 AI 安全造福人類），後來發現訓練大模型要燒幾百億美金，只好在下面設一家「利潤封頂（最多賺 100 倍）的營利子公司」向微軟融資，但控制權 100% 留在上面不持股的非營利董事會手裡。這導致「出上百億美金的微軟沒權投票，有權投票的董事不承擔商業損失」，嚴重違背了第 04 講的「權責對等原則」。相比之下，從 OpenAI 出走的團隊創辦的競爭對手 **Anthropic** 則設計了更精巧的「長期利益信託（Long-Term Benefit Trust）」：讓外部獨立受託人持有特殊 T 類股，隨公司規模長大逐步取得董事會任免權，避免了一言堂突襲。</a:t>
            </a:r>
          </a:p>
          <a:p>
            <a:r>
              <a:t>🏛️【進階思考模型：【使命約束 × 資本槓桿 × 核心人力資本】AI 時代治理壓力測試模型】劉松博教授在 2024 年新增的這講壓軸大課，堪稱對整部《公司治理 30 講》的全方位期末總考卷！它同時回扣了六大核心常識：① **人性風險與資訊不對稱**（董事會指控 Altman 不坦誠）；② **GP/LP 架構與權責失衡**（非營利董事有控制權無索取權，微軟有索取權無控制權）；③ **董事會職能迷失**（事前不溝通、直接掀桌子開除 CEO）；④ **人力資本的終極反制**（700 名頂尖科學家集體用腳投票，瞬間架空法定產權）；⑤ **外部性與社會責任**（AI 安全需要超越單一公司董事會的外部監管與信託機制）。</a:t>
            </a:r>
          </a:p>
          <a:p>
            <a:r>
              <a:t>🔗【跨講因果鏈】{'prev': '承接全課第 00–36 講：將所有傳統公司治理概念工具，放入最前沿的生成式 AI 獨角獸危機中進行綜合驗證', 'current': '證明無論技術如何顛覆，公司治理的底層常識（對等原則、溝通互信、人力資本核心地位）永遠不會過時', 'next': '觸發第 38 講（結語 A1）：走完所有制度、契約與博弈之後，回到一切商業故事的起點與終點——企業家個人的內心修煉（「企業家自覺」）。'}</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【頁碼與主題】A1｜A1｜結語：你有權成為一個不尋常的人 (版型 4：連鎖論法 (Chain / Flow))</a:t>
            </a:r>
          </a:p>
          <a:p>
            <a:r>
              <a:t>【結論 Action Title】商人與企業家隔著『企業家精神』，而企業家與偉大企業家隔著懂得自我約束與主動放權的『企業家自覺』。</a:t>
            </a:r>
          </a:p>
          <a:p>
            <a:r>
              <a:t>【顧問說明】任正非、馬雲與季琦的案例說明，敢於承認自身邊界、主動把權力關進制度籠子並分利給團隊，是企業家的最高修為。</a:t>
            </a:r>
          </a:p>
          <a:p>
            <a:r>
              <a:t>【鋪墊與轉場】最後一講（A2），劉松博教授為我們精選了 10 本公司治理進階必讀書單，我們按治理問題逐一導讀。</a:t>
            </a:r>
          </a:p>
          <a:p/>
          <a:p>
            <a:r>
              <a:t>🌱【入門者導讀】整門《公司治理 30 講》講了無數爭權奪利、防人害己的制度，但在最後的結語裡，劉松博教授講了一段最打動人心的話：**最好的公司治理，最終來自老闆內心的「企業家自覺」**！什麼叫「企業家精神」？就是敢冒險、敢創新、死磕到底把公司做大。那什麼叫更高一層的「**企業家自覺**」？就是當你把公司做大、大權在握之後，你清醒地知道「我也會犯錯、我也會變老變固執」，所以你**主動把股份分給大家（像任正非只留 1%）、主動给自己的權力裝上籠子（輪值制度）、主動在最輝煌時培養接班人交棒（像馬雲、季琦）**！敢打天下叫企業家，敢分天下、讓出天下才叫偉大的企業家！</a:t>
            </a:r>
          </a:p>
          <a:p>
            <a:r>
              <a:t>📖【商業故事案例】【任正非、馬雲與季琦的「自覺之舉」】同時創辦攜程、如家、漢庭三家市值百億上市公司的連續創業家季琦，在《創始人手記》中坦誠剖析自己：「我天生是個獵人（擅長從 0 到 1 開疆闢土），不是個好農夫（不喜歡日復一日的精細化管理）。」因此當公司步入正軌，他就主動把 CEO 位置讓給更擅長管理的合夥人。同樣地，任正非在華為推行「輪值 CEO／輪值董事長」制度，主動結束個人獨裁；這份「知進退、懂放權」的自覺，才是公司治理最高級的境界。</a:t>
            </a:r>
          </a:p>
          <a:p>
            <a:r>
              <a:t>🏛️【進階思考模型：【商人 ➔ 企業家精神 ➔ 企業家自覺】領導者心智躍遷模型】本講與第 09 講「企業家悖論」形成完美的首尾呼應！第 09 講指出企業家若不加制衡會害死公司，而第 10–34 講提供了外部透明、股東制衡、董事會、合夥人等一整套「他律制度」。但誰來啟動並維護這套制度？最終仍取決於創始人自身的「自律與自覺（Entrepreneurial Self-Awareness）」。唯有當創始人超越對權力與財富的執念，主動將個人權威讓渡給制度與合夥人，企業才能真正從「一個人的傳奇」變成「幾代人的組織」。</a:t>
            </a:r>
          </a:p>
          <a:p>
            <a:r>
              <a:t>🔗【跨講因果鏈】{'prev': '承接全課第 00–37 講：在窮盡所有外在法律、股權與激勵制度之後，回到制度設計者的內心源頭', 'current': '提出「企業家自覺（知能力邊界、主動分權分利、制度交班）」，完成全課哲學昇華', 'next': '觸發第 39 講（附錄 A2 進階書單）：為渴望繼續深耕公司治理各子領域的執行長與學習者，提供按問題索驥的權威書單！'}</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【頁碼與主題】A2｜A2｜《公司治理》進階書單：按治理問題選讀 (版型 2：並列論法 (Parallel))</a:t>
            </a:r>
          </a:p>
          <a:p>
            <a:r>
              <a:t>【結論 Action Title】公司治理是一門理論與實踐並重的頂層藝術，按具體治理痛點選讀經典著作，是執行長最快進階的捷徑。</a:t>
            </a:r>
          </a:p>
          <a:p>
            <a:r>
              <a:t>【顧問說明】從德魯克的公司哲學、莫耶的動態股權、華為的奮鬥者體系到奈飛的文化手冊，這 10 本書構成了完整的治理武器庫。</a:t>
            </a:r>
          </a:p>
          <a:p>
            <a:r>
              <a:t>【鋪墊與轉場】恭喜完成《劉松博・公司治理30講》全 40 講無雜訊顧問簡報學習！您可以隨時透過頂部搜尋欄或執行長知識庫首頁探索更多管理領域。</a:t>
            </a:r>
          </a:p>
          <a:p/>
          <a:p>
            <a:r>
              <a:t>🌱【入門者導讀】聽完了 30 多講意猶未盡，想自己深入讀幾本書，但市面上的公司治理教科書又厚又催眠怎麼辦？劉松博教授為大家精挑細選了 10 本「好讀、實用、直擊痛點」的書單！你不需要一口氣全讀完，而是**哪裡痛就讀哪本**：想搞懂合夥人早期怎麼分股權？去讀《創業公司的動態股權分配機制（切蛋糕模型）》；想看資本大鱷怎麼搶公司控制權？去讀像小說一樣精彩的《門口的野蠻人》；想學怎麼把企業文化落到實處？去讀《奈飛文化手冊》和華為的《以奮鬥者為本》！</a:t>
            </a:r>
          </a:p>
          <a:p>
            <a:r>
              <a:t>📖【商業故事案例】【為什麼《門口的野蠻人》與《奈飛文化手冊》是每位 CEO 案頭必備？】《門口的野蠻人》被《華爾街日報》譽為商業史上最偉大的紀實著作，完整記錄了 RJR 納貝斯克 CEO 羅斯・強生如何從管理層收購（MBO）發起人，在貪婪與資本競價中敗給 KKR 的驚心動魄過程，把第 17–23 講的委託代理、管理層權力、毒丸與白衣騎士演繹得淋漓盡致。而《奈飛文化手冊》則展示了矽谷最震撼的「只招成年人、按市場最高薪付酬、不適合立刻給豐厚遣散費走人」的極致軟治理實踐。</a:t>
            </a:r>
          </a:p>
          <a:p>
            <a:r>
              <a:t>🏛️【進階思考模型：【哲學・股權・控制・文化】CEO 治理書單四維進修矩陣】本講不僅是《公司治理 30 講》的書單總結，更是我們「執行長專業知識庫（CEO Executive Mastery Portal）」向其他管理領域延伸的橋樑！全課 40 講貫穿了六大跨講核心機制（見知識庫 #041）：① **對等原則（控制權 ↔ 索取權）**、② **信任隨規模轉換（人際 ➔ 制度 ➔ 軟治理）**、③ **保護與制約同源**、④ **分離原則（公私分開、政企分開、家企分開、利益線與權力線分開）**、⑤ **形式不等於功能**、⑥ **情境依賴**。掌握這六大思維模型，即可自由遷移至任何企業管理場景。</a:t>
            </a:r>
          </a:p>
          <a:p>
            <a:r>
              <a:t>🔗【跨講因果鏈】{'prev': '承接第 00–38 講：將全課四大模組與三大加餐濃縮為可持續深耕的四大主題書單', 'current': '完成《劉松博・公司治理30講》全 40 講知識萃取與無雜訊簡報建構', 'next': '橫向擴充至「執行長專業知識庫」其他七大領域：A2.5.1 策略管理（孫子兵法/藍海/生態系）➔ A2.5.4 組織行為（團隊協作五大障礙）➔ A2.5.6 超級專案管理 ➔ A2.5.7 綜合研討！'}</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777240"/>
            <a:ext cx="4114800" cy="329184"/>
          </a:xfrm>
          <a:prstGeom prst="round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795528"/>
            <a:ext cx="3931920" cy="292608"/>
          </a:xfrm>
          <a:prstGeom prst="rect">
            <a:avLst/>
          </a:prstGeom>
          <a:noFill/>
        </p:spPr>
        <p:txBody>
          <a:bodyPr wrap="square" anchor="ctr" lIns="54864" rIns="54864" tIns="36576" bIns="36576">
            <a:spAutoFit/>
          </a:bodyPr>
          <a:lstStyle/>
          <a:p>
            <a:pPr algn="l">
              <a:lnSpc>
                <a:spcPct val="118000"/>
              </a:lnSpc>
            </a:pPr>
            <a:r>
              <a:rPr sz="1050" b="1">
                <a:solidFill>
                  <a:srgbClr val="FFFFFF"/>
                </a:solidFill>
                <a:latin typeface="Microsoft JhengHei"/>
              </a:rPr>
              <a:t>COMPLETE 42-SLIDE ENCYCLOPEDIA｜ZERO-NOISE CONSULTING DECK</a:t>
            </a:r>
          </a:p>
        </p:txBody>
      </p:sp>
      <p:sp>
        <p:nvSpPr>
          <p:cNvPr id="6" name="TextBox 5"/>
          <p:cNvSpPr txBox="1"/>
          <p:nvPr/>
        </p:nvSpPr>
        <p:spPr>
          <a:xfrm>
            <a:off x="685800" y="1417320"/>
            <a:ext cx="6583680" cy="1645920"/>
          </a:xfrm>
          <a:prstGeom prst="rect">
            <a:avLst/>
          </a:prstGeom>
          <a:noFill/>
        </p:spPr>
        <p:txBody>
          <a:bodyPr wrap="square" anchor="t" lIns="54864" rIns="54864" tIns="36576" bIns="36576">
            <a:spAutoFit/>
          </a:bodyPr>
          <a:lstStyle/>
          <a:p>
            <a:pPr algn="l">
              <a:lnSpc>
                <a:spcPct val="120000"/>
              </a:lnSpc>
            </a:pPr>
            <a:r>
              <a:rPr sz="3000" b="1">
                <a:solidFill>
                  <a:srgbClr val="FFFFFF"/>
                </a:solidFill>
                <a:latin typeface="Microsoft JhengHei"/>
              </a:rPr>
              <a:t>劉松博《公司治理30講》</a:t>
            </a:r>
          </a:p>
          <a:p>
            <a:pPr algn="l">
              <a:lnSpc>
                <a:spcPct val="120000"/>
              </a:lnSpc>
            </a:pPr>
            <a:r>
              <a:rPr sz="3000" b="1">
                <a:solidFill>
                  <a:srgbClr val="FFFFFF"/>
                </a:solidFill>
                <a:latin typeface="Microsoft JhengHei"/>
              </a:rPr>
              <a:t>全 40 講無雜訊顧問簡報完整百科（42 頁）</a:t>
            </a:r>
          </a:p>
        </p:txBody>
      </p:sp>
      <p:sp>
        <p:nvSpPr>
          <p:cNvPr id="7" name="TextBox 6"/>
          <p:cNvSpPr txBox="1"/>
          <p:nvPr/>
        </p:nvSpPr>
        <p:spPr>
          <a:xfrm>
            <a:off x="685800" y="3154680"/>
            <a:ext cx="6583680" cy="1097280"/>
          </a:xfrm>
          <a:prstGeom prst="rect">
            <a:avLst/>
          </a:prstGeom>
          <a:noFill/>
        </p:spPr>
        <p:txBody>
          <a:bodyPr wrap="square" anchor="t" lIns="54864" rIns="54864" tIns="36576" bIns="36576">
            <a:spAutoFit/>
          </a:bodyPr>
          <a:lstStyle/>
          <a:p>
            <a:pPr algn="l">
              <a:lnSpc>
                <a:spcPct val="135000"/>
              </a:lnSpc>
            </a:pPr>
            <a:r>
              <a:rPr sz="1350" b="0">
                <a:solidFill>
                  <a:srgbClr val="CBD5E1"/>
                </a:solidFill>
                <a:latin typeface="Microsoft JhengHei"/>
              </a:rPr>
              <a:t>完整萃取 00 發刊詞、01~34 正課、35~37 加餐與結語書單｜每頁配備視覺情境圖片與雙軌思考模型</a:t>
            </a:r>
          </a:p>
        </p:txBody>
      </p:sp>
      <p:sp>
        <p:nvSpPr>
          <p:cNvPr id="8" name="Rectangle 7"/>
          <p:cNvSpPr/>
          <p:nvPr/>
        </p:nvSpPr>
        <p:spPr>
          <a:xfrm>
            <a:off x="685800" y="4526280"/>
            <a:ext cx="6492240" cy="1325880"/>
          </a:xfrm>
          <a:prstGeom prst="rect">
            <a:avLst/>
          </a:prstGeom>
          <a:solidFill>
            <a:srgbClr val="0C2B44"/>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645152"/>
            <a:ext cx="6126480" cy="1097280"/>
          </a:xfrm>
          <a:prstGeom prst="rect">
            <a:avLst/>
          </a:prstGeom>
          <a:noFill/>
        </p:spPr>
        <p:txBody>
          <a:bodyPr wrap="square" anchor="t" lIns="54864" rIns="54864" tIns="36576" bIns="36576">
            <a:spAutoFit/>
          </a:bodyPr>
          <a:lstStyle/>
          <a:p>
            <a:pPr algn="l">
              <a:lnSpc>
                <a:spcPct val="135000"/>
              </a:lnSpc>
            </a:pPr>
            <a:r>
              <a:rPr sz="1019" b="0">
                <a:solidFill>
                  <a:srgbClr val="F1F5F9"/>
                </a:solidFill>
                <a:latin typeface="Microsoft JhengHei"/>
              </a:rPr>
              <a:t>🌱 入門者導讀（Plain-Language &amp; Cases）：白話拆解核心定義＋萬科、安隆、國美、福耀等 40 個真實商業故事</a:t>
            </a:r>
          </a:p>
          <a:p>
            <a:pPr algn="l">
              <a:lnSpc>
                <a:spcPct val="135000"/>
              </a:lnSpc>
            </a:pPr>
            <a:r>
              <a:rPr sz="1019" b="0">
                <a:solidFill>
                  <a:srgbClr val="F1F5F9"/>
                </a:solidFill>
                <a:latin typeface="Microsoft JhengHei"/>
              </a:rPr>
              <a:t>🏛️ 進階者架構（Executive Mental Models）：CEO 頂層思考模型＋#041 跨講次因果鏈＋董事會決策檢核表</a:t>
            </a:r>
          </a:p>
          <a:p>
            <a:pPr algn="l">
              <a:lnSpc>
                <a:spcPct val="135000"/>
              </a:lnSpc>
            </a:pPr>
            <a:r>
              <a:rPr sz="1019" b="0">
                <a:solidFill>
                  <a:srgbClr val="F1F5F9"/>
                </a:solidFill>
                <a:latin typeface="Microsoft JhengHei"/>
              </a:rPr>
              <a:t>🎨 無雜訊顧問視覺（Zero-Noise 8 Archetypes）：森秀明 8 大邏輯版型 × McKinsey/BCG/Accenture 視覺系統</a:t>
            </a:r>
          </a:p>
        </p:txBody>
      </p:sp>
      <p:pic>
        <p:nvPicPr>
          <p:cNvPr id="10" name="Picture 9" descr="topic_cover.jpg_133.jpg"/>
          <p:cNvPicPr>
            <a:picLocks noChangeAspect="1"/>
          </p:cNvPicPr>
          <p:nvPr/>
        </p:nvPicPr>
        <p:blipFill>
          <a:blip r:embed="rId2"/>
          <a:stretch>
            <a:fillRect/>
          </a:stretch>
        </p:blipFill>
        <p:spPr>
          <a:xfrm>
            <a:off x="7543800" y="777240"/>
            <a:ext cx="4069080" cy="3054096"/>
          </a:xfrm>
          <a:prstGeom prst="rect">
            <a:avLst/>
          </a:prstGeom>
        </p:spPr>
      </p:pic>
      <p:pic>
        <p:nvPicPr>
          <p:cNvPr id="11" name="Picture 10" descr="lec_00_1.jpg_160.jpg"/>
          <p:cNvPicPr>
            <a:picLocks noChangeAspect="1"/>
          </p:cNvPicPr>
          <p:nvPr/>
        </p:nvPicPr>
        <p:blipFill>
          <a:blip r:embed="rId3"/>
          <a:stretch>
            <a:fillRect/>
          </a:stretch>
        </p:blipFill>
        <p:spPr>
          <a:xfrm>
            <a:off x="7543800" y="3977639"/>
            <a:ext cx="4069080" cy="1874519"/>
          </a:xfrm>
          <a:prstGeom prst="rect">
            <a:avLst/>
          </a:prstGeom>
        </p:spPr>
      </p:pic>
      <p:sp>
        <p:nvSpPr>
          <p:cNvPr id="12" name="TextBox 11"/>
          <p:cNvSpPr txBox="1"/>
          <p:nvPr/>
        </p:nvSpPr>
        <p:spPr>
          <a:xfrm>
            <a:off x="7543800" y="5897880"/>
            <a:ext cx="4069080" cy="411480"/>
          </a:xfrm>
          <a:prstGeom prst="rect">
            <a:avLst/>
          </a:prstGeom>
          <a:noFill/>
        </p:spPr>
        <p:txBody>
          <a:bodyPr wrap="square" anchor="t" lIns="54864" rIns="54864" tIns="36576" bIns="36576">
            <a:spAutoFit/>
          </a:bodyPr>
          <a:lstStyle/>
          <a:p>
            <a:pPr algn="ctr">
              <a:lnSpc>
                <a:spcPct val="118000"/>
              </a:lnSpc>
            </a:pPr>
            <a:r>
              <a:rPr sz="880" b="0">
                <a:solidFill>
                  <a:srgbClr val="94A3B8"/>
                </a:solidFill>
                <a:latin typeface="Microsoft JhengHei"/>
              </a:rPr>
              <a:t>▲ 視覺輔助：企業董事會決策場景 ＆ 劉松博《公司治理30講》原版全書知識地圖</a:t>
            </a:r>
          </a:p>
        </p:txBody>
      </p:sp>
      <p:sp>
        <p:nvSpPr>
          <p:cNvPr id="13" name="TextBox 12"/>
          <p:cNvSpPr txBox="1"/>
          <p:nvPr/>
        </p:nvSpPr>
        <p:spPr>
          <a:xfrm>
            <a:off x="685800" y="6355080"/>
            <a:ext cx="10789920" cy="320040"/>
          </a:xfrm>
          <a:prstGeom prst="rect">
            <a:avLst/>
          </a:prstGeom>
          <a:noFill/>
        </p:spPr>
        <p:txBody>
          <a:bodyPr wrap="square" anchor="t" lIns="54864" rIns="54864" tIns="36576" bIns="36576">
            <a:spAutoFit/>
          </a:bodyPr>
          <a:lstStyle/>
          <a:p>
            <a:pPr algn="l">
              <a:lnSpc>
                <a:spcPct val="118000"/>
              </a:lnSpc>
            </a:pPr>
            <a:r>
              <a:rPr sz="950" b="0">
                <a:solidFill>
                  <a:srgbClr val="94A3B8"/>
                </a:solidFill>
                <a:latin typeface="Microsoft JhengHei"/>
              </a:rPr>
              <a:t>A2.5 企業管理｜執行長專業知識庫 Flagship Deck   ｜   1 / 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執行長專業知識庫｜全書系統架構 (#041)   ｜   ⑤ 流程矩陣 (Architecture Map)   ｜   知識庫 #041</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850" b="1">
                <a:solidFill>
                  <a:srgbClr val="051C2C"/>
                </a:solidFill>
                <a:latin typeface="Microsoft JhengHei"/>
              </a:rPr>
              <a:t>公司治理以「權力分配與制衡」為核心，串聯股權、兩會運作與經理人激勵四大閉環</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從「我是誰（公司主體）」到「誰說了算（股權）」、「如何共治（董事會）」、「如何代理（CEO激勵與家族傳承）」</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全書架構總覽｜對應知識庫 #041 跨講次因果關係與全書邏輯架構  ｜  關鍵字：四大模組 / 所有權與經營權分離 / 股權制衡 / 董事會治理 / 委託代理理論</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2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1508759"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344167"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模組一：基礎與演進</a:t>
            </a:r>
          </a:p>
          <a:p>
            <a:pPr algn="ctr">
              <a:lnSpc>
                <a:spcPct val="118000"/>
              </a:lnSpc>
            </a:pPr>
            <a:r>
              <a:rPr sz="919" b="1">
                <a:solidFill>
                  <a:srgbClr val="FFFFFF"/>
                </a:solidFill>
                <a:latin typeface="Microsoft JhengHei"/>
              </a:rPr>
              <a:t>(00~05講)</a:t>
            </a:r>
          </a:p>
        </p:txBody>
      </p:sp>
      <p:sp>
        <p:nvSpPr>
          <p:cNvPr id="14" name="Chevron 13"/>
          <p:cNvSpPr/>
          <p:nvPr/>
        </p:nvSpPr>
        <p:spPr>
          <a:xfrm>
            <a:off x="3328415" y="1572768"/>
            <a:ext cx="1508759"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01567" y="1572768"/>
            <a:ext cx="1344167"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模組二：股權與股東</a:t>
            </a:r>
          </a:p>
          <a:p>
            <a:pPr algn="ctr">
              <a:lnSpc>
                <a:spcPct val="118000"/>
              </a:lnSpc>
            </a:pPr>
            <a:r>
              <a:rPr sz="919" b="1">
                <a:solidFill>
                  <a:srgbClr val="FFFFFF"/>
                </a:solidFill>
                <a:latin typeface="Microsoft JhengHei"/>
              </a:rPr>
              <a:t>(06~14講)</a:t>
            </a:r>
          </a:p>
        </p:txBody>
      </p:sp>
      <p:sp>
        <p:nvSpPr>
          <p:cNvPr id="16" name="Chevron 15"/>
          <p:cNvSpPr/>
          <p:nvPr/>
        </p:nvSpPr>
        <p:spPr>
          <a:xfrm>
            <a:off x="4910327" y="1572768"/>
            <a:ext cx="1508759"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79" y="1572768"/>
            <a:ext cx="1344167"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模組三：董事與監事</a:t>
            </a:r>
          </a:p>
          <a:p>
            <a:pPr algn="ctr">
              <a:lnSpc>
                <a:spcPct val="118000"/>
              </a:lnSpc>
            </a:pPr>
            <a:r>
              <a:rPr sz="919" b="1">
                <a:solidFill>
                  <a:srgbClr val="FFFFFF"/>
                </a:solidFill>
                <a:latin typeface="Microsoft JhengHei"/>
              </a:rPr>
              <a:t>(15~22講)</a:t>
            </a:r>
          </a:p>
        </p:txBody>
      </p:sp>
      <p:sp>
        <p:nvSpPr>
          <p:cNvPr id="18" name="Chevron 17"/>
          <p:cNvSpPr/>
          <p:nvPr/>
        </p:nvSpPr>
        <p:spPr>
          <a:xfrm>
            <a:off x="6492239" y="1572768"/>
            <a:ext cx="1508759"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1" y="1572768"/>
            <a:ext cx="1344167"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模組四：經理人與控制</a:t>
            </a:r>
          </a:p>
          <a:p>
            <a:pPr algn="ctr">
              <a:lnSpc>
                <a:spcPct val="118000"/>
              </a:lnSpc>
            </a:pPr>
            <a:r>
              <a:rPr sz="919" b="1">
                <a:solidFill>
                  <a:srgbClr val="FFFFFF"/>
                </a:solidFill>
                <a:latin typeface="Microsoft JhengHei"/>
              </a:rPr>
              <a:t>(23~39講)</a:t>
            </a:r>
          </a:p>
        </p:txBody>
      </p:sp>
      <p:sp>
        <p:nvSpPr>
          <p:cNvPr id="20" name="Rectangle 19"/>
          <p:cNvSpPr/>
          <p:nvPr/>
        </p:nvSpPr>
        <p:spPr>
          <a:xfrm>
            <a:off x="502920" y="2249424"/>
            <a:ext cx="1170432" cy="1304544"/>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784" y="2249424"/>
            <a:ext cx="1060704" cy="1304544"/>
          </a:xfrm>
          <a:prstGeom prst="rect">
            <a:avLst/>
          </a:prstGeom>
          <a:noFill/>
        </p:spPr>
        <p:txBody>
          <a:bodyPr wrap="square" anchor="ctr" lIns="54864" rIns="54864" tIns="36576" bIns="36576">
            <a:spAutoFit/>
          </a:bodyPr>
          <a:lstStyle/>
          <a:p>
            <a:pPr algn="ctr">
              <a:lnSpc>
                <a:spcPct val="118000"/>
              </a:lnSpc>
            </a:pPr>
            <a:r>
              <a:rPr sz="950" b="1">
                <a:solidFill>
                  <a:srgbClr val="051C2C"/>
                </a:solidFill>
                <a:latin typeface="Microsoft JhengHei"/>
              </a:rPr>
              <a:t>核心命題</a:t>
            </a:r>
          </a:p>
        </p:txBody>
      </p:sp>
      <p:sp>
        <p:nvSpPr>
          <p:cNvPr id="22" name="Rectangle 21"/>
          <p:cNvSpPr/>
          <p:nvPr/>
        </p:nvSpPr>
        <p:spPr>
          <a:xfrm>
            <a:off x="1746504" y="2249424"/>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19656" y="2304288"/>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企業制度起源、有限責任奇蹟、兩權分離與利益相關者邊界</a:t>
            </a:r>
          </a:p>
        </p:txBody>
      </p:sp>
      <p:sp>
        <p:nvSpPr>
          <p:cNvPr id="24" name="Rectangle 23"/>
          <p:cNvSpPr/>
          <p:nvPr/>
        </p:nvSpPr>
        <p:spPr>
          <a:xfrm>
            <a:off x="3328415" y="2249424"/>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01567" y="2304288"/>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股權生命線（67/51/34%）、一致行動人、AB股、金字塔與國企混改</a:t>
            </a:r>
          </a:p>
        </p:txBody>
      </p:sp>
      <p:sp>
        <p:nvSpPr>
          <p:cNvPr id="26" name="Rectangle 25"/>
          <p:cNvSpPr/>
          <p:nvPr/>
        </p:nvSpPr>
        <p:spPr>
          <a:xfrm>
            <a:off x="4910327" y="2249424"/>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83479" y="2304288"/>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股東會程序正義、董事會規模與結構、獨立董事、累積投票與監事會</a:t>
            </a:r>
          </a:p>
        </p:txBody>
      </p:sp>
      <p:sp>
        <p:nvSpPr>
          <p:cNvPr id="28" name="Rectangle 27"/>
          <p:cNvSpPr/>
          <p:nvPr/>
        </p:nvSpPr>
        <p:spPr>
          <a:xfrm>
            <a:off x="6492239" y="2249424"/>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65391" y="2304288"/>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CEO選拔標準、代理成本、股權激勵、敵意收購防禦、合夥人與家族治理</a:t>
            </a:r>
          </a:p>
        </p:txBody>
      </p:sp>
      <p:sp>
        <p:nvSpPr>
          <p:cNvPr id="30" name="Rectangle 29"/>
          <p:cNvSpPr/>
          <p:nvPr/>
        </p:nvSpPr>
        <p:spPr>
          <a:xfrm>
            <a:off x="502920" y="3645408"/>
            <a:ext cx="1170432" cy="1304544"/>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7784" y="3645408"/>
            <a:ext cx="1060704" cy="1304544"/>
          </a:xfrm>
          <a:prstGeom prst="rect">
            <a:avLst/>
          </a:prstGeom>
          <a:noFill/>
        </p:spPr>
        <p:txBody>
          <a:bodyPr wrap="square" anchor="ctr" lIns="54864" rIns="54864" tIns="36576" bIns="36576">
            <a:spAutoFit/>
          </a:bodyPr>
          <a:lstStyle/>
          <a:p>
            <a:pPr algn="ctr">
              <a:lnSpc>
                <a:spcPct val="118000"/>
              </a:lnSpc>
            </a:pPr>
            <a:r>
              <a:rPr sz="950" b="1">
                <a:solidFill>
                  <a:srgbClr val="051C2C"/>
                </a:solidFill>
                <a:latin typeface="Microsoft JhengHei"/>
              </a:rPr>
              <a:t>解決痛點</a:t>
            </a:r>
          </a:p>
        </p:txBody>
      </p:sp>
      <p:sp>
        <p:nvSpPr>
          <p:cNvPr id="32" name="Rectangle 31"/>
          <p:cNvSpPr/>
          <p:nvPr/>
        </p:nvSpPr>
        <p:spPr>
          <a:xfrm>
            <a:off x="1746504" y="3645408"/>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19656" y="3700272"/>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打破「企業＝老闆私產」迷思，確立獨立法人財產與治理制衡底線</a:t>
            </a:r>
          </a:p>
        </p:txBody>
      </p:sp>
      <p:sp>
        <p:nvSpPr>
          <p:cNvPr id="34" name="Rectangle 33"/>
          <p:cNvSpPr/>
          <p:nvPr/>
        </p:nvSpPr>
        <p:spPr>
          <a:xfrm>
            <a:off x="3328415" y="3645408"/>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01567" y="3700272"/>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消滅五五開僵局、防範金字塔掏空、用少數資金鎖定公司控制權</a:t>
            </a:r>
          </a:p>
        </p:txBody>
      </p:sp>
      <p:sp>
        <p:nvSpPr>
          <p:cNvPr id="36" name="Rectangle 35"/>
          <p:cNvSpPr/>
          <p:nvPr/>
        </p:nvSpPr>
        <p:spPr>
          <a:xfrm>
            <a:off x="4910327" y="3645408"/>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83479" y="3700272"/>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防止一言堂與人情董事會，落實「一人一票、會議決策、程序合規」</a:t>
            </a:r>
          </a:p>
        </p:txBody>
      </p:sp>
      <p:sp>
        <p:nvSpPr>
          <p:cNvPr id="38" name="Rectangle 37"/>
          <p:cNvSpPr/>
          <p:nvPr/>
        </p:nvSpPr>
        <p:spPr>
          <a:xfrm>
            <a:off x="6492239" y="3645408"/>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65391" y="3700272"/>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化解「經理人偷懶與帝國建造」，防止野蠻人突襲與家族富不過三代</a:t>
            </a:r>
          </a:p>
        </p:txBody>
      </p:sp>
      <p:sp>
        <p:nvSpPr>
          <p:cNvPr id="40" name="Rectangle 39"/>
          <p:cNvSpPr/>
          <p:nvPr/>
        </p:nvSpPr>
        <p:spPr>
          <a:xfrm>
            <a:off x="502920" y="5041392"/>
            <a:ext cx="1170432" cy="1304544"/>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57784" y="5041392"/>
            <a:ext cx="1060704" cy="1304544"/>
          </a:xfrm>
          <a:prstGeom prst="rect">
            <a:avLst/>
          </a:prstGeom>
          <a:noFill/>
        </p:spPr>
        <p:txBody>
          <a:bodyPr wrap="square" anchor="ctr" lIns="54864" rIns="54864" tIns="36576" bIns="36576">
            <a:spAutoFit/>
          </a:bodyPr>
          <a:lstStyle/>
          <a:p>
            <a:pPr algn="ctr">
              <a:lnSpc>
                <a:spcPct val="118000"/>
              </a:lnSpc>
            </a:pPr>
            <a:r>
              <a:rPr sz="950" b="1">
                <a:solidFill>
                  <a:srgbClr val="051C2C"/>
                </a:solidFill>
                <a:latin typeface="Microsoft JhengHei"/>
              </a:rPr>
              <a:t>代表案例</a:t>
            </a:r>
          </a:p>
        </p:txBody>
      </p:sp>
      <p:sp>
        <p:nvSpPr>
          <p:cNvPr id="42" name="Rectangle 41"/>
          <p:cNvSpPr/>
          <p:nvPr/>
        </p:nvSpPr>
        <p:spPr>
          <a:xfrm>
            <a:off x="1746504" y="5041392"/>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19656" y="5096256"/>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巴林銀行倒閉案、東印度公司、安隆(Enron)破產案、優步(Uber)</a:t>
            </a:r>
          </a:p>
        </p:txBody>
      </p:sp>
      <p:sp>
        <p:nvSpPr>
          <p:cNvPr id="44" name="Rectangle 43"/>
          <p:cNvSpPr/>
          <p:nvPr/>
        </p:nvSpPr>
        <p:spPr>
          <a:xfrm>
            <a:off x="3328415" y="5041392"/>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01567" y="5096256"/>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真功夫50:50僵局、海底撈68:32破局、Facebook AB股、阿里巴巴合夥人</a:t>
            </a:r>
          </a:p>
        </p:txBody>
      </p:sp>
      <p:sp>
        <p:nvSpPr>
          <p:cNvPr id="46" name="Rectangle 45"/>
          <p:cNvSpPr/>
          <p:nvPr/>
        </p:nvSpPr>
        <p:spPr>
          <a:xfrm>
            <a:off x="4910327" y="5041392"/>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83479" y="5096256"/>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萬科王石與華潤之爭、樂視網獨董辭職潮、中集集團累積投票制</a:t>
            </a:r>
          </a:p>
        </p:txBody>
      </p:sp>
      <p:sp>
        <p:nvSpPr>
          <p:cNvPr id="48" name="Rectangle 47"/>
          <p:cNvSpPr/>
          <p:nvPr/>
        </p:nvSpPr>
        <p:spPr>
          <a:xfrm>
            <a:off x="6492239" y="5041392"/>
            <a:ext cx="1508759" cy="130454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65391" y="5096256"/>
            <a:ext cx="1362455" cy="1194816"/>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萬科寶能控制權大戰、國美黃光裕陳曉之爭、福耀玻璃曹德旺接班</a:t>
            </a:r>
          </a:p>
        </p:txBody>
      </p:sp>
      <p:sp>
        <p:nvSpPr>
          <p:cNvPr id="50" name="Rectangle 49"/>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53" name="Picture 52" descr="lec_00_1.jpg_160.jpg"/>
          <p:cNvPicPr>
            <a:picLocks noChangeAspect="1"/>
          </p:cNvPicPr>
          <p:nvPr/>
        </p:nvPicPr>
        <p:blipFill>
          <a:blip r:embed="rId2"/>
          <a:stretch>
            <a:fillRect/>
          </a:stretch>
        </p:blipFill>
        <p:spPr>
          <a:xfrm>
            <a:off x="8293607" y="1938528"/>
            <a:ext cx="3300984" cy="2057400"/>
          </a:xfrm>
          <a:prstGeom prst="rect">
            <a:avLst/>
          </a:prstGeom>
        </p:spPr>
      </p:pic>
      <p:sp>
        <p:nvSpPr>
          <p:cNvPr id="54" name="Rectangle 53"/>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圖說：劉松博《公司治理30講》原版全書知識結構圖：以利益相關者為外環，股東會、董事會、監事會、高層經理人為核心內環。</a:t>
            </a:r>
          </a:p>
        </p:txBody>
      </p:sp>
      <p:sp>
        <p:nvSpPr>
          <p:cNvPr id="57" name="Rectangle 56"/>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60" name="TextBox 5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把公司治理想成「開飛機的規則」：第一模組認識飛機構造（公司與有限責任），第二模組決定誰握有方向盤所有權（股權），第三模組設計駕駛艙儀表板與副駕駛監督（董事會與監…</a:t>
            </a:r>
          </a:p>
        </p:txBody>
      </p:sp>
      <p:sp>
        <p:nvSpPr>
          <p:cNvPr id="61" name="Rectangle 60"/>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進階架構：公司治理四階因果漏斗 (4-Stage Governance Funnel)</a:t>
            </a:r>
          </a:p>
        </p:txBody>
      </p:sp>
      <p:sp>
        <p:nvSpPr>
          <p:cNvPr id="64" name="TextBox 6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制度起源（有限責任＋兩權分離）➔ 產權配置（股權結構＋控制權槓桿）➔ 機構制衡（董事會獨立性＋表決程序＋監事會）➔ 代理對齊（外部市場接管＋長期股權激勵…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模組一：治理認知模型   ｜   版型 3：結合論法 (Combined Tree)   ｜   知識庫 #001</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650" b="1">
                <a:solidFill>
                  <a:srgbClr val="051C2C"/>
                </a:solidFill>
                <a:latin typeface="Microsoft JhengHei"/>
              </a:rPr>
              <a:t>① 主張：公司治理是決定企業生死的「樹根」，透過界定股東與經理人的權力與利益，支撐經營管理與長期業績</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發刊詞核心主張：不能只用事後成敗評價聯想與華為，必須回到「兩類人 × 兩件事」的頂層制度設計</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劉松博《公司治理30講》00 發刊詞 ｜ 知識庫條目 #001 ｜ McKinsey Pyramid Style  ｜  關鍵字：發刊詞 / 華為 / 聯想 / 柳傳志 / 任正非 / 公司治理 / 企業管理 / 樹根與樹幹 / 股東 / 經理人</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3 / 42</a:t>
            </a:r>
          </a:p>
        </p:txBody>
      </p:sp>
      <p:sp>
        <p:nvSpPr>
          <p:cNvPr id="10" name="Rectangle 9"/>
          <p:cNvSpPr/>
          <p:nvPr/>
        </p:nvSpPr>
        <p:spPr>
          <a:xfrm>
            <a:off x="502920"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主要素 1：治理聚焦「兩類人 × 兩件事」頂層規則</a:t>
            </a:r>
          </a:p>
        </p:txBody>
      </p:sp>
      <p:sp>
        <p:nvSpPr>
          <p:cNvPr id="13" name="TextBox 12"/>
          <p:cNvSpPr txBox="1"/>
          <p:nvPr/>
        </p:nvSpPr>
        <p:spPr>
          <a:xfrm>
            <a:off x="594360"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4" name="Rectangle 13"/>
          <p:cNvSpPr/>
          <p:nvPr/>
        </p:nvSpPr>
        <p:spPr>
          <a:xfrm>
            <a:off x="4315967"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主要素 2：治理結構決定企業的長期戰略選擇</a:t>
            </a:r>
          </a:p>
        </p:txBody>
      </p:sp>
      <p:sp>
        <p:nvSpPr>
          <p:cNvPr id="17" name="TextBox 16"/>
          <p:cNvSpPr txBox="1"/>
          <p:nvPr/>
        </p:nvSpPr>
        <p:spPr>
          <a:xfrm>
            <a:off x="4407407"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8" name="Rounded Rectangle 17"/>
          <p:cNvSpPr/>
          <p:nvPr/>
        </p:nvSpPr>
        <p:spPr>
          <a:xfrm>
            <a:off x="502920" y="5330952"/>
            <a:ext cx="7498079" cy="101498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404104"/>
            <a:ext cx="7168895" cy="868680"/>
          </a:xfrm>
          <a:prstGeom prst="rect">
            <a:avLst/>
          </a:prstGeom>
          <a:noFill/>
        </p:spPr>
        <p:txBody>
          <a:bodyPr wrap="square" anchor="ctr" lIns="54864" rIns="54864" tIns="36576" bIns="36576">
            <a:spAutoFit/>
          </a:bodyPr>
          <a:lstStyle/>
          <a:p>
            <a:pPr algn="l">
              <a:lnSpc>
                <a:spcPct val="118000"/>
              </a:lnSpc>
            </a:pPr>
            <a:r>
              <a:rPr sz="1019" b="1">
                <a:solidFill>
                  <a:srgbClr val="FFFFFF"/>
                </a:solidFill>
                <a:latin typeface="Microsoft JhengHei"/>
              </a:rPr>
              <a:t>🎯 結合型核心綜效：</a:t>
            </a:r>
          </a:p>
        </p:txBody>
      </p:sp>
      <p:sp>
        <p:nvSpPr>
          <p:cNvPr id="20" name="Rectangle 19"/>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3" name="Picture 22" descr="topic_00.jpg_160.jpg"/>
          <p:cNvPicPr>
            <a:picLocks noChangeAspect="1"/>
          </p:cNvPicPr>
          <p:nvPr/>
        </p:nvPicPr>
        <p:blipFill>
          <a:blip r:embed="rId2"/>
          <a:stretch>
            <a:fillRect/>
          </a:stretch>
        </p:blipFill>
        <p:spPr>
          <a:xfrm>
            <a:off x="8293607" y="1938528"/>
            <a:ext cx="3300984" cy="2057400"/>
          </a:xfrm>
          <a:prstGeom prst="rect">
            <a:avLst/>
          </a:prstGeom>
        </p:spPr>
      </p:pic>
      <p:sp>
        <p:nvSpPr>
          <p:cNvPr id="24" name="Rectangle 23"/>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商業情境視覺：摩天大樓的地基與鋼骨結構如同「公司治理（樹根）」，外牆與營運樓層如同「企業管理（樹幹）」。若頂層地基錯位，大樓越高越危險。</a:t>
            </a:r>
          </a:p>
        </p:txBody>
      </p:sp>
      <p:sp>
        <p:nvSpPr>
          <p:cNvPr id="27" name="Rectangle 26"/>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30" name="TextBox 2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許多人把「公司治理」和「企業管理」混為一談。簡單來說：總經理帶著員工做行銷、研發、生產、管考勤，這叫「管理（樹幹）」；但在總經理頭上，決定「誰能當老闆、董事會怎…</a:t>
            </a:r>
          </a:p>
        </p:txBody>
      </p:sp>
      <p:sp>
        <p:nvSpPr>
          <p:cNvPr id="31" name="Rectangle 30"/>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進階架構：【樹根—樹幹—花果】頂層決策歸因模型</a:t>
            </a:r>
          </a:p>
        </p:txBody>
      </p:sp>
      <p:sp>
        <p:nvSpPr>
          <p:cNvPr id="34" name="TextBox 3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進階決策者在診斷企業問題時，不應只停留在策略或執行層面（花果與樹幹），而應先向上追溯「決策者的產權身分與治理約束（樹根）」。全課程由「兩類人（股東、經理…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模組一：治理認知模型   ｜   版型 6：對立論法 (Opposition)   ｜   知識庫 #002</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主張：現代公司憑藉「有限責任」與「獨立法人財產權」，徹底解決古典企業無法大規模集資與永續經營的缺陷</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從西門慶當鋪、胡雪岩破產到創維黃宏生案，看懂「古典自然人企業」與「現代法人公司」的本質鴻溝</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劉松博《公司治理30講》01 講 ｜ 知識庫條目 #002 ｜ BCG Opposition Style  ｜  關鍵字：有限責任 / 法人 / 胡雪岩 / 西門慶 / 黃宏生 / 創維 / 東印度公司 / 獨資 / 合夥 / 科斯</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4 / 42</a:t>
            </a:r>
          </a:p>
        </p:txBody>
      </p:sp>
      <p:sp>
        <p:nvSpPr>
          <p:cNvPr id="10" name="Rectangle 9"/>
          <p:cNvSpPr/>
          <p:nvPr/>
        </p:nvSpPr>
        <p:spPr>
          <a:xfrm>
            <a:off x="502920" y="1572768"/>
            <a:ext cx="1280160" cy="53035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280160" cy="530352"/>
          </a:xfrm>
          <a:prstGeom prst="rect">
            <a:avLst/>
          </a:prstGeom>
          <a:noFill/>
        </p:spPr>
        <p:txBody>
          <a:bodyPr wrap="square" anchor="ctr" lIns="54864" rIns="54864" tIns="36576" bIns="36576">
            <a:spAutoFit/>
          </a:bodyPr>
          <a:lstStyle/>
          <a:p>
            <a:pPr algn="ctr">
              <a:lnSpc>
                <a:spcPct val="118000"/>
              </a:lnSpc>
            </a:pPr>
            <a:r>
              <a:rPr sz="950" b="1">
                <a:solidFill>
                  <a:srgbClr val="004B2B"/>
                </a:solidFill>
                <a:latin typeface="Microsoft JhengHei"/>
              </a:rPr>
              <a:t>對立維度</a:t>
            </a:r>
          </a:p>
        </p:txBody>
      </p:sp>
      <p:sp>
        <p:nvSpPr>
          <p:cNvPr id="12" name="Rectangle 11"/>
          <p:cNvSpPr/>
          <p:nvPr/>
        </p:nvSpPr>
        <p:spPr>
          <a:xfrm>
            <a:off x="1856232" y="1572768"/>
            <a:ext cx="2834639" cy="5303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9384"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A</a:t>
            </a:r>
          </a:p>
        </p:txBody>
      </p:sp>
      <p:sp>
        <p:nvSpPr>
          <p:cNvPr id="14" name="TextBox 13"/>
          <p:cNvSpPr txBox="1"/>
          <p:nvPr/>
        </p:nvSpPr>
        <p:spPr>
          <a:xfrm>
            <a:off x="4690871" y="1572768"/>
            <a:ext cx="402336" cy="530352"/>
          </a:xfrm>
          <a:prstGeom prst="rect">
            <a:avLst/>
          </a:prstGeom>
          <a:noFill/>
        </p:spPr>
        <p:txBody>
          <a:bodyPr wrap="square" anchor="ctr" lIns="54864" rIns="54864" tIns="36576" bIns="36576">
            <a:spAutoFit/>
          </a:bodyPr>
          <a:lstStyle/>
          <a:p>
            <a:pPr algn="ctr">
              <a:lnSpc>
                <a:spcPct val="118000"/>
              </a:lnSpc>
            </a:pPr>
            <a:r>
              <a:rPr sz="1000" b="1">
                <a:solidFill>
                  <a:srgbClr val="177B57"/>
                </a:solidFill>
                <a:latin typeface="Microsoft JhengHei"/>
              </a:rPr>
              <a:t>VS</a:t>
            </a:r>
          </a:p>
        </p:txBody>
      </p:sp>
      <p:sp>
        <p:nvSpPr>
          <p:cNvPr id="15" name="Rectangle 14"/>
          <p:cNvSpPr/>
          <p:nvPr/>
        </p:nvSpPr>
        <p:spPr>
          <a:xfrm>
            <a:off x="5093207" y="1572768"/>
            <a:ext cx="2834639" cy="53035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B</a:t>
            </a:r>
          </a:p>
        </p:txBody>
      </p:sp>
      <p:sp>
        <p:nvSpPr>
          <p:cNvPr id="17" name="Rectangle 16"/>
          <p:cNvSpPr/>
          <p:nvPr/>
        </p:nvSpPr>
        <p:spPr>
          <a:xfrm>
            <a:off x="502920" y="2212848"/>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 y="2212848"/>
            <a:ext cx="1170432" cy="964692"/>
          </a:xfrm>
          <a:prstGeom prst="rect">
            <a:avLst/>
          </a:prstGeom>
          <a:noFill/>
        </p:spPr>
        <p:txBody>
          <a:bodyPr wrap="square" anchor="ctr" lIns="54864" rIns="54864" tIns="36576" bIns="36576">
            <a:spAutoFit/>
          </a:bodyPr>
          <a:lstStyle/>
          <a:p>
            <a:pPr algn="ctr">
              <a:lnSpc>
                <a:spcPct val="118000"/>
              </a:lnSpc>
            </a:pPr>
          </a:p>
        </p:txBody>
      </p:sp>
      <p:sp>
        <p:nvSpPr>
          <p:cNvPr id="19" name="Rectangle 18"/>
          <p:cNvSpPr/>
          <p:nvPr/>
        </p:nvSpPr>
        <p:spPr>
          <a:xfrm>
            <a:off x="1856232" y="2212848"/>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9384"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1" name="TextBox 20"/>
          <p:cNvSpPr txBox="1"/>
          <p:nvPr/>
        </p:nvSpPr>
        <p:spPr>
          <a:xfrm>
            <a:off x="4690871" y="2212848"/>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2" name="Rectangle 21"/>
          <p:cNvSpPr/>
          <p:nvPr/>
        </p:nvSpPr>
        <p:spPr>
          <a:xfrm>
            <a:off x="5093207" y="2212848"/>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4" name="Rectangle 23"/>
          <p:cNvSpPr/>
          <p:nvPr/>
        </p:nvSpPr>
        <p:spPr>
          <a:xfrm>
            <a:off x="502920" y="3268980"/>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 y="3268980"/>
            <a:ext cx="1170432" cy="964692"/>
          </a:xfrm>
          <a:prstGeom prst="rect">
            <a:avLst/>
          </a:prstGeom>
          <a:noFill/>
        </p:spPr>
        <p:txBody>
          <a:bodyPr wrap="square" anchor="ctr" lIns="54864" rIns="54864" tIns="36576" bIns="36576">
            <a:spAutoFit/>
          </a:bodyPr>
          <a:lstStyle/>
          <a:p>
            <a:pPr algn="ctr">
              <a:lnSpc>
                <a:spcPct val="118000"/>
              </a:lnSpc>
            </a:pPr>
          </a:p>
        </p:txBody>
      </p:sp>
      <p:sp>
        <p:nvSpPr>
          <p:cNvPr id="26" name="Rectangle 25"/>
          <p:cNvSpPr/>
          <p:nvPr/>
        </p:nvSpPr>
        <p:spPr>
          <a:xfrm>
            <a:off x="1856232" y="3268980"/>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9384"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28" name="TextBox 27"/>
          <p:cNvSpPr txBox="1"/>
          <p:nvPr/>
        </p:nvSpPr>
        <p:spPr>
          <a:xfrm>
            <a:off x="4690871" y="3268980"/>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9" name="Rectangle 28"/>
          <p:cNvSpPr/>
          <p:nvPr/>
        </p:nvSpPr>
        <p:spPr>
          <a:xfrm>
            <a:off x="5093207" y="3268980"/>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59"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31" name="Rectangle 30"/>
          <p:cNvSpPr/>
          <p:nvPr/>
        </p:nvSpPr>
        <p:spPr>
          <a:xfrm>
            <a:off x="502920" y="4325112"/>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784" y="4325112"/>
            <a:ext cx="1170432" cy="964692"/>
          </a:xfrm>
          <a:prstGeom prst="rect">
            <a:avLst/>
          </a:prstGeom>
          <a:noFill/>
        </p:spPr>
        <p:txBody>
          <a:bodyPr wrap="square" anchor="ctr" lIns="54864" rIns="54864" tIns="36576" bIns="36576">
            <a:spAutoFit/>
          </a:bodyPr>
          <a:lstStyle/>
          <a:p>
            <a:pPr algn="ctr">
              <a:lnSpc>
                <a:spcPct val="118000"/>
              </a:lnSpc>
            </a:pPr>
          </a:p>
        </p:txBody>
      </p:sp>
      <p:sp>
        <p:nvSpPr>
          <p:cNvPr id="33" name="Rectangle 32"/>
          <p:cNvSpPr/>
          <p:nvPr/>
        </p:nvSpPr>
        <p:spPr>
          <a:xfrm>
            <a:off x="1856232" y="4325112"/>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9384"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5" name="TextBox 34"/>
          <p:cNvSpPr txBox="1"/>
          <p:nvPr/>
        </p:nvSpPr>
        <p:spPr>
          <a:xfrm>
            <a:off x="4690871" y="4325112"/>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36" name="Rectangle 35"/>
          <p:cNvSpPr/>
          <p:nvPr/>
        </p:nvSpPr>
        <p:spPr>
          <a:xfrm>
            <a:off x="5093207" y="4325112"/>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59"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8" name="Rectangle 37"/>
          <p:cNvSpPr/>
          <p:nvPr/>
        </p:nvSpPr>
        <p:spPr>
          <a:xfrm>
            <a:off x="502920" y="5381244"/>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 y="5381244"/>
            <a:ext cx="1170432" cy="964692"/>
          </a:xfrm>
          <a:prstGeom prst="rect">
            <a:avLst/>
          </a:prstGeom>
          <a:noFill/>
        </p:spPr>
        <p:txBody>
          <a:bodyPr wrap="square" anchor="ctr" lIns="54864" rIns="54864" tIns="36576" bIns="36576">
            <a:spAutoFit/>
          </a:bodyPr>
          <a:lstStyle/>
          <a:p>
            <a:pPr algn="ctr">
              <a:lnSpc>
                <a:spcPct val="118000"/>
              </a:lnSpc>
            </a:pPr>
          </a:p>
        </p:txBody>
      </p:sp>
      <p:sp>
        <p:nvSpPr>
          <p:cNvPr id="40" name="Rectangle 39"/>
          <p:cNvSpPr/>
          <p:nvPr/>
        </p:nvSpPr>
        <p:spPr>
          <a:xfrm>
            <a:off x="1856232" y="5381244"/>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9384"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2" name="TextBox 41"/>
          <p:cNvSpPr txBox="1"/>
          <p:nvPr/>
        </p:nvSpPr>
        <p:spPr>
          <a:xfrm>
            <a:off x="4690871" y="5381244"/>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43" name="Rectangle 42"/>
          <p:cNvSpPr/>
          <p:nvPr/>
        </p:nvSpPr>
        <p:spPr>
          <a:xfrm>
            <a:off x="5093207" y="5381244"/>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6359"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5" name="Rectangle 44"/>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48" name="Picture 47" descr="topic_01.jpg_160.jpg"/>
          <p:cNvPicPr>
            <a:picLocks noChangeAspect="1"/>
          </p:cNvPicPr>
          <p:nvPr/>
        </p:nvPicPr>
        <p:blipFill>
          <a:blip r:embed="rId2"/>
          <a:stretch>
            <a:fillRect/>
          </a:stretch>
        </p:blipFill>
        <p:spPr>
          <a:xfrm>
            <a:off x="8293607" y="1938528"/>
            <a:ext cx="3300984" cy="2057400"/>
          </a:xfrm>
          <a:prstGeom prst="rect">
            <a:avLst/>
          </a:prstGeom>
        </p:spPr>
      </p:pic>
      <p:sp>
        <p:nvSpPr>
          <p:cNvPr id="49" name="Rectangle 48"/>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商業情境視覺：17世紀遠洋貿易與大型基礎建設需要龐大資金，催生了「有限責任制度」，讓投資人無懼傾家蕩產，促成現代跨國公司誕生。</a:t>
            </a:r>
          </a:p>
        </p:txBody>
      </p:sp>
      <p:sp>
        <p:nvSpPr>
          <p:cNvPr id="52" name="Rectangle 51"/>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55" name="TextBox 5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不是所有「企業」都叫「公司」！企業分為三種：① 個人獨資（如明星工作室）、② 合夥企業（如事務所）、③ 公司。前兩種叫「古典企業」，老闆要負「無限責任」——生意…</a:t>
            </a:r>
          </a:p>
        </p:txBody>
      </p:sp>
      <p:sp>
        <p:nvSpPr>
          <p:cNvPr id="56" name="Rectangle 55"/>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進階架構：【風險隔離 × 資本聚集 × 股權流動】現代公司三支柱模型</a:t>
            </a:r>
          </a:p>
        </p:txBody>
      </p:sp>
      <p:sp>
        <p:nvSpPr>
          <p:cNvPr id="59" name="TextBox 5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科斯（Coase）的交易成本理論與阿爾欽的團隊生產理論只解釋了「為什麼有企業（Firm）」，卻沒解釋「為什麼有公司（Corporation）」。現代公司…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模組一：治理認知模型   ｜   版型 3：結合論法 (Combined Tree)   ｜   知識庫 #003</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650" b="1">
                <a:solidFill>
                  <a:srgbClr val="051C2C"/>
                </a:solidFill>
                <a:latin typeface="Microsoft JhengHei"/>
              </a:rPr>
              <a:t>① 主張：公司治理的本質，是用制度同時對抗「職業經理人失控」與「控股大股東濫權」兩大先天缺陷</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伴隨「兩權分離」與「有限責任」而來的資訊不對稱與人性風險，必須靠股東治理與經理治理雙軌平衡</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劉松博《公司治理30講》02 講 ｜ 知識庫條目 #003 ｜ McKinsey Deductive Tree Style  ｜  關鍵字：委託代理 / 資訊不對稱 / 兩權分離 / 安然 / 控股股東 / 中小股東 / 經理革命 / 錢德勒</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5 / 42</a:t>
            </a:r>
          </a:p>
        </p:txBody>
      </p:sp>
      <p:sp>
        <p:nvSpPr>
          <p:cNvPr id="10" name="Rectangle 9"/>
          <p:cNvSpPr/>
          <p:nvPr/>
        </p:nvSpPr>
        <p:spPr>
          <a:xfrm>
            <a:off x="502920"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缺陷 1：所有權與經營權分離 ➔ 經理人代理問題</a:t>
            </a:r>
          </a:p>
        </p:txBody>
      </p:sp>
      <p:sp>
        <p:nvSpPr>
          <p:cNvPr id="13" name="TextBox 12"/>
          <p:cNvSpPr txBox="1"/>
          <p:nvPr/>
        </p:nvSpPr>
        <p:spPr>
          <a:xfrm>
            <a:off x="594360"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4" name="Rectangle 13"/>
          <p:cNvSpPr/>
          <p:nvPr/>
        </p:nvSpPr>
        <p:spPr>
          <a:xfrm>
            <a:off x="4315967"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缺陷 2：有限責任與多數決 ➔ 控股股東掏空風險</a:t>
            </a:r>
          </a:p>
        </p:txBody>
      </p:sp>
      <p:sp>
        <p:nvSpPr>
          <p:cNvPr id="17" name="TextBox 16"/>
          <p:cNvSpPr txBox="1"/>
          <p:nvPr/>
        </p:nvSpPr>
        <p:spPr>
          <a:xfrm>
            <a:off x="4407407"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8" name="Rounded Rectangle 17"/>
          <p:cNvSpPr/>
          <p:nvPr/>
        </p:nvSpPr>
        <p:spPr>
          <a:xfrm>
            <a:off x="502920" y="5330952"/>
            <a:ext cx="7498079" cy="101498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404104"/>
            <a:ext cx="7168895" cy="868680"/>
          </a:xfrm>
          <a:prstGeom prst="rect">
            <a:avLst/>
          </a:prstGeom>
          <a:noFill/>
        </p:spPr>
        <p:txBody>
          <a:bodyPr wrap="square" anchor="ctr" lIns="54864" rIns="54864" tIns="36576" bIns="36576">
            <a:spAutoFit/>
          </a:bodyPr>
          <a:lstStyle/>
          <a:p>
            <a:pPr algn="l">
              <a:lnSpc>
                <a:spcPct val="118000"/>
              </a:lnSpc>
            </a:pPr>
            <a:r>
              <a:rPr sz="1019" b="1">
                <a:solidFill>
                  <a:srgbClr val="FFFFFF"/>
                </a:solidFill>
                <a:latin typeface="Microsoft JhengHei"/>
              </a:rPr>
              <a:t>🎯 結合型核心綜效：</a:t>
            </a:r>
          </a:p>
        </p:txBody>
      </p:sp>
      <p:sp>
        <p:nvSpPr>
          <p:cNvPr id="20" name="Rectangle 19"/>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3" name="Picture 22" descr="topic_02.jpg_160.jpg"/>
          <p:cNvPicPr>
            <a:picLocks noChangeAspect="1"/>
          </p:cNvPicPr>
          <p:nvPr/>
        </p:nvPicPr>
        <p:blipFill>
          <a:blip r:embed="rId2"/>
          <a:stretch>
            <a:fillRect/>
          </a:stretch>
        </p:blipFill>
        <p:spPr>
          <a:xfrm>
            <a:off x="8293607" y="1938528"/>
            <a:ext cx="3300984" cy="2057400"/>
          </a:xfrm>
          <a:prstGeom prst="rect">
            <a:avLst/>
          </a:prstGeom>
        </p:spPr>
      </p:pic>
      <p:sp>
        <p:nvSpPr>
          <p:cNvPr id="24" name="Rectangle 23"/>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商業情境視覺：公司治理就像精密的雙向天平——一端要監督與激勵職業經理人（經理治理），另一端要制衡控股大股東保護中小股東（股東治理）。</a:t>
            </a:r>
          </a:p>
        </p:txBody>
      </p:sp>
      <p:sp>
        <p:nvSpPr>
          <p:cNvPr id="27" name="Rectangle 26"/>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30" name="TextBox 2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公司制度雖然好，但天生有兩個大毛病：第一，股東人太多，只好花錢請專業的「職業經理人」來管（這叫所有權與經營權分離），但經理人花的是別人的錢，可能會偷懶、亂花錢甚…</a:t>
            </a:r>
          </a:p>
        </p:txBody>
      </p:sp>
      <p:sp>
        <p:nvSpPr>
          <p:cNvPr id="31" name="Rectangle 30"/>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進階架構：【雙重代理風險 × 監督激勵平衡】治理二元張力模型</a:t>
            </a:r>
          </a:p>
        </p:txBody>
      </p:sp>
      <p:sp>
        <p:nvSpPr>
          <p:cNvPr id="34" name="TextBox 3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企業史學家錢德勒（Alfred Chandler）稱職業經理人階層的崛起為「經理革命」。進階治理者必須同時解開兩道方程式：① 對經理人：如何在降低代理成…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模組一：治理認知模型   ｜   版型 4：連鎖論法 (Chain / Flow)   ｜   知識庫 #004</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650" b="1">
                <a:solidFill>
                  <a:srgbClr val="2D1054"/>
                </a:solidFill>
                <a:latin typeface="Microsoft JhengHei"/>
              </a:rPr>
              <a:t>① 主張：隨著企業規模擴大與陌生股東加入，公司必須從「人際信任」演進為「制度信任」才能維持長期合作</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從德雲社師徒決裂看懂治理錯位：初創期靠熟人情義省成本，擴張期靠公開、公平、可執行的制度保長遠</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劉松博《公司治理30講》03 講 ｜ 知識庫條目 #004 ｜ Accenture Sequential Spectrum Style  ｜  關鍵字：人際信任 / 制度信任 / 德雲社 / 郭德綱 / 曹雲金 / 有限責任公司 / 股份有限公司 / 人合 / 資合</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6 / 42</a:t>
            </a:r>
          </a:p>
        </p:txBody>
      </p:sp>
      <p:sp>
        <p:nvSpPr>
          <p:cNvPr id="10" name="Rectangle 9"/>
          <p:cNvSpPr/>
          <p:nvPr/>
        </p:nvSpPr>
        <p:spPr>
          <a:xfrm>
            <a:off x="502920" y="1572768"/>
            <a:ext cx="7498079" cy="1524000"/>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1234440" cy="1524000"/>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 y="1572768"/>
            <a:ext cx="1161288" cy="1524000"/>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1</a:t>
            </a:r>
          </a:p>
        </p:txBody>
      </p:sp>
      <p:sp>
        <p:nvSpPr>
          <p:cNvPr id="13" name="TextBox 12"/>
          <p:cNvSpPr txBox="1"/>
          <p:nvPr/>
        </p:nvSpPr>
        <p:spPr>
          <a:xfrm>
            <a:off x="1865376" y="1627632"/>
            <a:ext cx="6044183" cy="274320"/>
          </a:xfrm>
          <a:prstGeom prst="rect">
            <a:avLst/>
          </a:prstGeom>
          <a:noFill/>
        </p:spPr>
        <p:txBody>
          <a:bodyPr wrap="square" anchor="t" lIns="54864" rIns="54864" tIns="36576" bIns="36576">
            <a:spAutoFit/>
          </a:bodyPr>
          <a:lstStyle/>
          <a:p>
            <a:pPr algn="l">
              <a:lnSpc>
                <a:spcPct val="118000"/>
              </a:lnSpc>
            </a:pPr>
          </a:p>
        </p:txBody>
      </p:sp>
      <p:sp>
        <p:nvSpPr>
          <p:cNvPr id="14" name="TextBox 13"/>
          <p:cNvSpPr txBox="1"/>
          <p:nvPr/>
        </p:nvSpPr>
        <p:spPr>
          <a:xfrm>
            <a:off x="1865376" y="1901952"/>
            <a:ext cx="6044183" cy="1158240"/>
          </a:xfrm>
          <a:prstGeom prst="rect">
            <a:avLst/>
          </a:prstGeom>
          <a:noFill/>
        </p:spPr>
        <p:txBody>
          <a:bodyPr wrap="square" anchor="t" lIns="54864" rIns="54864" tIns="36576" bIns="36576">
            <a:spAutoFit/>
          </a:bodyPr>
          <a:lstStyle/>
          <a:p>
            <a:pPr algn="l">
              <a:lnSpc>
                <a:spcPct val="114000"/>
              </a:lnSpc>
            </a:pPr>
          </a:p>
        </p:txBody>
      </p:sp>
      <p:sp>
        <p:nvSpPr>
          <p:cNvPr id="15" name="Rectangle 14"/>
          <p:cNvSpPr/>
          <p:nvPr/>
        </p:nvSpPr>
        <p:spPr>
          <a:xfrm>
            <a:off x="502920" y="3197352"/>
            <a:ext cx="7498079" cy="1524000"/>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197352"/>
            <a:ext cx="1234440" cy="1524000"/>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3197352"/>
            <a:ext cx="1161288" cy="1524000"/>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2</a:t>
            </a:r>
          </a:p>
        </p:txBody>
      </p:sp>
      <p:sp>
        <p:nvSpPr>
          <p:cNvPr id="18" name="TextBox 17"/>
          <p:cNvSpPr txBox="1"/>
          <p:nvPr/>
        </p:nvSpPr>
        <p:spPr>
          <a:xfrm>
            <a:off x="1865376" y="3252216"/>
            <a:ext cx="6044183" cy="274320"/>
          </a:xfrm>
          <a:prstGeom prst="rect">
            <a:avLst/>
          </a:prstGeom>
          <a:noFill/>
        </p:spPr>
        <p:txBody>
          <a:bodyPr wrap="square" anchor="t" lIns="54864" rIns="54864" tIns="36576" bIns="36576">
            <a:spAutoFit/>
          </a:bodyPr>
          <a:lstStyle/>
          <a:p>
            <a:pPr algn="l">
              <a:lnSpc>
                <a:spcPct val="118000"/>
              </a:lnSpc>
            </a:pPr>
          </a:p>
        </p:txBody>
      </p:sp>
      <p:sp>
        <p:nvSpPr>
          <p:cNvPr id="19" name="TextBox 18"/>
          <p:cNvSpPr txBox="1"/>
          <p:nvPr/>
        </p:nvSpPr>
        <p:spPr>
          <a:xfrm>
            <a:off x="1865376" y="3526536"/>
            <a:ext cx="6044183" cy="1158240"/>
          </a:xfrm>
          <a:prstGeom prst="rect">
            <a:avLst/>
          </a:prstGeom>
          <a:noFill/>
        </p:spPr>
        <p:txBody>
          <a:bodyPr wrap="square" anchor="t" lIns="54864" rIns="54864" tIns="36576" bIns="36576">
            <a:spAutoFit/>
          </a:bodyPr>
          <a:lstStyle/>
          <a:p>
            <a:pPr algn="l">
              <a:lnSpc>
                <a:spcPct val="114000"/>
              </a:lnSpc>
            </a:pPr>
          </a:p>
        </p:txBody>
      </p:sp>
      <p:sp>
        <p:nvSpPr>
          <p:cNvPr id="20" name="Rectangle 19"/>
          <p:cNvSpPr/>
          <p:nvPr/>
        </p:nvSpPr>
        <p:spPr>
          <a:xfrm>
            <a:off x="502920" y="4821936"/>
            <a:ext cx="7498079" cy="1524000"/>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821936"/>
            <a:ext cx="1234440" cy="1524000"/>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 y="4821936"/>
            <a:ext cx="1161288" cy="1524000"/>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3</a:t>
            </a:r>
          </a:p>
        </p:txBody>
      </p:sp>
      <p:sp>
        <p:nvSpPr>
          <p:cNvPr id="23" name="TextBox 22"/>
          <p:cNvSpPr txBox="1"/>
          <p:nvPr/>
        </p:nvSpPr>
        <p:spPr>
          <a:xfrm>
            <a:off x="1865376" y="4876800"/>
            <a:ext cx="6044183" cy="274320"/>
          </a:xfrm>
          <a:prstGeom prst="rect">
            <a:avLst/>
          </a:prstGeom>
          <a:noFill/>
        </p:spPr>
        <p:txBody>
          <a:bodyPr wrap="square" anchor="t" lIns="54864" rIns="54864" tIns="36576" bIns="36576">
            <a:spAutoFit/>
          </a:bodyPr>
          <a:lstStyle/>
          <a:p>
            <a:pPr algn="l">
              <a:lnSpc>
                <a:spcPct val="118000"/>
              </a:lnSpc>
            </a:pPr>
          </a:p>
        </p:txBody>
      </p:sp>
      <p:sp>
        <p:nvSpPr>
          <p:cNvPr id="24" name="TextBox 23"/>
          <p:cNvSpPr txBox="1"/>
          <p:nvPr/>
        </p:nvSpPr>
        <p:spPr>
          <a:xfrm>
            <a:off x="1865376" y="5151120"/>
            <a:ext cx="6044183" cy="1158240"/>
          </a:xfrm>
          <a:prstGeom prst="rect">
            <a:avLst/>
          </a:prstGeom>
          <a:noFill/>
        </p:spPr>
        <p:txBody>
          <a:bodyPr wrap="square" anchor="t" lIns="54864" rIns="54864" tIns="36576" bIns="36576">
            <a:spAutoFit/>
          </a:bodyPr>
          <a:lstStyle/>
          <a:p>
            <a:pPr algn="l">
              <a:lnSpc>
                <a:spcPct val="114000"/>
              </a:lnSpc>
            </a:pPr>
          </a:p>
        </p:txBody>
      </p:sp>
      <p:sp>
        <p:nvSpPr>
          <p:cNvPr id="25" name="Rectangle 24"/>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8" name="Picture 27" descr="topic_03.jpg_160.jpg"/>
          <p:cNvPicPr>
            <a:picLocks noChangeAspect="1"/>
          </p:cNvPicPr>
          <p:nvPr/>
        </p:nvPicPr>
        <p:blipFill>
          <a:blip r:embed="rId2"/>
          <a:stretch>
            <a:fillRect/>
          </a:stretch>
        </p:blipFill>
        <p:spPr>
          <a:xfrm>
            <a:off x="8293607" y="1938528"/>
            <a:ext cx="3300984" cy="2057400"/>
          </a:xfrm>
          <a:prstGeom prst="rect">
            <a:avLst/>
          </a:prstGeom>
        </p:spPr>
      </p:pic>
      <p:sp>
        <p:nvSpPr>
          <p:cNvPr id="29" name="Rectangle 28"/>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商業情境視覺：熟人握手代表「人際信任」，而契約、章程與法規代表「制度信任」。制度信任不是為了消滅人情，而是為了讓陌生人之間也能建立人際信任。</a:t>
            </a:r>
          </a:p>
        </p:txBody>
      </p:sp>
      <p:sp>
        <p:nvSpPr>
          <p:cNvPr id="32" name="Rectangle 31"/>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35" name="TextBox 3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為什麼幾萬個素昧平生的股民，敢把錢投給同一家上市公司？因為信任分為兩種：一種叫「人際信任」（因為你是我親戚、老同學，所以我信你）；另一種叫「制度信任」（我不認識…</a:t>
            </a:r>
          </a:p>
        </p:txBody>
      </p:sp>
      <p:sp>
        <p:nvSpPr>
          <p:cNvPr id="36" name="Rectangle 35"/>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進階架構：【人合 ➔ 資合】信任機制動態轉換光譜</a:t>
            </a:r>
          </a:p>
        </p:txBody>
      </p:sp>
      <p:sp>
        <p:nvSpPr>
          <p:cNvPr id="39" name="TextBox 3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許多企業死於「治理錯配」：① 規模已經很大、引進了外部投資人與職業團隊，老闆卻還想用「家文化、講義氣」代替股權與契約（制度信任不足）；② 剛創業只有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模組二：股東治理   ｜   版型 3：結合論法 (Combined Tree)   ｜   知識庫 #005</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主張：股權不是單一權利，而是因應「不完全契約」而生的權利束，核心在於「剩餘索取權」與「剩餘控制權」的對等匹配</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從海底撈張勇向施永宏索回 18% 股權案例，看懂為什麼出資、分紅、風險與最終拍板權必須動態一致</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劉松博《公司治理30講》04 講 ｜ 知識庫條目 #005 ｜ McKinsey First-Principles Tree  ｜  關鍵字：股權 / 不完全契約 / 哈特 / 剩餘索取權 / 剩餘控制權 / 海底撈 / 張勇 / 施永宏 / 一票否決權</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7 / 42</a:t>
            </a:r>
          </a:p>
        </p:txBody>
      </p:sp>
      <p:sp>
        <p:nvSpPr>
          <p:cNvPr id="10" name="Rectangle 9"/>
          <p:cNvSpPr/>
          <p:nvPr/>
        </p:nvSpPr>
        <p:spPr>
          <a:xfrm>
            <a:off x="502920"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核心雙權（不完全契約下的制度安排）</a:t>
            </a:r>
          </a:p>
        </p:txBody>
      </p:sp>
      <p:sp>
        <p:nvSpPr>
          <p:cNvPr id="13" name="TextBox 12"/>
          <p:cNvSpPr txBox="1"/>
          <p:nvPr/>
        </p:nvSpPr>
        <p:spPr>
          <a:xfrm>
            <a:off x="594360"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4" name="Rectangle 13"/>
          <p:cNvSpPr/>
          <p:nvPr/>
        </p:nvSpPr>
        <p:spPr>
          <a:xfrm>
            <a:off x="4315967"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關鍵持股門檻與法定股東權利束</a:t>
            </a:r>
          </a:p>
        </p:txBody>
      </p:sp>
      <p:sp>
        <p:nvSpPr>
          <p:cNvPr id="17" name="TextBox 16"/>
          <p:cNvSpPr txBox="1"/>
          <p:nvPr/>
        </p:nvSpPr>
        <p:spPr>
          <a:xfrm>
            <a:off x="4407407"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8" name="Rounded Rectangle 17"/>
          <p:cNvSpPr/>
          <p:nvPr/>
        </p:nvSpPr>
        <p:spPr>
          <a:xfrm>
            <a:off x="502920" y="5330952"/>
            <a:ext cx="7498079" cy="101498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404104"/>
            <a:ext cx="7168895" cy="868680"/>
          </a:xfrm>
          <a:prstGeom prst="rect">
            <a:avLst/>
          </a:prstGeom>
          <a:noFill/>
        </p:spPr>
        <p:txBody>
          <a:bodyPr wrap="square" anchor="ctr" lIns="54864" rIns="54864" tIns="36576" bIns="36576">
            <a:spAutoFit/>
          </a:bodyPr>
          <a:lstStyle/>
          <a:p>
            <a:pPr algn="l">
              <a:lnSpc>
                <a:spcPct val="118000"/>
              </a:lnSpc>
            </a:pPr>
            <a:r>
              <a:rPr sz="1019" b="1">
                <a:solidFill>
                  <a:srgbClr val="FFFFFF"/>
                </a:solidFill>
                <a:latin typeface="Microsoft JhengHei"/>
              </a:rPr>
              <a:t>🎯 結合型核心綜效：</a:t>
            </a:r>
          </a:p>
        </p:txBody>
      </p:sp>
      <p:sp>
        <p:nvSpPr>
          <p:cNvPr id="20" name="Rectangle 19"/>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3" name="Picture 22" descr="topic_04.jpg_160.jpg"/>
          <p:cNvPicPr>
            <a:picLocks noChangeAspect="1"/>
          </p:cNvPicPr>
          <p:nvPr/>
        </p:nvPicPr>
        <p:blipFill>
          <a:blip r:embed="rId2"/>
          <a:stretch>
            <a:fillRect/>
          </a:stretch>
        </p:blipFill>
        <p:spPr>
          <a:xfrm>
            <a:off x="8293607" y="1938528"/>
            <a:ext cx="3300984" cy="2057400"/>
          </a:xfrm>
          <a:prstGeom prst="rect">
            <a:avLst/>
          </a:prstGeom>
        </p:spPr>
      </p:pic>
      <p:sp>
        <p:nvSpPr>
          <p:cNvPr id="24" name="Rectangle 23"/>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商業情境視覺：股權並非只是一張分紅憑證，而是一整束包含「剩餘索取權、剩餘控制權、知情權、提案權與風險承擔」的頂層契約權利束。</a:t>
            </a:r>
          </a:p>
        </p:txBody>
      </p:sp>
      <p:sp>
        <p:nvSpPr>
          <p:cNvPr id="27" name="Rectangle 26"/>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30" name="TextBox 2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為什麼員工領死薪水、銀行領固定利息，只有「股東」能管理公司並拿走大筆利潤？諾貝爾經濟學獎得主哈特（Oliver Hart）用「不完全契約」解釋：公司未來會遇到什…</a:t>
            </a:r>
          </a:p>
        </p:txBody>
      </p:sp>
      <p:sp>
        <p:nvSpPr>
          <p:cNvPr id="31" name="Rectangle 30"/>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進階架構：【剩餘控制權 ↔ 剩餘索取權】對等匹配第一性原理</a:t>
            </a:r>
          </a:p>
        </p:txBody>
      </p:sp>
      <p:sp>
        <p:nvSpPr>
          <p:cNvPr id="34" name="TextBox 3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這是貫穿《公司治理 30 講》全書最重要的第一性原理！只要一家公司的「剩餘控制權（誰掌握決策大權）」與「剩餘索取權（誰享受利潤、承擔虧損）」發生嚴重背離…</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模組二：股東治理   ｜   版型 2：並列論法 (Parallel)   ｜   知識庫 #006</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2D1054"/>
                </a:solidFill>
                <a:latin typeface="Microsoft JhengHei"/>
              </a:rPr>
              <a:t>① 主張：朋友可以作為創業合夥的起點，但必須同時通過「AIV 三維模型（情感・認同・價值）」檢驗並建立退出規則</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打破《中國合夥人》「千萬別跟好朋友合夥」的迷思，用攜程四君子標竿案例拆解合夥人長久共事的三大支柱</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劉松博《公司治理30講》05 講 ｜ 知識庫條目 #006 ｜ Accenture Three-Pillar Bento Style  ｜  關鍵字：創業合夥人 / AIV模型 / 攜程四君子 / 沈南鵬 / 梁建章 / 季琦 / 中國合夥人 / 新東方</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8 / 42</a:t>
            </a:r>
          </a:p>
        </p:txBody>
      </p:sp>
      <p:sp>
        <p:nvSpPr>
          <p:cNvPr id="10" name="Rectangle 9"/>
          <p:cNvSpPr/>
          <p:nvPr/>
        </p:nvSpPr>
        <p:spPr>
          <a:xfrm>
            <a:off x="502920"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1</a:t>
            </a:r>
          </a:p>
        </p:txBody>
      </p:sp>
      <p:sp>
        <p:nvSpPr>
          <p:cNvPr id="14" name="TextBox 13"/>
          <p:cNvSpPr txBox="1"/>
          <p:nvPr/>
        </p:nvSpPr>
        <p:spPr>
          <a:xfrm>
            <a:off x="612648"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② 支柱 A：Affection（情感連結）</a:t>
            </a:r>
          </a:p>
        </p:txBody>
      </p:sp>
      <p:sp>
        <p:nvSpPr>
          <p:cNvPr id="15" name="TextBox 14"/>
          <p:cNvSpPr txBox="1"/>
          <p:nvPr/>
        </p:nvSpPr>
        <p:spPr>
          <a:xfrm>
            <a:off x="612648"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16" name="Rectangle 15"/>
          <p:cNvSpPr/>
          <p:nvPr/>
        </p:nvSpPr>
        <p:spPr>
          <a:xfrm>
            <a:off x="4334255"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4255"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3"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3"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2</a:t>
            </a:r>
          </a:p>
        </p:txBody>
      </p:sp>
      <p:sp>
        <p:nvSpPr>
          <p:cNvPr id="20" name="TextBox 19"/>
          <p:cNvSpPr txBox="1"/>
          <p:nvPr/>
        </p:nvSpPr>
        <p:spPr>
          <a:xfrm>
            <a:off x="4443983"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③ 支柱 I：Identification（理念認同）</a:t>
            </a:r>
          </a:p>
        </p:txBody>
      </p:sp>
      <p:sp>
        <p:nvSpPr>
          <p:cNvPr id="21" name="TextBox 20"/>
          <p:cNvSpPr txBox="1"/>
          <p:nvPr/>
        </p:nvSpPr>
        <p:spPr>
          <a:xfrm>
            <a:off x="4443983"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22" name="Rectangle 21"/>
          <p:cNvSpPr/>
          <p:nvPr/>
        </p:nvSpPr>
        <p:spPr>
          <a:xfrm>
            <a:off x="502920" y="404164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4164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 y="416966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16966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3</a:t>
            </a:r>
          </a:p>
        </p:txBody>
      </p:sp>
      <p:sp>
        <p:nvSpPr>
          <p:cNvPr id="26" name="TextBox 25"/>
          <p:cNvSpPr txBox="1"/>
          <p:nvPr/>
        </p:nvSpPr>
        <p:spPr>
          <a:xfrm>
            <a:off x="612648" y="446227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④ 支柱 V：Value（互補價值貢獻）</a:t>
            </a:r>
          </a:p>
        </p:txBody>
      </p:sp>
      <p:sp>
        <p:nvSpPr>
          <p:cNvPr id="27" name="TextBox 26"/>
          <p:cNvSpPr txBox="1"/>
          <p:nvPr/>
        </p:nvSpPr>
        <p:spPr>
          <a:xfrm>
            <a:off x="612648" y="4864608"/>
            <a:ext cx="3447287" cy="1408176"/>
          </a:xfrm>
          <a:prstGeom prst="rect">
            <a:avLst/>
          </a:prstGeom>
          <a:noFill/>
        </p:spPr>
        <p:txBody>
          <a:bodyPr wrap="square" anchor="t" lIns="54864" rIns="54864" tIns="36576" bIns="36576">
            <a:spAutoFit/>
          </a:bodyPr>
          <a:lstStyle/>
          <a:p>
            <a:pPr algn="l">
              <a:lnSpc>
                <a:spcPct val="118000"/>
              </a:lnSpc>
            </a:pPr>
          </a:p>
        </p:txBody>
      </p:sp>
      <p:sp>
        <p:nvSpPr>
          <p:cNvPr id="28" name="Rectangle 27"/>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1" name="Picture 30" descr="topic_05.jpg_160.jpg"/>
          <p:cNvPicPr>
            <a:picLocks noChangeAspect="1"/>
          </p:cNvPicPr>
          <p:nvPr/>
        </p:nvPicPr>
        <p:blipFill>
          <a:blip r:embed="rId2"/>
          <a:stretch>
            <a:fillRect/>
          </a:stretch>
        </p:blipFill>
        <p:spPr>
          <a:xfrm>
            <a:off x="8293607" y="1938528"/>
            <a:ext cx="3300984" cy="2057400"/>
          </a:xfrm>
          <a:prstGeom prst="rect">
            <a:avLst/>
          </a:prstGeom>
        </p:spPr>
      </p:pic>
      <p:sp>
        <p:nvSpPr>
          <p:cNvPr id="32" name="Rectangle 31"/>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商業情境視覺：優秀的創業合夥團隊就像交響樂團的不同聲部——既有深厚信任（A）與共同樂譜（I），更有不可替代的互補專長（V）。</a:t>
            </a:r>
          </a:p>
        </p:txBody>
      </p:sp>
      <p:sp>
        <p:nvSpPr>
          <p:cNvPr id="35" name="Rectangle 34"/>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38" name="TextBox 37"/>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電影《中國合夥人》說「千萬別跟最好的朋友合夥開公司」，但現實中騰訊、新東方、攜程全都是朋友合夥創辦的！劉松博教授指出：跟朋友合夥完全沒問題（因為有信任基礎），但…</a:t>
            </a:r>
          </a:p>
        </p:txBody>
      </p:sp>
      <p:sp>
        <p:nvSpPr>
          <p:cNvPr id="39" name="Rectangle 38"/>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進階架構：【AIV 動態演化 × 契約前置】合夥治理模型</a:t>
            </a:r>
          </a:p>
        </p:txBody>
      </p:sp>
      <p:sp>
        <p:nvSpPr>
          <p:cNvPr id="42" name="TextBox 41"/>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進階創業者必須認識到 A、I、V 三個變數都是「時間的函數」：創業第 1 年滿分的合夥人，到了第 5 年可能因財富自由而喪失奮鬥欲（I 下降）、或能力跟…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模組二：股東治理   ｜   版型 5：麥肯錫論法 (McKinsey Matrix)   ｜   知識庫 #007</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主張：健康的股權架構必須避開「均分、混淆股東角色、過早分完」三大雷區，並導入動態成熟（Vesting）與退出機制</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從愛多 VCD 胡志標與陳天南 45%:45% 股權內鬥悲劇，建立「誰主導、誰出力、如何退」的頂層股權制度</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劉松博《公司治理30講》06 講 ｜ 知識庫條目 #007 ｜ McKinsey Problem-Solution Matrix  ｜  關鍵字：股權架構 / 平均分配 / 愛多VCD / 胡志標 / 陳天南 / 分批成熟 / Vesting / 管理股東 / 投資股東 / 退出機制</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9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雷區 1：平均分配股權</a:t>
            </a:r>
          </a:p>
          <a:p>
            <a:pPr algn="ctr">
              <a:lnSpc>
                <a:spcPct val="118000"/>
              </a:lnSpc>
            </a:pPr>
            <a:r>
              <a:rPr sz="919" b="1">
                <a:solidFill>
                  <a:srgbClr val="FFFFFF"/>
                </a:solidFill>
                <a:latin typeface="Microsoft JhengHei"/>
              </a:rPr>
              <a:t>（如 50:50 或 33:33:33）</a:t>
            </a:r>
          </a:p>
        </p:txBody>
      </p:sp>
      <p:sp>
        <p:nvSpPr>
          <p:cNvPr id="14" name="Chevron 13"/>
          <p:cNvSpPr/>
          <p:nvPr/>
        </p:nvSpPr>
        <p:spPr>
          <a:xfrm>
            <a:off x="3855719"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8871"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雷區 2：混淆管理股東與投資股東</a:t>
            </a:r>
          </a:p>
          <a:p>
            <a:pPr algn="ctr">
              <a:lnSpc>
                <a:spcPct val="118000"/>
              </a:lnSpc>
            </a:pPr>
            <a:r>
              <a:rPr sz="919" b="1">
                <a:solidFill>
                  <a:srgbClr val="FFFFFF"/>
                </a:solidFill>
                <a:latin typeface="Microsoft JhengHei"/>
              </a:rPr>
              <a:t>（只按出資額分股）</a:t>
            </a:r>
          </a:p>
        </p:txBody>
      </p:sp>
      <p:sp>
        <p:nvSpPr>
          <p:cNvPr id="16" name="Chevron 15"/>
          <p:cNvSpPr/>
          <p:nvPr/>
        </p:nvSpPr>
        <p:spPr>
          <a:xfrm>
            <a:off x="5964935"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8087"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雷區 3：過早一次性分完股權</a:t>
            </a:r>
          </a:p>
          <a:p>
            <a:pPr algn="ctr">
              <a:lnSpc>
                <a:spcPct val="118000"/>
              </a:lnSpc>
            </a:pPr>
            <a:r>
              <a:rPr sz="919" b="1">
                <a:solidFill>
                  <a:srgbClr val="FFFFFF"/>
                </a:solidFill>
                <a:latin typeface="Microsoft JhengHei"/>
              </a:rPr>
              <a:t>（無預留與動態調整）</a:t>
            </a:r>
          </a:p>
        </p:txBody>
      </p:sp>
      <p:sp>
        <p:nvSpPr>
          <p:cNvPr id="18" name="Rectangle 17"/>
          <p:cNvSpPr/>
          <p:nvPr/>
        </p:nvSpPr>
        <p:spPr>
          <a:xfrm>
            <a:off x="502920" y="2249424"/>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2249424"/>
            <a:ext cx="1060704" cy="2002536"/>
          </a:xfrm>
          <a:prstGeom prst="rect">
            <a:avLst/>
          </a:prstGeom>
          <a:noFill/>
        </p:spPr>
        <p:txBody>
          <a:bodyPr wrap="square" anchor="ctr" lIns="54864" rIns="54864" tIns="36576" bIns="36576">
            <a:spAutoFit/>
          </a:bodyPr>
          <a:lstStyle/>
          <a:p>
            <a:pPr algn="ctr">
              <a:lnSpc>
                <a:spcPct val="118000"/>
              </a:lnSpc>
            </a:pPr>
          </a:p>
        </p:txBody>
      </p:sp>
      <p:sp>
        <p:nvSpPr>
          <p:cNvPr id="20" name="Rectangle 19"/>
          <p:cNvSpPr/>
          <p:nvPr/>
        </p:nvSpPr>
        <p:spPr>
          <a:xfrm>
            <a:off x="1746504"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19656"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缺乏最終拍板者，決策陷入僵局；且出力最多的主導者深感不公（如愛多 VCD 胡志標與陳天南各持 45% 最終雙輸破產）</a:t>
            </a:r>
          </a:p>
        </p:txBody>
      </p:sp>
      <p:sp>
        <p:nvSpPr>
          <p:cNvPr id="22" name="Rectangle 21"/>
          <p:cNvSpPr/>
          <p:nvPr/>
        </p:nvSpPr>
        <p:spPr>
          <a:xfrm>
            <a:off x="3855719"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8871"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只出錢不出力的人拿大股，全職拚命的創始團隊拿小股，違背「控制權與索取權對等原則」，團隊迅速喪失動力</a:t>
            </a:r>
          </a:p>
        </p:txBody>
      </p:sp>
      <p:sp>
        <p:nvSpPr>
          <p:cNvPr id="24" name="Rectangle 23"/>
          <p:cNvSpPr/>
          <p:nvPr/>
        </p:nvSpPr>
        <p:spPr>
          <a:xfrm>
            <a:off x="5964935"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8087"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合夥人中途離職或貢獻不達預期，卻帶走大筆「死股（乾股）」，新進核心人才反而無股可分</a:t>
            </a:r>
          </a:p>
        </p:txBody>
      </p:sp>
      <p:sp>
        <p:nvSpPr>
          <p:cNvPr id="26" name="Rectangle 25"/>
          <p:cNvSpPr/>
          <p:nvPr/>
        </p:nvSpPr>
        <p:spPr>
          <a:xfrm>
            <a:off x="502920" y="4343400"/>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 y="4343400"/>
            <a:ext cx="1060704" cy="2002536"/>
          </a:xfrm>
          <a:prstGeom prst="rect">
            <a:avLst/>
          </a:prstGeom>
          <a:noFill/>
        </p:spPr>
        <p:txBody>
          <a:bodyPr wrap="square" anchor="ctr" lIns="54864" rIns="54864" tIns="36576" bIns="36576">
            <a:spAutoFit/>
          </a:bodyPr>
          <a:lstStyle/>
          <a:p>
            <a:pPr algn="ctr">
              <a:lnSpc>
                <a:spcPct val="118000"/>
              </a:lnSpc>
            </a:pPr>
          </a:p>
        </p:txBody>
      </p:sp>
      <p:sp>
        <p:nvSpPr>
          <p:cNvPr id="28" name="Rectangle 27"/>
          <p:cNvSpPr/>
          <p:nvPr/>
        </p:nvSpPr>
        <p:spPr>
          <a:xfrm>
            <a:off x="1746504"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19656"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確立唯一帶頭大哥（核心創始人持股宜 &gt;50% 或搭配表決權安排），形成「一超多強」清晰梯隊</a:t>
            </a:r>
          </a:p>
        </p:txBody>
      </p:sp>
      <p:sp>
        <p:nvSpPr>
          <p:cNvPr id="30" name="Rectangle 29"/>
          <p:cNvSpPr/>
          <p:nvPr/>
        </p:nvSpPr>
        <p:spPr>
          <a:xfrm>
            <a:off x="3855719"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8871"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人力資本（智力股／經營股）定價入股，或透過有限責任公司章程約定「不按出資比例分紅與表決」</a:t>
            </a:r>
          </a:p>
        </p:txBody>
      </p:sp>
      <p:sp>
        <p:nvSpPr>
          <p:cNvPr id="32" name="Rectangle 31"/>
          <p:cNvSpPr/>
          <p:nvPr/>
        </p:nvSpPr>
        <p:spPr>
          <a:xfrm>
            <a:off x="5964935"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8087"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導入【分批成熟機制 (Vesting，如 4 年分批兌現)】＋ 預留期權池 ＋ 簽署【離職回購退出協議】</a:t>
            </a:r>
          </a:p>
        </p:txBody>
      </p:sp>
      <p:sp>
        <p:nvSpPr>
          <p:cNvPr id="34" name="Rectangle 33"/>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7" name="Picture 36" descr="topic_06.jpg_160.jpg"/>
          <p:cNvPicPr>
            <a:picLocks noChangeAspect="1"/>
          </p:cNvPicPr>
          <p:nvPr/>
        </p:nvPicPr>
        <p:blipFill>
          <a:blip r:embed="rId2"/>
          <a:stretch>
            <a:fillRect/>
          </a:stretch>
        </p:blipFill>
        <p:spPr>
          <a:xfrm>
            <a:off x="8293607" y="1938528"/>
            <a:ext cx="3300984" cy="2057400"/>
          </a:xfrm>
          <a:prstGeom prst="rect">
            <a:avLst/>
          </a:prstGeom>
        </p:spPr>
      </p:pic>
      <p:sp>
        <p:nvSpPr>
          <p:cNvPr id="38" name="Rectangle 37"/>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商業情境視覺：股權架構如同西洋棋局的開局布陣——王（核心創始人）的位置必須絕對穩固，若出現兩個王（50:50 均分），棋局必在關鍵時刻陷入死鎖。</a:t>
            </a:r>
          </a:p>
        </p:txBody>
      </p:sp>
      <p:sp>
        <p:nvSpPr>
          <p:cNvPr id="41" name="Rectangle 40"/>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4" name="TextBox 43"/>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創業分股權最常見的死法就是「哥倆好，一人一半（50:50）」或「三兄弟各三分之一」！看起來最公平，其實最要命：第一，意見不合時誰也說服不了誰，公司直接卡死；第二…</a:t>
            </a:r>
          </a:p>
        </p:txBody>
      </p:sp>
      <p:sp>
        <p:nvSpPr>
          <p:cNvPr id="45" name="Rectangle 44"/>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進階架構：【一超多強 × 動態成熟 (Vesting) × 閉環回購】股權防雷矩陣</a:t>
            </a:r>
          </a:p>
        </p:txBody>
      </p:sp>
      <p:sp>
        <p:nvSpPr>
          <p:cNvPr id="48" name="TextBox 47"/>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根據第 04 講的「對等原則」，人力資本在知識經濟時代往往比初始貨幣資本更能創造企業剩餘價值。因此股權架構必須是「動態契約」而非「靜態快照」：透過頂層差…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模組二：股東治理   ｜   版型 2：並列論法 (Parallel)   ｜   知識庫 #008</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650" b="1">
                <a:solidFill>
                  <a:srgbClr val="2D1054"/>
                </a:solidFill>
                <a:latin typeface="Microsoft JhengHei"/>
              </a:rPr>
              <a:t>① 主張：創始人防止融資後被踢出局，必須綜合運用「股權、關鍵資源、持股架構、章程協議」四大控制權防線</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從雷士照明吳長江、國美黃光裕到馬雲合夥人架構，拆解持股低於 50% 仍能牢牢掌握公司主導權的實戰工具</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劉松博《公司治理30講》07 講 ｜ 知識庫條目 #008 ｜ Accenture Strategic Defense Cards  ｜  關鍵字：控制權 / 雷士照明 / 吳長江 / 有限合夥 / GP / LP / 一致行動人 / 表決權委託 / 公司章程 / 金字塔持股</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10 / 42</a:t>
            </a:r>
          </a:p>
        </p:txBody>
      </p:sp>
      <p:sp>
        <p:nvSpPr>
          <p:cNvPr id="10" name="Rectangle 9"/>
          <p:cNvSpPr/>
          <p:nvPr/>
        </p:nvSpPr>
        <p:spPr>
          <a:xfrm>
            <a:off x="502920"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1</a:t>
            </a:r>
          </a:p>
        </p:txBody>
      </p:sp>
      <p:sp>
        <p:nvSpPr>
          <p:cNvPr id="14" name="TextBox 13"/>
          <p:cNvSpPr txBox="1"/>
          <p:nvPr/>
        </p:nvSpPr>
        <p:spPr>
          <a:xfrm>
            <a:off x="612648"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② 防線 1 &amp; 2：股權控制 ＋ 關鍵資源控制</a:t>
            </a:r>
          </a:p>
        </p:txBody>
      </p:sp>
      <p:sp>
        <p:nvSpPr>
          <p:cNvPr id="15" name="TextBox 14"/>
          <p:cNvSpPr txBox="1"/>
          <p:nvPr/>
        </p:nvSpPr>
        <p:spPr>
          <a:xfrm>
            <a:off x="612648"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16" name="Rectangle 15"/>
          <p:cNvSpPr/>
          <p:nvPr/>
        </p:nvSpPr>
        <p:spPr>
          <a:xfrm>
            <a:off x="4334255"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4255"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3"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3"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2</a:t>
            </a:r>
          </a:p>
        </p:txBody>
      </p:sp>
      <p:sp>
        <p:nvSpPr>
          <p:cNvPr id="20" name="TextBox 19"/>
          <p:cNvSpPr txBox="1"/>
          <p:nvPr/>
        </p:nvSpPr>
        <p:spPr>
          <a:xfrm>
            <a:off x="4443983"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③ 防線 3：持股架構控制（金字塔／有限合夥）</a:t>
            </a:r>
          </a:p>
        </p:txBody>
      </p:sp>
      <p:sp>
        <p:nvSpPr>
          <p:cNvPr id="21" name="TextBox 20"/>
          <p:cNvSpPr txBox="1"/>
          <p:nvPr/>
        </p:nvSpPr>
        <p:spPr>
          <a:xfrm>
            <a:off x="4443983"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22" name="Rectangle 21"/>
          <p:cNvSpPr/>
          <p:nvPr/>
        </p:nvSpPr>
        <p:spPr>
          <a:xfrm>
            <a:off x="502920" y="404164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4164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 y="416966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16966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3</a:t>
            </a:r>
          </a:p>
        </p:txBody>
      </p:sp>
      <p:sp>
        <p:nvSpPr>
          <p:cNvPr id="26" name="TextBox 25"/>
          <p:cNvSpPr txBox="1"/>
          <p:nvPr/>
        </p:nvSpPr>
        <p:spPr>
          <a:xfrm>
            <a:off x="612648" y="446227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④ 防線 4：協議與章程控制（制度防火牆）</a:t>
            </a:r>
          </a:p>
        </p:txBody>
      </p:sp>
      <p:sp>
        <p:nvSpPr>
          <p:cNvPr id="27" name="TextBox 26"/>
          <p:cNvSpPr txBox="1"/>
          <p:nvPr/>
        </p:nvSpPr>
        <p:spPr>
          <a:xfrm>
            <a:off x="612648" y="4864608"/>
            <a:ext cx="3447287" cy="1408176"/>
          </a:xfrm>
          <a:prstGeom prst="rect">
            <a:avLst/>
          </a:prstGeom>
          <a:noFill/>
        </p:spPr>
        <p:txBody>
          <a:bodyPr wrap="square" anchor="t" lIns="54864" rIns="54864" tIns="36576" bIns="36576">
            <a:spAutoFit/>
          </a:bodyPr>
          <a:lstStyle/>
          <a:p>
            <a:pPr algn="l">
              <a:lnSpc>
                <a:spcPct val="118000"/>
              </a:lnSpc>
            </a:pPr>
          </a:p>
        </p:txBody>
      </p:sp>
      <p:sp>
        <p:nvSpPr>
          <p:cNvPr id="28" name="Rectangle 27"/>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1" name="Picture 30" descr="topic_07.jpg_160.jpg"/>
          <p:cNvPicPr>
            <a:picLocks noChangeAspect="1"/>
          </p:cNvPicPr>
          <p:nvPr/>
        </p:nvPicPr>
        <p:blipFill>
          <a:blip r:embed="rId2"/>
          <a:stretch>
            <a:fillRect/>
          </a:stretch>
        </p:blipFill>
        <p:spPr>
          <a:xfrm>
            <a:off x="8293607" y="1938528"/>
            <a:ext cx="3300984" cy="2057400"/>
          </a:xfrm>
          <a:prstGeom prst="rect">
            <a:avLst/>
          </a:prstGeom>
        </p:spPr>
      </p:pic>
      <p:sp>
        <p:nvSpPr>
          <p:cNvPr id="32" name="Rectangle 31"/>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商業情境視覺：控制權不只等於直接持股比例。透過 GP/LP 有限合夥架構、一致行動協議與關鍵資源掌控，創始人能構築多層次的掌舵防線。</a:t>
            </a:r>
          </a:p>
        </p:txBody>
      </p:sp>
      <p:sp>
        <p:nvSpPr>
          <p:cNvPr id="35" name="Rectangle 34"/>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38" name="TextBox 37"/>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許多創辦人辛辛苦苦把公司養大，經過 A 輪、B 輪、C 輪融資後，自己的股份被稀釋到只剩 15%，結果被投資人聯合起來踢出自己創辦的公司（像早期的賈伯斯、新浪王…</a:t>
            </a:r>
          </a:p>
        </p:txBody>
      </p:sp>
      <p:sp>
        <p:nvSpPr>
          <p:cNvPr id="39" name="Rectangle 38"/>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進階架構：【股權・資源・架構・協議】四維控制權防禦矩陣</a:t>
            </a:r>
          </a:p>
        </p:txBody>
      </p:sp>
      <p:sp>
        <p:nvSpPr>
          <p:cNvPr id="42" name="TextBox 41"/>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進階治理者將「經濟收益權（Cash-flow Rights）」與「投票控制權（Voting Rights）」解耦看待。當融資必然稀釋經濟收益權時，可透過…</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模組二：股東治理   ｜   版型 1：一對一論法 (One-to-One)   ｜   知識庫 #009</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主張：同股不同權（AB 股）讓創始人以少數股權掌握過半表決權，能捍衛長期戰略但亦放大少數股東無力制衡的風險</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從小米雷軍（持股 31.4% 卻擁 55.7% 投票權）與 Facebook 祖克柏案例，剖析人力資本對抗貨幣資本的雙面刃</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劉松博《公司治理30講》08 講 ｜ 知識庫條目 #009 ｜ BCG One-to-One Data Highlight Style  ｜  關鍵字：同股不同權 / AB股 / 雙層股權 / 小米 / 雷軍 / Facebook / 祖克柏 / Snap / 港交所 / 股東異質說</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11 / 42</a:t>
            </a:r>
          </a:p>
        </p:txBody>
      </p:sp>
      <p:sp>
        <p:nvSpPr>
          <p:cNvPr id="10" name="Rectangle 9"/>
          <p:cNvSpPr/>
          <p:nvPr/>
        </p:nvSpPr>
        <p:spPr>
          <a:xfrm>
            <a:off x="502920" y="1572768"/>
            <a:ext cx="7498079" cy="731519"/>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645920"/>
            <a:ext cx="2331720" cy="347472"/>
          </a:xfrm>
          <a:prstGeom prst="rect">
            <a:avLst/>
          </a:prstGeom>
          <a:noFill/>
        </p:spPr>
        <p:txBody>
          <a:bodyPr wrap="square" anchor="t" lIns="54864" rIns="54864" tIns="36576" bIns="36576">
            <a:spAutoFit/>
          </a:bodyPr>
          <a:lstStyle/>
          <a:p>
            <a:pPr algn="l">
              <a:lnSpc>
                <a:spcPct val="118000"/>
              </a:lnSpc>
            </a:pPr>
            <a:r>
              <a:rPr sz="1100" b="1">
                <a:solidFill>
                  <a:srgbClr val="1A2E23"/>
                </a:solidFill>
                <a:latin typeface="Microsoft JhengHei"/>
              </a:rPr>
              <a:t>Snap 創辦人</a:t>
            </a:r>
          </a:p>
          <a:p>
            <a:pPr algn="l">
              <a:lnSpc>
                <a:spcPct val="118000"/>
              </a:lnSpc>
            </a:pPr>
            <a:r>
              <a:rPr sz="1100" b="1">
                <a:solidFill>
                  <a:srgbClr val="1A2E23"/>
                </a:solidFill>
                <a:latin typeface="Microsoft JhengHei"/>
              </a:rPr>
              <a:t>(C類無投票權)</a:t>
            </a:r>
          </a:p>
        </p:txBody>
      </p:sp>
      <p:sp>
        <p:nvSpPr>
          <p:cNvPr id="12" name="Rectangle 11"/>
          <p:cNvSpPr/>
          <p:nvPr/>
        </p:nvSpPr>
        <p:spPr>
          <a:xfrm>
            <a:off x="3017520" y="1682496"/>
            <a:ext cx="4663440" cy="256032"/>
          </a:xfrm>
          <a:prstGeom prst="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17520" y="1682496"/>
            <a:ext cx="4103827" cy="25603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1673352"/>
            <a:ext cx="2011680"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88.5% 投票權</a:t>
            </a:r>
          </a:p>
        </p:txBody>
      </p:sp>
      <p:sp>
        <p:nvSpPr>
          <p:cNvPr id="15" name="TextBox 14"/>
          <p:cNvSpPr txBox="1"/>
          <p:nvPr/>
        </p:nvSpPr>
        <p:spPr>
          <a:xfrm>
            <a:off x="612648" y="1993392"/>
            <a:ext cx="7278623" cy="274319"/>
          </a:xfrm>
          <a:prstGeom prst="rect">
            <a:avLst/>
          </a:prstGeom>
          <a:noFill/>
        </p:spPr>
        <p:txBody>
          <a:bodyPr wrap="square" anchor="t" lIns="54864" rIns="54864" tIns="36576" bIns="36576">
            <a:spAutoFit/>
          </a:bodyPr>
          <a:lstStyle/>
          <a:p>
            <a:pPr algn="l">
              <a:lnSpc>
                <a:spcPct val="115000"/>
              </a:lnSpc>
            </a:pPr>
          </a:p>
        </p:txBody>
      </p:sp>
      <p:sp>
        <p:nvSpPr>
          <p:cNvPr id="16" name="Rectangle 15"/>
          <p:cNvSpPr/>
          <p:nvPr/>
        </p:nvSpPr>
        <p:spPr>
          <a:xfrm>
            <a:off x="502920" y="2432303"/>
            <a:ext cx="7498079" cy="731519"/>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2505455"/>
            <a:ext cx="2331720" cy="347472"/>
          </a:xfrm>
          <a:prstGeom prst="rect">
            <a:avLst/>
          </a:prstGeom>
          <a:noFill/>
        </p:spPr>
        <p:txBody>
          <a:bodyPr wrap="square" anchor="t" lIns="54864" rIns="54864" tIns="36576" bIns="36576">
            <a:spAutoFit/>
          </a:bodyPr>
          <a:lstStyle/>
          <a:p>
            <a:pPr algn="l">
              <a:lnSpc>
                <a:spcPct val="118000"/>
              </a:lnSpc>
            </a:pPr>
            <a:r>
              <a:rPr sz="1100" b="1">
                <a:solidFill>
                  <a:srgbClr val="1A2E23"/>
                </a:solidFill>
                <a:latin typeface="Microsoft JhengHei"/>
              </a:rPr>
              <a:t>Google 創辦人</a:t>
            </a:r>
          </a:p>
          <a:p>
            <a:pPr algn="l">
              <a:lnSpc>
                <a:spcPct val="118000"/>
              </a:lnSpc>
            </a:pPr>
            <a:r>
              <a:rPr sz="1100" b="1">
                <a:solidFill>
                  <a:srgbClr val="1A2E23"/>
                </a:solidFill>
                <a:latin typeface="Microsoft JhengHei"/>
              </a:rPr>
              <a:t>(1:10 AB股)</a:t>
            </a:r>
          </a:p>
        </p:txBody>
      </p:sp>
      <p:sp>
        <p:nvSpPr>
          <p:cNvPr id="18" name="Rectangle 17"/>
          <p:cNvSpPr/>
          <p:nvPr/>
        </p:nvSpPr>
        <p:spPr>
          <a:xfrm>
            <a:off x="3017520" y="2542031"/>
            <a:ext cx="4663440" cy="256032"/>
          </a:xfrm>
          <a:prstGeom prst="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17520" y="2542031"/>
            <a:ext cx="2378354" cy="25603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2532887"/>
            <a:ext cx="2011680"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&gt;51% 投票權</a:t>
            </a:r>
          </a:p>
        </p:txBody>
      </p:sp>
      <p:sp>
        <p:nvSpPr>
          <p:cNvPr id="21" name="TextBox 20"/>
          <p:cNvSpPr txBox="1"/>
          <p:nvPr/>
        </p:nvSpPr>
        <p:spPr>
          <a:xfrm>
            <a:off x="612648" y="2852927"/>
            <a:ext cx="7278623" cy="274319"/>
          </a:xfrm>
          <a:prstGeom prst="rect">
            <a:avLst/>
          </a:prstGeom>
          <a:noFill/>
        </p:spPr>
        <p:txBody>
          <a:bodyPr wrap="square" anchor="t" lIns="54864" rIns="54864" tIns="36576" bIns="36576">
            <a:spAutoFit/>
          </a:bodyPr>
          <a:lstStyle/>
          <a:p>
            <a:pPr algn="l">
              <a:lnSpc>
                <a:spcPct val="115000"/>
              </a:lnSpc>
            </a:pPr>
          </a:p>
        </p:txBody>
      </p:sp>
      <p:sp>
        <p:nvSpPr>
          <p:cNvPr id="22" name="Rectangle 21"/>
          <p:cNvSpPr/>
          <p:nvPr/>
        </p:nvSpPr>
        <p:spPr>
          <a:xfrm>
            <a:off x="502920" y="3291838"/>
            <a:ext cx="7498079" cy="731519"/>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 y="3364990"/>
            <a:ext cx="2331720" cy="347472"/>
          </a:xfrm>
          <a:prstGeom prst="rect">
            <a:avLst/>
          </a:prstGeom>
          <a:noFill/>
        </p:spPr>
        <p:txBody>
          <a:bodyPr wrap="square" anchor="t" lIns="54864" rIns="54864" tIns="36576" bIns="36576">
            <a:spAutoFit/>
          </a:bodyPr>
          <a:lstStyle/>
          <a:p>
            <a:pPr algn="l">
              <a:lnSpc>
                <a:spcPct val="118000"/>
              </a:lnSpc>
            </a:pPr>
            <a:r>
              <a:rPr sz="1100" b="1">
                <a:solidFill>
                  <a:srgbClr val="1A2E23"/>
                </a:solidFill>
                <a:latin typeface="Microsoft JhengHei"/>
              </a:rPr>
              <a:t>京東 劉強東</a:t>
            </a:r>
          </a:p>
          <a:p>
            <a:pPr algn="l">
              <a:lnSpc>
                <a:spcPct val="118000"/>
              </a:lnSpc>
            </a:pPr>
            <a:r>
              <a:rPr sz="1100" b="1">
                <a:solidFill>
                  <a:srgbClr val="1A2E23"/>
                </a:solidFill>
                <a:latin typeface="Microsoft JhengHei"/>
              </a:rPr>
              <a:t>(持股約15%)</a:t>
            </a:r>
          </a:p>
        </p:txBody>
      </p:sp>
      <p:sp>
        <p:nvSpPr>
          <p:cNvPr id="24" name="Rectangle 23"/>
          <p:cNvSpPr/>
          <p:nvPr/>
        </p:nvSpPr>
        <p:spPr>
          <a:xfrm>
            <a:off x="3017520" y="3401566"/>
            <a:ext cx="4663440" cy="256032"/>
          </a:xfrm>
          <a:prstGeom prst="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017520" y="3401566"/>
            <a:ext cx="3684117" cy="25603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3392422"/>
            <a:ext cx="2011680"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79% 投票權</a:t>
            </a:r>
          </a:p>
        </p:txBody>
      </p:sp>
      <p:sp>
        <p:nvSpPr>
          <p:cNvPr id="27" name="TextBox 26"/>
          <p:cNvSpPr txBox="1"/>
          <p:nvPr/>
        </p:nvSpPr>
        <p:spPr>
          <a:xfrm>
            <a:off x="612648" y="3712462"/>
            <a:ext cx="7278623" cy="274319"/>
          </a:xfrm>
          <a:prstGeom prst="rect">
            <a:avLst/>
          </a:prstGeom>
          <a:noFill/>
        </p:spPr>
        <p:txBody>
          <a:bodyPr wrap="square" anchor="t" lIns="54864" rIns="54864" tIns="36576" bIns="36576">
            <a:spAutoFit/>
          </a:bodyPr>
          <a:lstStyle/>
          <a:p>
            <a:pPr algn="l">
              <a:lnSpc>
                <a:spcPct val="115000"/>
              </a:lnSpc>
            </a:pPr>
          </a:p>
        </p:txBody>
      </p:sp>
      <p:sp>
        <p:nvSpPr>
          <p:cNvPr id="28" name="Rectangle 27"/>
          <p:cNvSpPr/>
          <p:nvPr/>
        </p:nvSpPr>
        <p:spPr>
          <a:xfrm>
            <a:off x="502920" y="4151373"/>
            <a:ext cx="7498079" cy="731519"/>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 y="4224525"/>
            <a:ext cx="2331720" cy="347472"/>
          </a:xfrm>
          <a:prstGeom prst="rect">
            <a:avLst/>
          </a:prstGeom>
          <a:noFill/>
        </p:spPr>
        <p:txBody>
          <a:bodyPr wrap="square" anchor="t" lIns="54864" rIns="54864" tIns="36576" bIns="36576">
            <a:spAutoFit/>
          </a:bodyPr>
          <a:lstStyle/>
          <a:p>
            <a:pPr algn="l">
              <a:lnSpc>
                <a:spcPct val="118000"/>
              </a:lnSpc>
            </a:pPr>
            <a:r>
              <a:rPr sz="1100" b="1">
                <a:solidFill>
                  <a:srgbClr val="1A2E23"/>
                </a:solidFill>
                <a:latin typeface="Microsoft JhengHei"/>
              </a:rPr>
              <a:t>Facebook 祖克柏</a:t>
            </a:r>
          </a:p>
          <a:p>
            <a:pPr algn="l">
              <a:lnSpc>
                <a:spcPct val="118000"/>
              </a:lnSpc>
            </a:pPr>
            <a:r>
              <a:rPr sz="1100" b="1">
                <a:solidFill>
                  <a:srgbClr val="1A2E23"/>
                </a:solidFill>
                <a:latin typeface="Microsoft JhengHei"/>
              </a:rPr>
              <a:t>(持股14.8%)</a:t>
            </a:r>
          </a:p>
        </p:txBody>
      </p:sp>
      <p:sp>
        <p:nvSpPr>
          <p:cNvPr id="30" name="Rectangle 29"/>
          <p:cNvSpPr/>
          <p:nvPr/>
        </p:nvSpPr>
        <p:spPr>
          <a:xfrm>
            <a:off x="3017520" y="4261101"/>
            <a:ext cx="4663440" cy="256032"/>
          </a:xfrm>
          <a:prstGeom prst="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17520" y="4261101"/>
            <a:ext cx="2704795" cy="25603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4251957"/>
            <a:ext cx="2011680"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57.9% 投票權</a:t>
            </a:r>
          </a:p>
        </p:txBody>
      </p:sp>
      <p:sp>
        <p:nvSpPr>
          <p:cNvPr id="33" name="TextBox 32"/>
          <p:cNvSpPr txBox="1"/>
          <p:nvPr/>
        </p:nvSpPr>
        <p:spPr>
          <a:xfrm>
            <a:off x="612648" y="4571997"/>
            <a:ext cx="7278623" cy="274319"/>
          </a:xfrm>
          <a:prstGeom prst="rect">
            <a:avLst/>
          </a:prstGeom>
          <a:noFill/>
        </p:spPr>
        <p:txBody>
          <a:bodyPr wrap="square" anchor="t" lIns="54864" rIns="54864" tIns="36576" bIns="36576">
            <a:spAutoFit/>
          </a:bodyPr>
          <a:lstStyle/>
          <a:p>
            <a:pPr algn="l">
              <a:lnSpc>
                <a:spcPct val="115000"/>
              </a:lnSpc>
            </a:pPr>
          </a:p>
        </p:txBody>
      </p:sp>
      <p:sp>
        <p:nvSpPr>
          <p:cNvPr id="34" name="Rectangle 33"/>
          <p:cNvSpPr/>
          <p:nvPr/>
        </p:nvSpPr>
        <p:spPr>
          <a:xfrm>
            <a:off x="502920" y="5010908"/>
            <a:ext cx="7498079" cy="731519"/>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648" y="5084060"/>
            <a:ext cx="2331720" cy="347472"/>
          </a:xfrm>
          <a:prstGeom prst="rect">
            <a:avLst/>
          </a:prstGeom>
          <a:noFill/>
        </p:spPr>
        <p:txBody>
          <a:bodyPr wrap="square" anchor="t" lIns="54864" rIns="54864" tIns="36576" bIns="36576">
            <a:spAutoFit/>
          </a:bodyPr>
          <a:lstStyle/>
          <a:p>
            <a:pPr algn="l">
              <a:lnSpc>
                <a:spcPct val="118000"/>
              </a:lnSpc>
            </a:pPr>
            <a:r>
              <a:rPr sz="1100" b="1">
                <a:solidFill>
                  <a:srgbClr val="1A2E23"/>
                </a:solidFill>
                <a:latin typeface="Microsoft JhengHei"/>
              </a:rPr>
              <a:t>小米 雷軍</a:t>
            </a:r>
          </a:p>
          <a:p>
            <a:pPr algn="l">
              <a:lnSpc>
                <a:spcPct val="118000"/>
              </a:lnSpc>
            </a:pPr>
            <a:r>
              <a:rPr sz="1100" b="1">
                <a:solidFill>
                  <a:srgbClr val="1A2E23"/>
                </a:solidFill>
                <a:latin typeface="Microsoft JhengHei"/>
              </a:rPr>
              <a:t>(經濟持股)</a:t>
            </a:r>
          </a:p>
        </p:txBody>
      </p:sp>
      <p:sp>
        <p:nvSpPr>
          <p:cNvPr id="36" name="Rectangle 35"/>
          <p:cNvSpPr/>
          <p:nvPr/>
        </p:nvSpPr>
        <p:spPr>
          <a:xfrm>
            <a:off x="3017520" y="5120636"/>
            <a:ext cx="4663440" cy="256032"/>
          </a:xfrm>
          <a:prstGeom prst="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017520" y="5120636"/>
            <a:ext cx="1445666" cy="25603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0672" y="5111492"/>
            <a:ext cx="2011680"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31.4% 持股</a:t>
            </a:r>
          </a:p>
        </p:txBody>
      </p:sp>
      <p:sp>
        <p:nvSpPr>
          <p:cNvPr id="39" name="TextBox 38"/>
          <p:cNvSpPr txBox="1"/>
          <p:nvPr/>
        </p:nvSpPr>
        <p:spPr>
          <a:xfrm>
            <a:off x="612648" y="5431532"/>
            <a:ext cx="7278623" cy="274319"/>
          </a:xfrm>
          <a:prstGeom prst="rect">
            <a:avLst/>
          </a:prstGeom>
          <a:noFill/>
        </p:spPr>
        <p:txBody>
          <a:bodyPr wrap="square" anchor="t" lIns="54864" rIns="54864" tIns="36576" bIns="36576">
            <a:spAutoFit/>
          </a:bodyPr>
          <a:lstStyle/>
          <a:p>
            <a:pPr algn="l">
              <a:lnSpc>
                <a:spcPct val="115000"/>
              </a:lnSpc>
            </a:pPr>
          </a:p>
        </p:txBody>
      </p:sp>
      <p:sp>
        <p:nvSpPr>
          <p:cNvPr id="40" name="Rectangle 39"/>
          <p:cNvSpPr/>
          <p:nvPr/>
        </p:nvSpPr>
        <p:spPr>
          <a:xfrm>
            <a:off x="502920" y="5870443"/>
            <a:ext cx="7498079" cy="731519"/>
          </a:xfrm>
          <a:prstGeom prst="rect">
            <a:avLst/>
          </a:prstGeom>
          <a:solidFill>
            <a:srgbClr val="F2F8F5"/>
          </a:solidFill>
          <a:ln w="1905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648" y="5943595"/>
            <a:ext cx="2331720" cy="347472"/>
          </a:xfrm>
          <a:prstGeom prst="rect">
            <a:avLst/>
          </a:prstGeom>
          <a:noFill/>
        </p:spPr>
        <p:txBody>
          <a:bodyPr wrap="square" anchor="t" lIns="54864" rIns="54864" tIns="36576" bIns="36576">
            <a:spAutoFit/>
          </a:bodyPr>
          <a:lstStyle/>
          <a:p>
            <a:pPr algn="l">
              <a:lnSpc>
                <a:spcPct val="118000"/>
              </a:lnSpc>
            </a:pPr>
            <a:r>
              <a:rPr sz="1100" b="1">
                <a:solidFill>
                  <a:srgbClr val="004B2B"/>
                </a:solidFill>
                <a:latin typeface="Microsoft JhengHei"/>
              </a:rPr>
              <a:t>小米 雷軍★</a:t>
            </a:r>
          </a:p>
          <a:p>
            <a:pPr algn="l">
              <a:lnSpc>
                <a:spcPct val="118000"/>
              </a:lnSpc>
            </a:pPr>
            <a:r>
              <a:rPr sz="1100" b="1">
                <a:solidFill>
                  <a:srgbClr val="004B2B"/>
                </a:solidFill>
                <a:latin typeface="Microsoft JhengHei"/>
              </a:rPr>
              <a:t>(AB股投票權)</a:t>
            </a:r>
          </a:p>
        </p:txBody>
      </p:sp>
      <p:sp>
        <p:nvSpPr>
          <p:cNvPr id="42" name="Rectangle 41"/>
          <p:cNvSpPr/>
          <p:nvPr/>
        </p:nvSpPr>
        <p:spPr>
          <a:xfrm>
            <a:off x="3017520" y="5980171"/>
            <a:ext cx="4663440" cy="256032"/>
          </a:xfrm>
          <a:prstGeom prst="rect">
            <a:avLst/>
          </a:prstGeom>
          <a:solidFill>
            <a:srgbClr val="EB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017520" y="5980171"/>
            <a:ext cx="2611526" cy="256032"/>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5971027"/>
            <a:ext cx="2011680"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55.7% 表決權</a:t>
            </a:r>
          </a:p>
        </p:txBody>
      </p:sp>
      <p:sp>
        <p:nvSpPr>
          <p:cNvPr id="45" name="TextBox 44"/>
          <p:cNvSpPr txBox="1"/>
          <p:nvPr/>
        </p:nvSpPr>
        <p:spPr>
          <a:xfrm>
            <a:off x="612648" y="6291067"/>
            <a:ext cx="7278623" cy="274319"/>
          </a:xfrm>
          <a:prstGeom prst="rect">
            <a:avLst/>
          </a:prstGeom>
          <a:noFill/>
        </p:spPr>
        <p:txBody>
          <a:bodyPr wrap="square" anchor="t" lIns="54864" rIns="54864" tIns="36576" bIns="36576">
            <a:spAutoFit/>
          </a:bodyPr>
          <a:lstStyle/>
          <a:p>
            <a:pPr algn="l">
              <a:lnSpc>
                <a:spcPct val="115000"/>
              </a:lnSpc>
            </a:pPr>
          </a:p>
        </p:txBody>
      </p:sp>
      <p:sp>
        <p:nvSpPr>
          <p:cNvPr id="46" name="Rectangle 45"/>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49" name="Picture 48" descr="topic_08.jpg_160.jpg"/>
          <p:cNvPicPr>
            <a:picLocks noChangeAspect="1"/>
          </p:cNvPicPr>
          <p:nvPr/>
        </p:nvPicPr>
        <p:blipFill>
          <a:blip r:embed="rId2"/>
          <a:stretch>
            <a:fillRect/>
          </a:stretch>
        </p:blipFill>
        <p:spPr>
          <a:xfrm>
            <a:off x="8293607" y="1938528"/>
            <a:ext cx="3300984" cy="2057400"/>
          </a:xfrm>
          <a:prstGeom prst="rect">
            <a:avLst/>
          </a:prstGeom>
        </p:spPr>
      </p:pic>
      <p:sp>
        <p:nvSpPr>
          <p:cNvPr id="50" name="Rectangle 49"/>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商業情境視覺：資本市場過去奉行「一元一票（同股同權）」，但在網際網路與科技時代，為爭奪獨角獸上市，港交所與科創板紛紛放行「同股不同權」。</a:t>
            </a:r>
          </a:p>
        </p:txBody>
      </p:sp>
      <p:sp>
        <p:nvSpPr>
          <p:cNvPr id="53" name="Rectangle 52"/>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56" name="TextBox 55"/>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傳統股票講究「同股同權」——買 1 股就有 1 票。但科技公司（如 Google、Facebook、小米、京東）融資太多輪，創辦人股份只剩 10%～30%，怎麼…</a:t>
            </a:r>
          </a:p>
        </p:txBody>
      </p:sp>
      <p:sp>
        <p:nvSpPr>
          <p:cNvPr id="57" name="Rectangle 56"/>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進階架構：【效率 vs. 公平】人力資本與貨幣資本博弈模型</a:t>
            </a:r>
          </a:p>
        </p:txBody>
      </p:sp>
      <p:sp>
        <p:nvSpPr>
          <p:cNvPr id="60" name="TextBox 59"/>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從第 04 講「對等原則」來看，同股不同權表面上打破了「出資比例＝控制比例」的對等，實則是將「創始人的無形人力資本」計入控制權權重。其優點是隔離華爾街短…</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模組二：股東治理（核心轉折講）   ｜   版型 5：麥肯錫論法 (McKinsey Matrix)   ｜   知識庫 #010</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主張：企業家既是公司崛起的引擎，也是後期衰敗的最大風險源，必須將「個人權威」轉化為「制度制衡與精神傳承」</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第二模組關鍵轉折點：從「保護創始人（05-08講）」轉向「制約企業家（09-15講）」，解析 CEO 生命周期五季節模型</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劉松博《公司治理30講》09 講 ｜ 知識庫條目 #010 ｜ McKinsey Diagnostic Matrix Style  ｜  關鍵字：企業家悖論 / 五季節模型 / 賈躍亭 / 樂視 / 亨利福特 / 關鍵人風險 / 認知僵化 / 企業家精神</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12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風險 1：道德風險</a:t>
            </a:r>
          </a:p>
          <a:p>
            <a:pPr algn="ctr">
              <a:lnSpc>
                <a:spcPct val="118000"/>
              </a:lnSpc>
            </a:pPr>
            <a:r>
              <a:rPr sz="919" b="1">
                <a:solidFill>
                  <a:srgbClr val="FFFFFF"/>
                </a:solidFill>
                <a:latin typeface="Microsoft JhengHei"/>
              </a:rPr>
              <a:t>（權力不受約束之濫用）</a:t>
            </a:r>
          </a:p>
        </p:txBody>
      </p:sp>
      <p:sp>
        <p:nvSpPr>
          <p:cNvPr id="14" name="Chevron 13"/>
          <p:cNvSpPr/>
          <p:nvPr/>
        </p:nvSpPr>
        <p:spPr>
          <a:xfrm>
            <a:off x="3855719"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8871"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風險 2：CEO 生命周期僵化</a:t>
            </a:r>
          </a:p>
          <a:p>
            <a:pPr algn="ctr">
              <a:lnSpc>
                <a:spcPct val="118000"/>
              </a:lnSpc>
            </a:pPr>
            <a:r>
              <a:rPr sz="919" b="1">
                <a:solidFill>
                  <a:srgbClr val="FFFFFF"/>
                </a:solidFill>
                <a:latin typeface="Microsoft JhengHei"/>
              </a:rPr>
              <a:t>（認知剛性與資訊過濾）</a:t>
            </a:r>
          </a:p>
        </p:txBody>
      </p:sp>
      <p:sp>
        <p:nvSpPr>
          <p:cNvPr id="16" name="Chevron 15"/>
          <p:cNvSpPr/>
          <p:nvPr/>
        </p:nvSpPr>
        <p:spPr>
          <a:xfrm>
            <a:off x="5964935"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8087"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風險 3：個人與公司過度綁定</a:t>
            </a:r>
          </a:p>
          <a:p>
            <a:pPr algn="ctr">
              <a:lnSpc>
                <a:spcPct val="118000"/>
              </a:lnSpc>
            </a:pPr>
            <a:r>
              <a:rPr sz="919" b="1">
                <a:solidFill>
                  <a:srgbClr val="FFFFFF"/>
                </a:solidFill>
                <a:latin typeface="Microsoft JhengHei"/>
              </a:rPr>
              <a:t>（關鍵人外溢風險）</a:t>
            </a:r>
          </a:p>
        </p:txBody>
      </p:sp>
      <p:sp>
        <p:nvSpPr>
          <p:cNvPr id="18" name="Rectangle 17"/>
          <p:cNvSpPr/>
          <p:nvPr/>
        </p:nvSpPr>
        <p:spPr>
          <a:xfrm>
            <a:off x="502920" y="2249424"/>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2249424"/>
            <a:ext cx="1060704" cy="2002536"/>
          </a:xfrm>
          <a:prstGeom prst="rect">
            <a:avLst/>
          </a:prstGeom>
          <a:noFill/>
        </p:spPr>
        <p:txBody>
          <a:bodyPr wrap="square" anchor="ctr" lIns="54864" rIns="54864" tIns="36576" bIns="36576">
            <a:spAutoFit/>
          </a:bodyPr>
          <a:lstStyle/>
          <a:p>
            <a:pPr algn="ctr">
              <a:lnSpc>
                <a:spcPct val="118000"/>
              </a:lnSpc>
            </a:pPr>
          </a:p>
        </p:txBody>
      </p:sp>
      <p:sp>
        <p:nvSpPr>
          <p:cNvPr id="20" name="Rectangle 19"/>
          <p:cNvSpPr/>
          <p:nvPr/>
        </p:nvSpPr>
        <p:spPr>
          <a:xfrm>
            <a:off x="1746504"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19656"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大權獨攬後將公司資源挪作私用或盲目豪賭，無人敢投反對票</a:t>
            </a:r>
          </a:p>
        </p:txBody>
      </p:sp>
      <p:sp>
        <p:nvSpPr>
          <p:cNvPr id="22" name="Rectangle 21"/>
          <p:cNvSpPr/>
          <p:nvPr/>
        </p:nvSpPr>
        <p:spPr>
          <a:xfrm>
            <a:off x="3855719"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8871"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經歷「受命上任➔摸索改革➔形成風格➔全面強化➔僵化阻礙」五季節（如亨利・福特晚年固執己見、樂視賈躍亭「蒙眼狂奔」拒絕逆耳忠言）</a:t>
            </a:r>
          </a:p>
        </p:txBody>
      </p:sp>
      <p:sp>
        <p:nvSpPr>
          <p:cNvPr id="24" name="Rectangle 23"/>
          <p:cNvSpPr/>
          <p:nvPr/>
        </p:nvSpPr>
        <p:spPr>
          <a:xfrm>
            <a:off x="5964935"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8087"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創辦人健康、婚姻、言論或法律事件直接引發公司股價崩盤與授信斷裂（一榮俱榮、一損俱損）</a:t>
            </a:r>
          </a:p>
        </p:txBody>
      </p:sp>
      <p:sp>
        <p:nvSpPr>
          <p:cNvPr id="26" name="Rectangle 25"/>
          <p:cNvSpPr/>
          <p:nvPr/>
        </p:nvSpPr>
        <p:spPr>
          <a:xfrm>
            <a:off x="502920" y="4343400"/>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 y="4343400"/>
            <a:ext cx="1060704" cy="2002536"/>
          </a:xfrm>
          <a:prstGeom prst="rect">
            <a:avLst/>
          </a:prstGeom>
          <a:noFill/>
        </p:spPr>
        <p:txBody>
          <a:bodyPr wrap="square" anchor="ctr" lIns="54864" rIns="54864" tIns="36576" bIns="36576">
            <a:spAutoFit/>
          </a:bodyPr>
          <a:lstStyle/>
          <a:p>
            <a:pPr algn="ctr">
              <a:lnSpc>
                <a:spcPct val="118000"/>
              </a:lnSpc>
            </a:pPr>
          </a:p>
        </p:txBody>
      </p:sp>
      <p:sp>
        <p:nvSpPr>
          <p:cNvPr id="28" name="Rectangle 27"/>
          <p:cNvSpPr/>
          <p:nvPr/>
        </p:nvSpPr>
        <p:spPr>
          <a:xfrm>
            <a:off x="1746504"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19656"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建立實質有效的董事會與外部監督，寧可犧牲部分決策速度也要杜絕致命失誤</a:t>
            </a:r>
          </a:p>
        </p:txBody>
      </p:sp>
      <p:sp>
        <p:nvSpPr>
          <p:cNvPr id="30" name="Rectangle 29"/>
          <p:cNvSpPr/>
          <p:nvPr/>
        </p:nvSpPr>
        <p:spPr>
          <a:xfrm>
            <a:off x="3855719"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8871"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破除「資訊過濾網」，建立制度化的反對意見管道與定期高層輪替／交班機制</a:t>
            </a:r>
          </a:p>
        </p:txBody>
      </p:sp>
      <p:sp>
        <p:nvSpPr>
          <p:cNvPr id="32" name="Rectangle 31"/>
          <p:cNvSpPr/>
          <p:nvPr/>
        </p:nvSpPr>
        <p:spPr>
          <a:xfrm>
            <a:off x="5964935"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8087"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推動【去個人化（制度化）】：把企業家精神沉澱為組織宗旨、政策與流程，讓公司擺脫對單一英雄的依賴</a:t>
            </a:r>
          </a:p>
        </p:txBody>
      </p:sp>
      <p:sp>
        <p:nvSpPr>
          <p:cNvPr id="34" name="Rectangle 33"/>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7" name="Picture 36" descr="topic_09.jpg_160.jpg"/>
          <p:cNvPicPr>
            <a:picLocks noChangeAspect="1"/>
          </p:cNvPicPr>
          <p:nvPr/>
        </p:nvPicPr>
        <p:blipFill>
          <a:blip r:embed="rId2"/>
          <a:stretch>
            <a:fillRect/>
          </a:stretch>
        </p:blipFill>
        <p:spPr>
          <a:xfrm>
            <a:off x="8293607" y="1938528"/>
            <a:ext cx="3300984" cy="2057400"/>
          </a:xfrm>
          <a:prstGeom prst="rect">
            <a:avLst/>
          </a:prstGeom>
        </p:spPr>
      </p:pic>
      <p:sp>
        <p:nvSpPr>
          <p:cNvPr id="38" name="Rectangle 37"/>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商業情境視覺：獨行於懸崖頂端的領導者象徵「企業家悖論」——昔日帶領企業登頂的自信與果斷，若缺乏制衡，極易在「第五季節」變成蒙眼狂奔的深淵。</a:t>
            </a:r>
          </a:p>
        </p:txBody>
      </p:sp>
      <p:sp>
        <p:nvSpPr>
          <p:cNvPr id="41" name="Rectangle 40"/>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4" name="TextBox 43"/>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前四講我們都在教創辦人怎麼「保住大權」，但這一講劉松博教授來了一個 180 度大轉彎：如果創辦人權力大到沒人管得了，公司往往會死在創辦人自己手裡！這叫「企業家悖…</a:t>
            </a:r>
          </a:p>
        </p:txBody>
      </p:sp>
      <p:sp>
        <p:nvSpPr>
          <p:cNvPr id="45" name="Rectangle 44"/>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進階架構：【保護 ↔ 制衡】雙向擺盪模型 ＆ CEO 五季節診斷表</a:t>
            </a:r>
          </a:p>
        </p:txBody>
      </p:sp>
      <p:sp>
        <p:nvSpPr>
          <p:cNvPr id="48" name="TextBox 47"/>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本講是整個股東治理模組的分水嶺。05–08 講解決「創始人太弱被資本欺負」，09–15 講解決「創始人太強把公司帶溝裡」。進階 CEO 必須定期對自己做…</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模組二：股東治理   ｜   版型 3：結合論法 (Combined Tree)   ｜   知識庫 #011</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主張：主動公開財務與治理資訊能創造「透明化溢價」，既能贏得外部信任，更能用陽光倒逼內部掌權者自我約束</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從華為「雖不上市卻聘四大會計師事務所公開年報」的標竿做法，看懂上市與透明化的深層治理價值</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劉松博《公司治理30講》10 講 ｜ 知識庫條目 #011 ｜ BCG Trust &amp; Governance Tree  ｜  關鍵字：透明化溢價 / 資訊披露 / 華為 / KPMG / 上市 / 資訊不對稱 / 年報</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13 / 42</a:t>
            </a:r>
          </a:p>
        </p:txBody>
      </p:sp>
      <p:sp>
        <p:nvSpPr>
          <p:cNvPr id="10" name="Rectangle 9"/>
          <p:cNvSpPr/>
          <p:nvPr/>
        </p:nvSpPr>
        <p:spPr>
          <a:xfrm>
            <a:off x="502920" y="1572768"/>
            <a:ext cx="3685031" cy="3611880"/>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85031" cy="694944"/>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價值 1：消除資訊不對稱，建立外部與內部制度信任</a:t>
            </a:r>
          </a:p>
        </p:txBody>
      </p:sp>
      <p:sp>
        <p:nvSpPr>
          <p:cNvPr id="13" name="TextBox 12"/>
          <p:cNvSpPr txBox="1"/>
          <p:nvPr/>
        </p:nvSpPr>
        <p:spPr>
          <a:xfrm>
            <a:off x="594360"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4" name="Rectangle 13"/>
          <p:cNvSpPr/>
          <p:nvPr/>
        </p:nvSpPr>
        <p:spPr>
          <a:xfrm>
            <a:off x="4315967" y="1572768"/>
            <a:ext cx="3685031" cy="3611880"/>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572768"/>
            <a:ext cx="3685031" cy="694944"/>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價值 2：陽光是最好的防腐劑，倒逼掌權者規範行為</a:t>
            </a:r>
          </a:p>
        </p:txBody>
      </p:sp>
      <p:sp>
        <p:nvSpPr>
          <p:cNvPr id="17" name="TextBox 16"/>
          <p:cNvSpPr txBox="1"/>
          <p:nvPr/>
        </p:nvSpPr>
        <p:spPr>
          <a:xfrm>
            <a:off x="4407407"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8" name="Rounded Rectangle 17"/>
          <p:cNvSpPr/>
          <p:nvPr/>
        </p:nvSpPr>
        <p:spPr>
          <a:xfrm>
            <a:off x="502920" y="5330952"/>
            <a:ext cx="7498079" cy="1014984"/>
          </a:xfrm>
          <a:prstGeom prst="round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404104"/>
            <a:ext cx="7168895" cy="868680"/>
          </a:xfrm>
          <a:prstGeom prst="rect">
            <a:avLst/>
          </a:prstGeom>
          <a:noFill/>
        </p:spPr>
        <p:txBody>
          <a:bodyPr wrap="square" anchor="ctr" lIns="54864" rIns="54864" tIns="36576" bIns="36576">
            <a:spAutoFit/>
          </a:bodyPr>
          <a:lstStyle/>
          <a:p>
            <a:pPr algn="l">
              <a:lnSpc>
                <a:spcPct val="118000"/>
              </a:lnSpc>
            </a:pPr>
            <a:r>
              <a:rPr sz="1019" b="1">
                <a:solidFill>
                  <a:srgbClr val="FFFFFF"/>
                </a:solidFill>
                <a:latin typeface="Microsoft JhengHei"/>
              </a:rPr>
              <a:t>🎯 結合型核心綜效：</a:t>
            </a:r>
          </a:p>
        </p:txBody>
      </p:sp>
      <p:sp>
        <p:nvSpPr>
          <p:cNvPr id="20" name="Rectangle 19"/>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3" name="Picture 22" descr="topic_10.jpg_160.jpg"/>
          <p:cNvPicPr>
            <a:picLocks noChangeAspect="1"/>
          </p:cNvPicPr>
          <p:nvPr/>
        </p:nvPicPr>
        <p:blipFill>
          <a:blip r:embed="rId2"/>
          <a:stretch>
            <a:fillRect/>
          </a:stretch>
        </p:blipFill>
        <p:spPr>
          <a:xfrm>
            <a:off x="8293607" y="1938528"/>
            <a:ext cx="3300984" cy="2057400"/>
          </a:xfrm>
          <a:prstGeom prst="rect">
            <a:avLst/>
          </a:prstGeom>
        </p:spPr>
      </p:pic>
      <p:sp>
        <p:nvSpPr>
          <p:cNvPr id="24" name="Rectangle 23"/>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商業情境視覺：透明玻璃帷幕與開放式數據儀表板象徵「透明化溢價」——當財務與決策資訊攤在陽光下，信任成本最低、掌權者濫權空間最小。</a:t>
            </a:r>
          </a:p>
        </p:txBody>
      </p:sp>
      <p:sp>
        <p:nvSpPr>
          <p:cNvPr id="27" name="Rectangle 26"/>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30" name="TextBox 2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很多老闆覺得「公司財報是最高機密，絕不能讓外人甚至員工看到」，也認為「公司不缺錢就不用上市」。劉松博教授提出一個顛覆觀點：**透明本身就能賺錢（這叫「透明化溢價…</a:t>
            </a:r>
          </a:p>
        </p:txBody>
      </p:sp>
      <p:sp>
        <p:nvSpPr>
          <p:cNvPr id="31" name="Rectangle 30"/>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進階架構：【主動揭露 ➔ 信任溢價 × 權力制衡】透明化雙螺旋模型</a:t>
            </a:r>
          </a:p>
        </p:txBody>
      </p:sp>
      <p:sp>
        <p:nvSpPr>
          <p:cNvPr id="34" name="TextBox 3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資訊不對稱是所有代理問題的溫床（第 02 講）。進階 CEO 應將「資訊披露」從被動的合規負擔，轉化為主動的戰略武器：① 對內向核心合夥人與持股骨幹透明…</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模組二：股東治理   ｜   版型 8：BCG 論法 (BCG 2×2 Matrix)   ｜   知識庫 #012</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主張：上不上市不是道德口號，而是依據「資金安全需求」與「治理約束成本」隨外部環境動態調整的理性決策</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從西貝賈國龍、順豐王衛「先說不上市、後改口推進」看懂上市利弊權衡與企業生命周期的動態演化</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劉松博《公司治理30講》11 講 ｜ 知識庫條目 #012 ｜ BCG 2x2 Strategic Matrix Style  ｜  關鍵字：上市 / IPO / 西貝 / 賈國龍 / 順豐 / 王衛 / 老乾媽 / 華為 / 融資 / 治理成本</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14 / 42</a:t>
            </a:r>
          </a:p>
        </p:txBody>
      </p:sp>
      <p:sp>
        <p:nvSpPr>
          <p:cNvPr id="10" name="TextBox 9"/>
          <p:cNvSpPr txBox="1"/>
          <p:nvPr/>
        </p:nvSpPr>
        <p:spPr>
          <a:xfrm>
            <a:off x="502920" y="1572768"/>
            <a:ext cx="329184" cy="4443984"/>
          </a:xfrm>
          <a:prstGeom prst="rect">
            <a:avLst/>
          </a:prstGeom>
          <a:noFill/>
        </p:spPr>
        <p:txBody>
          <a:bodyPr wrap="square" anchor="ctr" lIns="54864" rIns="54864" tIns="36576" bIns="36576">
            <a:spAutoFit/>
          </a:bodyPr>
          <a:lstStyle/>
          <a:p>
            <a:pPr algn="ctr">
              <a:lnSpc>
                <a:spcPct val="118000"/>
              </a:lnSpc>
            </a:pPr>
            <a:r>
              <a:rPr sz="880" b="1">
                <a:solidFill>
                  <a:srgbClr val="004B2B"/>
                </a:solidFill>
                <a:latin typeface="Microsoft JhengHei"/>
              </a:rPr>
              <a:t>▲</a:t>
            </a:r>
          </a:p>
          <a:p>
            <a:pPr algn="ctr">
              <a:lnSpc>
                <a:spcPct val="118000"/>
              </a:lnSpc>
            </a:pPr>
            <a:r>
              <a:rPr sz="880" b="1">
                <a:solidFill>
                  <a:srgbClr val="004B2B"/>
                </a:solidFill>
                <a:latin typeface="Microsoft JhengHei"/>
              </a:rPr>
              <a:t>縱軸維度</a:t>
            </a:r>
          </a:p>
        </p:txBody>
      </p:sp>
      <p:sp>
        <p:nvSpPr>
          <p:cNvPr id="11" name="TextBox 10"/>
          <p:cNvSpPr txBox="1"/>
          <p:nvPr/>
        </p:nvSpPr>
        <p:spPr>
          <a:xfrm>
            <a:off x="832104" y="6053328"/>
            <a:ext cx="7168895" cy="274320"/>
          </a:xfrm>
          <a:prstGeom prst="rect">
            <a:avLst/>
          </a:prstGeom>
          <a:noFill/>
        </p:spPr>
        <p:txBody>
          <a:bodyPr wrap="square" anchor="ctr" lIns="54864" rIns="54864" tIns="36576" bIns="36576">
            <a:spAutoFit/>
          </a:bodyPr>
          <a:lstStyle/>
          <a:p>
            <a:pPr algn="ctr">
              <a:lnSpc>
                <a:spcPct val="118000"/>
              </a:lnSpc>
            </a:pPr>
            <a:r>
              <a:rPr sz="919" b="1">
                <a:solidFill>
                  <a:srgbClr val="004B2B"/>
                </a:solidFill>
                <a:latin typeface="Microsoft JhengHei"/>
              </a:rPr>
              <a:t>橫軸維度  ▶</a:t>
            </a:r>
          </a:p>
        </p:txBody>
      </p:sp>
      <p:sp>
        <p:nvSpPr>
          <p:cNvPr id="12" name="Rectangle 11"/>
          <p:cNvSpPr/>
          <p:nvPr/>
        </p:nvSpPr>
        <p:spPr>
          <a:xfrm>
            <a:off x="832104" y="1572768"/>
            <a:ext cx="3520439" cy="2157984"/>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1572768"/>
            <a:ext cx="3520439" cy="36576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1600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1</a:t>
            </a:r>
          </a:p>
        </p:txBody>
      </p:sp>
      <p:sp>
        <p:nvSpPr>
          <p:cNvPr id="15" name="TextBox 14"/>
          <p:cNvSpPr txBox="1"/>
          <p:nvPr/>
        </p:nvSpPr>
        <p:spPr>
          <a:xfrm>
            <a:off x="941832" y="1993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04B2B"/>
                </a:solidFill>
                <a:latin typeface="Microsoft JhengHei"/>
              </a:rPr>
              <a:t>③ (X1Y2) 危機觸發轉向型（如：疫情後的西貝餐飲）</a:t>
            </a:r>
          </a:p>
        </p:txBody>
      </p:sp>
      <p:sp>
        <p:nvSpPr>
          <p:cNvPr id="16" name="TextBox 15"/>
          <p:cNvSpPr txBox="1"/>
          <p:nvPr/>
        </p:nvSpPr>
        <p:spPr>
          <a:xfrm>
            <a:off x="941832" y="2377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E23"/>
                </a:solidFill>
                <a:latin typeface="Microsoft JhengHei"/>
              </a:rPr>
              <a:t>• 原本現金流充沛拒上市，但遭遇黑天鵝（疫情停業）發現帳上現金撐不過3個月</a:t>
            </a:r>
          </a:p>
          <a:p>
            <a:pPr algn="l">
              <a:lnSpc>
                <a:spcPct val="115000"/>
              </a:lnSpc>
            </a:pPr>
            <a:r>
              <a:rPr sz="900" b="0">
                <a:solidFill>
                  <a:srgbClr val="1A2E23"/>
                </a:solidFill>
                <a:latin typeface="Microsoft JhengHei"/>
              </a:rPr>
              <a:t>• 決策轉向：承認被打臉，重新啟動資本化以強化資產負債表韌性</a:t>
            </a:r>
          </a:p>
        </p:txBody>
      </p:sp>
      <p:sp>
        <p:nvSpPr>
          <p:cNvPr id="17" name="Rectangle 16"/>
          <p:cNvSpPr/>
          <p:nvPr/>
        </p:nvSpPr>
        <p:spPr>
          <a:xfrm>
            <a:off x="4480559" y="1572768"/>
            <a:ext cx="3520439" cy="2157984"/>
          </a:xfrm>
          <a:prstGeom prst="rect">
            <a:avLst/>
          </a:prstGeom>
          <a:solidFill>
            <a:srgbClr val="F2F8F5"/>
          </a:solidFill>
          <a:ln w="2286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59" y="1572768"/>
            <a:ext cx="3520439" cy="36576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1999" y="1600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2</a:t>
            </a:r>
          </a:p>
        </p:txBody>
      </p:sp>
      <p:sp>
        <p:nvSpPr>
          <p:cNvPr id="20" name="TextBox 19"/>
          <p:cNvSpPr txBox="1"/>
          <p:nvPr/>
        </p:nvSpPr>
        <p:spPr>
          <a:xfrm>
            <a:off x="4590287" y="1993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04B2B"/>
                </a:solidFill>
                <a:latin typeface="Microsoft JhengHei"/>
              </a:rPr>
              <a:t>③ (X2Y2) 資本驅動上市型 ★ 規模擴張焦點（如：順豐、京東）</a:t>
            </a:r>
          </a:p>
        </p:txBody>
      </p:sp>
      <p:sp>
        <p:nvSpPr>
          <p:cNvPr id="21" name="TextBox 20"/>
          <p:cNvSpPr txBox="1"/>
          <p:nvPr/>
        </p:nvSpPr>
        <p:spPr>
          <a:xfrm>
            <a:off x="4590287" y="2377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E23"/>
                </a:solidFill>
                <a:latin typeface="Microsoft JhengHei"/>
              </a:rPr>
              <a:t>• 產業面臨重資產投入（買飛機、建物流網）與同業資本戰，不上市即被淘汰</a:t>
            </a:r>
          </a:p>
          <a:p>
            <a:pPr algn="l">
              <a:lnSpc>
                <a:spcPct val="115000"/>
              </a:lnSpc>
            </a:pPr>
            <a:r>
              <a:rPr sz="900" b="0">
                <a:solidFill>
                  <a:srgbClr val="1A2E23"/>
                </a:solidFill>
                <a:latin typeface="Microsoft JhengHei"/>
              </a:rPr>
              <a:t>• 決策主張：善用 IPO 低成本融資、提升品牌公信力並實現早期股東/員工兌現</a:t>
            </a:r>
          </a:p>
        </p:txBody>
      </p:sp>
      <p:sp>
        <p:nvSpPr>
          <p:cNvPr id="22" name="Rectangle 21"/>
          <p:cNvSpPr/>
          <p:nvPr/>
        </p:nvSpPr>
        <p:spPr>
          <a:xfrm>
            <a:off x="832104" y="3858768"/>
            <a:ext cx="3520439" cy="2157984"/>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 y="3858768"/>
            <a:ext cx="3520439" cy="36576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3886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3</a:t>
            </a:r>
          </a:p>
        </p:txBody>
      </p:sp>
      <p:sp>
        <p:nvSpPr>
          <p:cNvPr id="25" name="TextBox 24"/>
          <p:cNvSpPr txBox="1"/>
          <p:nvPr/>
        </p:nvSpPr>
        <p:spPr>
          <a:xfrm>
            <a:off x="941832" y="4279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04B2B"/>
                </a:solidFill>
                <a:latin typeface="Microsoft JhengHei"/>
              </a:rPr>
              <a:t>③ (X1Y1) 堅守私有型（如：華為、老乾媽、宜家 IKEA）</a:t>
            </a:r>
          </a:p>
        </p:txBody>
      </p:sp>
      <p:sp>
        <p:nvSpPr>
          <p:cNvPr id="26" name="TextBox 25"/>
          <p:cNvSpPr txBox="1"/>
          <p:nvPr/>
        </p:nvSpPr>
        <p:spPr>
          <a:xfrm>
            <a:off x="941832" y="4663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E23"/>
                </a:solidFill>
                <a:latin typeface="Microsoft JhengHei"/>
              </a:rPr>
              <a:t>• 現金流極度充沛，且創始人高度重視長線戰略自由、不願受華爾街季報綁架</a:t>
            </a:r>
          </a:p>
          <a:p>
            <a:pPr algn="l">
              <a:lnSpc>
                <a:spcPct val="115000"/>
              </a:lnSpc>
            </a:pPr>
            <a:r>
              <a:rPr sz="900" b="0">
                <a:solidFill>
                  <a:srgbClr val="1A2E23"/>
                </a:solidFill>
                <a:latin typeface="Microsoft JhengHei"/>
              </a:rPr>
              <a:t>• 決策主張：保持非上市，但內部建立高水準治理與分紅機制</a:t>
            </a:r>
          </a:p>
        </p:txBody>
      </p:sp>
      <p:sp>
        <p:nvSpPr>
          <p:cNvPr id="27" name="Rectangle 26"/>
          <p:cNvSpPr/>
          <p:nvPr/>
        </p:nvSpPr>
        <p:spPr>
          <a:xfrm>
            <a:off x="4480559" y="3858768"/>
            <a:ext cx="3520439" cy="2157984"/>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59" y="3858768"/>
            <a:ext cx="3520439" cy="36576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1999" y="3886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4</a:t>
            </a:r>
          </a:p>
        </p:txBody>
      </p:sp>
      <p:sp>
        <p:nvSpPr>
          <p:cNvPr id="30" name="TextBox 29"/>
          <p:cNvSpPr txBox="1"/>
          <p:nvPr/>
        </p:nvSpPr>
        <p:spPr>
          <a:xfrm>
            <a:off x="4590287" y="4279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04B2B"/>
                </a:solidFill>
                <a:latin typeface="Microsoft JhengHei"/>
              </a:rPr>
              <a:t>③ (X2Y1) 治理規範與傳承上市型（如：部分成熟家族企業）</a:t>
            </a:r>
          </a:p>
        </p:txBody>
      </p:sp>
      <p:sp>
        <p:nvSpPr>
          <p:cNvPr id="31" name="TextBox 30"/>
          <p:cNvSpPr txBox="1"/>
          <p:nvPr/>
        </p:nvSpPr>
        <p:spPr>
          <a:xfrm>
            <a:off x="4590287" y="4663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E23"/>
                </a:solidFill>
                <a:latin typeface="Microsoft JhengHei"/>
              </a:rPr>
              <a:t>• 雖不缺營運資金，但希望藉助上市完成股權規範化、透明化與二代職業化交班</a:t>
            </a:r>
          </a:p>
          <a:p>
            <a:pPr algn="l">
              <a:lnSpc>
                <a:spcPct val="115000"/>
              </a:lnSpc>
            </a:pPr>
            <a:r>
              <a:rPr sz="900" b="0">
                <a:solidFill>
                  <a:srgbClr val="1A2E23"/>
                </a:solidFill>
                <a:latin typeface="Microsoft JhengHei"/>
              </a:rPr>
              <a:t>• 決策提醒：須防範上市後高管套現躺平（暴富綜合症）</a:t>
            </a:r>
          </a:p>
        </p:txBody>
      </p:sp>
      <p:sp>
        <p:nvSpPr>
          <p:cNvPr id="32" name="Rectangle 31"/>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5" name="Picture 34" descr="topic_11.jpg_160.jpg"/>
          <p:cNvPicPr>
            <a:picLocks noChangeAspect="1"/>
          </p:cNvPicPr>
          <p:nvPr/>
        </p:nvPicPr>
        <p:blipFill>
          <a:blip r:embed="rId2"/>
          <a:stretch>
            <a:fillRect/>
          </a:stretch>
        </p:blipFill>
        <p:spPr>
          <a:xfrm>
            <a:off x="8293607" y="1938528"/>
            <a:ext cx="3300984" cy="2057400"/>
          </a:xfrm>
          <a:prstGeom prst="rect">
            <a:avLst/>
          </a:prstGeom>
        </p:spPr>
      </p:pic>
      <p:sp>
        <p:nvSpPr>
          <p:cNvPr id="36" name="Rectangle 35"/>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商業情境視覺：敲響交易所上市鐘聲既是榮耀也是枷鎖——企業獲得公眾資本灌溉的同時，也必須承擔公開合規成本、短期業績壓力與控制權稀釋風險。</a:t>
            </a:r>
          </a:p>
        </p:txBody>
      </p:sp>
      <p:sp>
        <p:nvSpPr>
          <p:cNvPr id="39" name="Rectangle 38"/>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42" name="TextBox 41"/>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為什麼順豐王衛、西貝莜麵村賈國龍都曾公開斬釘截鐵說「堅決不上市」，結果後來卻紛紛宣布上市或尋求融資？難道他們言而無信嗎？劉松博教授指出：**上市從來不是目的，而…</a:t>
            </a:r>
          </a:p>
        </p:txBody>
      </p:sp>
      <p:sp>
        <p:nvSpPr>
          <p:cNvPr id="43" name="Rectangle 42"/>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進階架構：【資本收益 vs. 治理代價】IPO 情境動態決策矩陣</a:t>
            </a:r>
          </a:p>
        </p:txBody>
      </p:sp>
      <p:sp>
        <p:nvSpPr>
          <p:cNvPr id="46" name="TextBox 45"/>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進階 CEO 絕不把「上不上市」當成意識形態或面子問題，而是放在四個維度動態重評：① 產業競爭維度（對手是否已藉資本槓桿發動降維打擊？）；② 資產負債表…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模組二：股東治理   ｜   版型 3：結合論法 (Combined Tree)   ｜   知識庫 #013</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650" b="1">
                <a:solidFill>
                  <a:srgbClr val="051C2C"/>
                </a:solidFill>
                <a:latin typeface="Microsoft JhengHei"/>
              </a:rPr>
              <a:t>① 主張：治理控股大股東不能只靠危機後的奪權大戰，必須結合「二股東聯合制衡」與「事前股東協議約束」</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從格力董明珠與銀隆新能源原大股東魏銀倉掏空糾紛，解析內外部治理系統如何圍堵大股東濫權</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劉松博《公司治理30講》12 講 ｜ 知識庫條目 #013 ｜ McKinsey Concentric Governance Tree  ｜  關鍵字：控股股東 / 關聯交易 / 掏空 / 銀隆 / 董明珠 / 魏銀倉 / 股權制衡度 / 股東協議</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15 / 42</a:t>
            </a:r>
          </a:p>
        </p:txBody>
      </p:sp>
      <p:sp>
        <p:nvSpPr>
          <p:cNvPr id="10" name="Rectangle 9"/>
          <p:cNvSpPr/>
          <p:nvPr/>
        </p:nvSpPr>
        <p:spPr>
          <a:xfrm>
            <a:off x="502920"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內部制衡機制：力量抗衡與事前契約</a:t>
            </a:r>
          </a:p>
        </p:txBody>
      </p:sp>
      <p:sp>
        <p:nvSpPr>
          <p:cNvPr id="13" name="TextBox 12"/>
          <p:cNvSpPr txBox="1"/>
          <p:nvPr/>
        </p:nvSpPr>
        <p:spPr>
          <a:xfrm>
            <a:off x="594360"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4" name="Rectangle 13"/>
          <p:cNvSpPr/>
          <p:nvPr/>
        </p:nvSpPr>
        <p:spPr>
          <a:xfrm>
            <a:off x="4315967"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內外治理生態圈：防止「以暴制暴」的制度化</a:t>
            </a:r>
          </a:p>
        </p:txBody>
      </p:sp>
      <p:sp>
        <p:nvSpPr>
          <p:cNvPr id="17" name="TextBox 16"/>
          <p:cNvSpPr txBox="1"/>
          <p:nvPr/>
        </p:nvSpPr>
        <p:spPr>
          <a:xfrm>
            <a:off x="4407407"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8" name="Rounded Rectangle 17"/>
          <p:cNvSpPr/>
          <p:nvPr/>
        </p:nvSpPr>
        <p:spPr>
          <a:xfrm>
            <a:off x="502920" y="5330952"/>
            <a:ext cx="7498079" cy="101498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404104"/>
            <a:ext cx="7168895" cy="868680"/>
          </a:xfrm>
          <a:prstGeom prst="rect">
            <a:avLst/>
          </a:prstGeom>
          <a:noFill/>
        </p:spPr>
        <p:txBody>
          <a:bodyPr wrap="square" anchor="ctr" lIns="54864" rIns="54864" tIns="36576" bIns="36576">
            <a:spAutoFit/>
          </a:bodyPr>
          <a:lstStyle/>
          <a:p>
            <a:pPr algn="l">
              <a:lnSpc>
                <a:spcPct val="118000"/>
              </a:lnSpc>
            </a:pPr>
            <a:r>
              <a:rPr sz="1019" b="1">
                <a:solidFill>
                  <a:srgbClr val="FFFFFF"/>
                </a:solidFill>
                <a:latin typeface="Microsoft JhengHei"/>
              </a:rPr>
              <a:t>🎯 結合型核心綜效：</a:t>
            </a:r>
          </a:p>
        </p:txBody>
      </p:sp>
      <p:sp>
        <p:nvSpPr>
          <p:cNvPr id="20" name="Rectangle 19"/>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3" name="Picture 22" descr="topic_12.jpg_160.jpg"/>
          <p:cNvPicPr>
            <a:picLocks noChangeAspect="1"/>
          </p:cNvPicPr>
          <p:nvPr/>
        </p:nvPicPr>
        <p:blipFill>
          <a:blip r:embed="rId2"/>
          <a:stretch>
            <a:fillRect/>
          </a:stretch>
        </p:blipFill>
        <p:spPr>
          <a:xfrm>
            <a:off x="8293607" y="1938528"/>
            <a:ext cx="3300984" cy="2057400"/>
          </a:xfrm>
          <a:prstGeom prst="rect">
            <a:avLst/>
          </a:prstGeom>
        </p:spPr>
      </p:pic>
      <p:sp>
        <p:nvSpPr>
          <p:cNvPr id="24" name="Rectangle 23"/>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商業情境視覺：當大股東手握重權時，單靠道德自律遠遠不夠，必須在董事會桌上引入有實力的策略股東與嚴密的事前關聯交易審查機制。</a:t>
            </a:r>
          </a:p>
        </p:txBody>
      </p:sp>
      <p:sp>
        <p:nvSpPr>
          <p:cNvPr id="27" name="Rectangle 26"/>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30" name="TextBox 2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在歐美，很多上市公司沒有單一大股東（股權很分散），所以他們主要防經理人；但在亞洲（台灣與中國大陸），絕大多數公司都有一個說一不二的「控股大股東」（或大家族）。如…</a:t>
            </a:r>
          </a:p>
        </p:txBody>
      </p:sp>
      <p:sp>
        <p:nvSpPr>
          <p:cNvPr id="31" name="Rectangle 30"/>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進階架構：【內外部同心圓 × 股權制衡度】控股股東約束模型</a:t>
            </a:r>
          </a:p>
        </p:txBody>
      </p:sp>
      <p:sp>
        <p:nvSpPr>
          <p:cNvPr id="34" name="TextBox 3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參考課程原版「內外部治理力量同心圓圖」：治理控股股東不能只靠「以暴制暴（換另一個強人獨裁）」。最健康的股權結構是「適度集中、有效制衡」——既有一位能拍板…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模組二：股東治理   ｜   版型 4：連鎖論法 (Chain / Flow)   ｜   知識庫 #014</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650" b="1">
                <a:solidFill>
                  <a:srgbClr val="2D1054"/>
                </a:solidFill>
                <a:latin typeface="Microsoft JhengHei"/>
              </a:rPr>
              <a:t>① 主張：中小股東可透過「網路結盟＋累積投票制」實現董事會逆襲，但須克服短期投機與聯盟瓦解的先天限制</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從深康佳 2015 年「中小股東成功推翻大股東華僑城壟斷董事會」的歷史性戰役，看懂股東積極主義的威力與極限</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劉松博《公司治理30講》13 講 ｜ 知識庫條目 #014 ｜ Accenture Process &amp; Reflection Style  ｜  關鍵字：小股東維權 / 深康佳 / 華僑城 / 累積投票制 / 股東積極主義 / 用腳投票 / 搭便車</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16 / 42</a:t>
            </a:r>
          </a:p>
        </p:txBody>
      </p:sp>
      <p:sp>
        <p:nvSpPr>
          <p:cNvPr id="10" name="Rectangle 9"/>
          <p:cNvSpPr/>
          <p:nvPr/>
        </p:nvSpPr>
        <p:spPr>
          <a:xfrm>
            <a:off x="502920" y="1572768"/>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 y="1572768"/>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1</a:t>
            </a:r>
          </a:p>
        </p:txBody>
      </p:sp>
      <p:sp>
        <p:nvSpPr>
          <p:cNvPr id="13" name="TextBox 12"/>
          <p:cNvSpPr txBox="1"/>
          <p:nvPr/>
        </p:nvSpPr>
        <p:spPr>
          <a:xfrm>
            <a:off x="1865376" y="1627632"/>
            <a:ext cx="6044183" cy="274320"/>
          </a:xfrm>
          <a:prstGeom prst="rect">
            <a:avLst/>
          </a:prstGeom>
          <a:noFill/>
        </p:spPr>
        <p:txBody>
          <a:bodyPr wrap="square" anchor="t" lIns="54864" rIns="54864" tIns="36576" bIns="36576">
            <a:spAutoFit/>
          </a:bodyPr>
          <a:lstStyle/>
          <a:p>
            <a:pPr algn="l">
              <a:lnSpc>
                <a:spcPct val="118000"/>
              </a:lnSpc>
            </a:pPr>
          </a:p>
        </p:txBody>
      </p:sp>
      <p:sp>
        <p:nvSpPr>
          <p:cNvPr id="14" name="TextBox 13"/>
          <p:cNvSpPr txBox="1"/>
          <p:nvPr/>
        </p:nvSpPr>
        <p:spPr>
          <a:xfrm>
            <a:off x="1865376" y="1901952"/>
            <a:ext cx="6044183" cy="752094"/>
          </a:xfrm>
          <a:prstGeom prst="rect">
            <a:avLst/>
          </a:prstGeom>
          <a:noFill/>
        </p:spPr>
        <p:txBody>
          <a:bodyPr wrap="square" anchor="t" lIns="54864" rIns="54864" tIns="36576" bIns="36576">
            <a:spAutoFit/>
          </a:bodyPr>
          <a:lstStyle/>
          <a:p>
            <a:pPr algn="l">
              <a:lnSpc>
                <a:spcPct val="114000"/>
              </a:lnSpc>
            </a:pPr>
          </a:p>
        </p:txBody>
      </p:sp>
      <p:sp>
        <p:nvSpPr>
          <p:cNvPr id="15" name="Rectangle 14"/>
          <p:cNvSpPr/>
          <p:nvPr/>
        </p:nvSpPr>
        <p:spPr>
          <a:xfrm>
            <a:off x="502920" y="2791206"/>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791206"/>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2791206"/>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2</a:t>
            </a:r>
          </a:p>
        </p:txBody>
      </p:sp>
      <p:sp>
        <p:nvSpPr>
          <p:cNvPr id="18" name="TextBox 17"/>
          <p:cNvSpPr txBox="1"/>
          <p:nvPr/>
        </p:nvSpPr>
        <p:spPr>
          <a:xfrm>
            <a:off x="1865376" y="2846070"/>
            <a:ext cx="6044183" cy="274320"/>
          </a:xfrm>
          <a:prstGeom prst="rect">
            <a:avLst/>
          </a:prstGeom>
          <a:noFill/>
        </p:spPr>
        <p:txBody>
          <a:bodyPr wrap="square" anchor="t" lIns="54864" rIns="54864" tIns="36576" bIns="36576">
            <a:spAutoFit/>
          </a:bodyPr>
          <a:lstStyle/>
          <a:p>
            <a:pPr algn="l">
              <a:lnSpc>
                <a:spcPct val="118000"/>
              </a:lnSpc>
            </a:pPr>
          </a:p>
        </p:txBody>
      </p:sp>
      <p:sp>
        <p:nvSpPr>
          <p:cNvPr id="19" name="TextBox 18"/>
          <p:cNvSpPr txBox="1"/>
          <p:nvPr/>
        </p:nvSpPr>
        <p:spPr>
          <a:xfrm>
            <a:off x="1865376" y="3120390"/>
            <a:ext cx="6044183" cy="752094"/>
          </a:xfrm>
          <a:prstGeom prst="rect">
            <a:avLst/>
          </a:prstGeom>
          <a:noFill/>
        </p:spPr>
        <p:txBody>
          <a:bodyPr wrap="square" anchor="t" lIns="54864" rIns="54864" tIns="36576" bIns="36576">
            <a:spAutoFit/>
          </a:bodyPr>
          <a:lstStyle/>
          <a:p>
            <a:pPr algn="l">
              <a:lnSpc>
                <a:spcPct val="114000"/>
              </a:lnSpc>
            </a:pPr>
          </a:p>
        </p:txBody>
      </p:sp>
      <p:sp>
        <p:nvSpPr>
          <p:cNvPr id="20" name="Rectangle 19"/>
          <p:cNvSpPr/>
          <p:nvPr/>
        </p:nvSpPr>
        <p:spPr>
          <a:xfrm>
            <a:off x="502920" y="4009644"/>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009644"/>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 y="4009644"/>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3</a:t>
            </a:r>
          </a:p>
        </p:txBody>
      </p:sp>
      <p:sp>
        <p:nvSpPr>
          <p:cNvPr id="23" name="TextBox 22"/>
          <p:cNvSpPr txBox="1"/>
          <p:nvPr/>
        </p:nvSpPr>
        <p:spPr>
          <a:xfrm>
            <a:off x="1865376" y="4064508"/>
            <a:ext cx="6044183" cy="274320"/>
          </a:xfrm>
          <a:prstGeom prst="rect">
            <a:avLst/>
          </a:prstGeom>
          <a:noFill/>
        </p:spPr>
        <p:txBody>
          <a:bodyPr wrap="square" anchor="t" lIns="54864" rIns="54864" tIns="36576" bIns="36576">
            <a:spAutoFit/>
          </a:bodyPr>
          <a:lstStyle/>
          <a:p>
            <a:pPr algn="l">
              <a:lnSpc>
                <a:spcPct val="118000"/>
              </a:lnSpc>
            </a:pPr>
          </a:p>
        </p:txBody>
      </p:sp>
      <p:sp>
        <p:nvSpPr>
          <p:cNvPr id="24" name="TextBox 23"/>
          <p:cNvSpPr txBox="1"/>
          <p:nvPr/>
        </p:nvSpPr>
        <p:spPr>
          <a:xfrm>
            <a:off x="1865376" y="4338828"/>
            <a:ext cx="6044183" cy="752094"/>
          </a:xfrm>
          <a:prstGeom prst="rect">
            <a:avLst/>
          </a:prstGeom>
          <a:noFill/>
        </p:spPr>
        <p:txBody>
          <a:bodyPr wrap="square" anchor="t" lIns="54864" rIns="54864" tIns="36576" bIns="36576">
            <a:spAutoFit/>
          </a:bodyPr>
          <a:lstStyle/>
          <a:p>
            <a:pPr algn="l">
              <a:lnSpc>
                <a:spcPct val="114000"/>
              </a:lnSpc>
            </a:pPr>
          </a:p>
        </p:txBody>
      </p:sp>
      <p:sp>
        <p:nvSpPr>
          <p:cNvPr id="25" name="Rectangle 24"/>
          <p:cNvSpPr/>
          <p:nvPr/>
        </p:nvSpPr>
        <p:spPr>
          <a:xfrm>
            <a:off x="502920" y="5228082"/>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5228082"/>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496" y="5228082"/>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4</a:t>
            </a:r>
          </a:p>
        </p:txBody>
      </p:sp>
      <p:sp>
        <p:nvSpPr>
          <p:cNvPr id="28" name="TextBox 27"/>
          <p:cNvSpPr txBox="1"/>
          <p:nvPr/>
        </p:nvSpPr>
        <p:spPr>
          <a:xfrm>
            <a:off x="1865376" y="5282946"/>
            <a:ext cx="6044183" cy="274320"/>
          </a:xfrm>
          <a:prstGeom prst="rect">
            <a:avLst/>
          </a:prstGeom>
          <a:noFill/>
        </p:spPr>
        <p:txBody>
          <a:bodyPr wrap="square" anchor="t" lIns="54864" rIns="54864" tIns="36576" bIns="36576">
            <a:spAutoFit/>
          </a:bodyPr>
          <a:lstStyle/>
          <a:p>
            <a:pPr algn="l">
              <a:lnSpc>
                <a:spcPct val="118000"/>
              </a:lnSpc>
            </a:pPr>
          </a:p>
        </p:txBody>
      </p:sp>
      <p:sp>
        <p:nvSpPr>
          <p:cNvPr id="29" name="TextBox 28"/>
          <p:cNvSpPr txBox="1"/>
          <p:nvPr/>
        </p:nvSpPr>
        <p:spPr>
          <a:xfrm>
            <a:off x="1865376" y="5557266"/>
            <a:ext cx="6044183" cy="752094"/>
          </a:xfrm>
          <a:prstGeom prst="rect">
            <a:avLst/>
          </a:prstGeom>
          <a:noFill/>
        </p:spPr>
        <p:txBody>
          <a:bodyPr wrap="square" anchor="t" lIns="54864" rIns="54864" tIns="36576" bIns="36576">
            <a:spAutoFit/>
          </a:bodyPr>
          <a:lstStyle/>
          <a:p>
            <a:pPr algn="l">
              <a:lnSpc>
                <a:spcPct val="114000"/>
              </a:lnSpc>
            </a:pPr>
          </a:p>
        </p:txBody>
      </p:sp>
      <p:sp>
        <p:nvSpPr>
          <p:cNvPr id="30" name="Rectangle 29"/>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3" name="Picture 32" descr="topic_13.jpg_160.jpg"/>
          <p:cNvPicPr>
            <a:picLocks noChangeAspect="1"/>
          </p:cNvPicPr>
          <p:nvPr/>
        </p:nvPicPr>
        <p:blipFill>
          <a:blip r:embed="rId2"/>
          <a:stretch>
            <a:fillRect/>
          </a:stretch>
        </p:blipFill>
        <p:spPr>
          <a:xfrm>
            <a:off x="8293607" y="1938528"/>
            <a:ext cx="3300984" cy="2057400"/>
          </a:xfrm>
          <a:prstGeom prst="rect">
            <a:avLst/>
          </a:prstGeom>
        </p:spPr>
      </p:pic>
      <p:sp>
        <p:nvSpPr>
          <p:cNvPr id="34" name="Rectangle 33"/>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商業情境視覺：單一散戶的力量微不足道，但在「網路徵集投票＋累積投票制」的制度槓桿下，分散的選票得以匯聚成改變董事會席次的決定性力量。</a:t>
            </a:r>
          </a:p>
        </p:txBody>
      </p:sp>
      <p:sp>
        <p:nvSpPr>
          <p:cNvPr id="37" name="Rectangle 36"/>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40" name="TextBox 3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假設大股東持股 60%，小股東加起來 40%，公司要選 5 個董事。如果按普通投票法（一案一投），大股東每個候選人都能拿到 60% 贊成票，5 個董事全是大股東…</a:t>
            </a:r>
          </a:p>
        </p:txBody>
      </p:sp>
      <p:sp>
        <p:nvSpPr>
          <p:cNvPr id="41" name="Rectangle 40"/>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進階架構：【累積投票槓桿 × 集體行動困境】中小股東治理邊界模型</a:t>
            </a:r>
          </a:p>
        </p:txBody>
      </p:sp>
      <p:sp>
        <p:nvSpPr>
          <p:cNvPr id="44" name="TextBox 4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奧爾森（Mancur Olson）的《集體行動的邏輯》指出：群體越大，搭便車現象越嚴重，聯盟越脆弱。康佳案例給進階治理者兩個深刻啟示：① 制度設計上，累…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模組二：股東治理   ｜   版型 2：並列論法 (Parallel)   ｜   知識庫 #015</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主張：當公司內部制衡失效時，必須依賴「強制資訊披露、市場競爭懲罰、集體司法救濟」三道外部治理防火線</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從長生生物假疫苗退市、瑞幸咖啡做空報告到美國證券集體訴訟（辯方舉證），構築約束內部掌權者的外部鐵籠</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劉松博《公司治理30講》14 講 ｜ 知識庫條目 #015 ｜ McKinsey Three-Firewall Parallel Style  ｜  關鍵字：外部治理 / 資訊披露 / 市場機制 / 集體訴訟 / 舉證責任倒置 / 安然 / 長生生物 / 守門人</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17 / 42</a:t>
            </a:r>
          </a:p>
        </p:txBody>
      </p:sp>
      <p:sp>
        <p:nvSpPr>
          <p:cNvPr id="10" name="Rectangle 9"/>
          <p:cNvSpPr/>
          <p:nvPr/>
        </p:nvSpPr>
        <p:spPr>
          <a:xfrm>
            <a:off x="502920" y="1572768"/>
            <a:ext cx="3666743" cy="230428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66743"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 y="1700784"/>
            <a:ext cx="1143000" cy="23774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1</a:t>
            </a:r>
          </a:p>
        </p:txBody>
      </p:sp>
      <p:sp>
        <p:nvSpPr>
          <p:cNvPr id="14" name="TextBox 13"/>
          <p:cNvSpPr txBox="1"/>
          <p:nvPr/>
        </p:nvSpPr>
        <p:spPr>
          <a:xfrm>
            <a:off x="612648"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051C2C"/>
                </a:solidFill>
                <a:latin typeface="Microsoft JhengHei"/>
              </a:rPr>
              <a:t>② 第一道防線：資訊披露制度（讓問題被看見）</a:t>
            </a:r>
          </a:p>
        </p:txBody>
      </p:sp>
      <p:sp>
        <p:nvSpPr>
          <p:cNvPr id="15" name="TextBox 14"/>
          <p:cNvSpPr txBox="1"/>
          <p:nvPr/>
        </p:nvSpPr>
        <p:spPr>
          <a:xfrm>
            <a:off x="612648"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16" name="Rectangle 15"/>
          <p:cNvSpPr/>
          <p:nvPr/>
        </p:nvSpPr>
        <p:spPr>
          <a:xfrm>
            <a:off x="4334255" y="1572768"/>
            <a:ext cx="3666743" cy="230428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4255" y="1572768"/>
            <a:ext cx="3666743"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3" y="1700784"/>
            <a:ext cx="1143000" cy="23774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3"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2</a:t>
            </a:r>
          </a:p>
        </p:txBody>
      </p:sp>
      <p:sp>
        <p:nvSpPr>
          <p:cNvPr id="20" name="TextBox 19"/>
          <p:cNvSpPr txBox="1"/>
          <p:nvPr/>
        </p:nvSpPr>
        <p:spPr>
          <a:xfrm>
            <a:off x="4443983"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051C2C"/>
                </a:solidFill>
                <a:latin typeface="Microsoft JhengHei"/>
              </a:rPr>
              <a:t>③ 第二道防線：市場反應機制（讓壞公司受懲罰）</a:t>
            </a:r>
          </a:p>
        </p:txBody>
      </p:sp>
      <p:sp>
        <p:nvSpPr>
          <p:cNvPr id="21" name="TextBox 20"/>
          <p:cNvSpPr txBox="1"/>
          <p:nvPr/>
        </p:nvSpPr>
        <p:spPr>
          <a:xfrm>
            <a:off x="4443983"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22" name="Rectangle 21"/>
          <p:cNvSpPr/>
          <p:nvPr/>
        </p:nvSpPr>
        <p:spPr>
          <a:xfrm>
            <a:off x="502920" y="4041648"/>
            <a:ext cx="3666743" cy="230428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41648"/>
            <a:ext cx="3666743"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 y="4169664"/>
            <a:ext cx="1143000" cy="23774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16966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3</a:t>
            </a:r>
          </a:p>
        </p:txBody>
      </p:sp>
      <p:sp>
        <p:nvSpPr>
          <p:cNvPr id="26" name="TextBox 25"/>
          <p:cNvSpPr txBox="1"/>
          <p:nvPr/>
        </p:nvSpPr>
        <p:spPr>
          <a:xfrm>
            <a:off x="612648" y="4462272"/>
            <a:ext cx="3447287" cy="384048"/>
          </a:xfrm>
          <a:prstGeom prst="rect">
            <a:avLst/>
          </a:prstGeom>
          <a:noFill/>
        </p:spPr>
        <p:txBody>
          <a:bodyPr wrap="square" anchor="t" lIns="54864" rIns="54864" tIns="36576" bIns="36576">
            <a:spAutoFit/>
          </a:bodyPr>
          <a:lstStyle/>
          <a:p>
            <a:pPr algn="l">
              <a:lnSpc>
                <a:spcPct val="118000"/>
              </a:lnSpc>
            </a:pPr>
            <a:r>
              <a:rPr sz="1150" b="1">
                <a:solidFill>
                  <a:srgbClr val="051C2C"/>
                </a:solidFill>
                <a:latin typeface="Microsoft JhengHei"/>
              </a:rPr>
              <a:t>④ 第三道防線：法律與司法救濟（讓作惡者傾家蕩產）</a:t>
            </a:r>
          </a:p>
        </p:txBody>
      </p:sp>
      <p:sp>
        <p:nvSpPr>
          <p:cNvPr id="27" name="TextBox 26"/>
          <p:cNvSpPr txBox="1"/>
          <p:nvPr/>
        </p:nvSpPr>
        <p:spPr>
          <a:xfrm>
            <a:off x="612648" y="4864608"/>
            <a:ext cx="3447287" cy="1408176"/>
          </a:xfrm>
          <a:prstGeom prst="rect">
            <a:avLst/>
          </a:prstGeom>
          <a:noFill/>
        </p:spPr>
        <p:txBody>
          <a:bodyPr wrap="square" anchor="t" lIns="54864" rIns="54864" tIns="36576" bIns="36576">
            <a:spAutoFit/>
          </a:bodyPr>
          <a:lstStyle/>
          <a:p>
            <a:pPr algn="l">
              <a:lnSpc>
                <a:spcPct val="118000"/>
              </a:lnSpc>
            </a:pPr>
          </a:p>
        </p:txBody>
      </p:sp>
      <p:sp>
        <p:nvSpPr>
          <p:cNvPr id="28" name="Rectangle 27"/>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1" name="Picture 30" descr="topic_14.jpg_160.jpg"/>
          <p:cNvPicPr>
            <a:picLocks noChangeAspect="1"/>
          </p:cNvPicPr>
          <p:nvPr/>
        </p:nvPicPr>
        <p:blipFill>
          <a:blip r:embed="rId2"/>
          <a:stretch>
            <a:fillRect/>
          </a:stretch>
        </p:blipFill>
        <p:spPr>
          <a:xfrm>
            <a:off x="8293607" y="1938528"/>
            <a:ext cx="3300984" cy="2057400"/>
          </a:xfrm>
          <a:prstGeom prst="rect">
            <a:avLst/>
          </a:prstGeom>
        </p:spPr>
      </p:pic>
      <p:sp>
        <p:nvSpPr>
          <p:cNvPr id="32" name="Rectangle 31"/>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商業情境視覺：法槌與天平象徵外部治理的終極防線——資訊披露讓舞弊現形，資本市場用股價投票，司法集體訴訟則讓造假者付出沉重代價。</a:t>
            </a:r>
          </a:p>
        </p:txBody>
      </p:sp>
      <p:sp>
        <p:nvSpPr>
          <p:cNvPr id="35" name="Rectangle 34"/>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38" name="TextBox 37"/>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如果一家公司的大股東和總經理串通一氣造假帳，公司內部根本沒人管得了，怎麼辦？這時候就要靠公司外面的「三道防火線（外部治理）」：① **第一道防線：資訊披露與媒體…</a:t>
            </a:r>
          </a:p>
        </p:txBody>
      </p:sp>
      <p:sp>
        <p:nvSpPr>
          <p:cNvPr id="39" name="Rectangle 38"/>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進階架構：【揭露 ➔ 定價 ➔ 追責】外部治理三級聯防架構</a:t>
            </a:r>
          </a:p>
        </p:txBody>
      </p:sp>
      <p:sp>
        <p:nvSpPr>
          <p:cNvPr id="42" name="TextBox 41"/>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內部治理與外部治理具有強烈的互補與替代效應。當一個法域的外部治理（尤其是第一道資訊核查與第三道司法懲戒成本）越強大，內部人掏空與舞弊的預期淨收益就越趨近…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模組二：股東治理（收官銜接講）   ｜   版型 5：麥肯錫論法 (McKinsey Matrix)   ｜   知識庫 #016</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主張：董事會淪為「橡皮圖章」源於獨立性缺失與獨立董事激勵悖論，必須從選任機制與資訊獲取管道重塑實質監督力</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從康美藥業 300 億財務造假案看董事會失靈：如何讓董事會真正發揮「戰略決策」與「監督經理層」雙重壓艙石功能</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劉松博《公司治理30講》15 講 ｜ 知識庫條目 #016 ｜ McKinsey Boardroom Diagnostic Matrix  ｜  關鍵字：董事會 / 獨立董事 / 康美藥業 / 橡皮圖章 / 激勵悖論 / 審計委員會 / 壓艙石</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18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症結 1：股權高度集中與人情社會</a:t>
            </a:r>
          </a:p>
          <a:p>
            <a:pPr algn="ctr">
              <a:lnSpc>
                <a:spcPct val="118000"/>
              </a:lnSpc>
            </a:pPr>
            <a:r>
              <a:rPr sz="919" b="1">
                <a:solidFill>
                  <a:srgbClr val="FFFFFF"/>
                </a:solidFill>
                <a:latin typeface="Microsoft JhengHei"/>
              </a:rPr>
              <a:t>（大股東一言堂）</a:t>
            </a:r>
          </a:p>
        </p:txBody>
      </p:sp>
      <p:sp>
        <p:nvSpPr>
          <p:cNvPr id="14" name="Chevron 13"/>
          <p:cNvSpPr/>
          <p:nvPr/>
        </p:nvSpPr>
        <p:spPr>
          <a:xfrm>
            <a:off x="3855719"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8871"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症結 2：獨立董事「激勵悖論」</a:t>
            </a:r>
          </a:p>
          <a:p>
            <a:pPr algn="ctr">
              <a:lnSpc>
                <a:spcPct val="118000"/>
              </a:lnSpc>
            </a:pPr>
            <a:r>
              <a:rPr sz="919" b="1">
                <a:solidFill>
                  <a:srgbClr val="FFFFFF"/>
                </a:solidFill>
                <a:latin typeface="Microsoft JhengHei"/>
              </a:rPr>
              <a:t>（錢拿少沒動力、錢拿多失獨立）</a:t>
            </a:r>
          </a:p>
        </p:txBody>
      </p:sp>
      <p:sp>
        <p:nvSpPr>
          <p:cNvPr id="16" name="Chevron 15"/>
          <p:cNvSpPr/>
          <p:nvPr/>
        </p:nvSpPr>
        <p:spPr>
          <a:xfrm>
            <a:off x="5964935"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8087"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症結 3：資訊與時間嚴重不對稱</a:t>
            </a:r>
          </a:p>
          <a:p>
            <a:pPr algn="ctr">
              <a:lnSpc>
                <a:spcPct val="118000"/>
              </a:lnSpc>
            </a:pPr>
            <a:r>
              <a:rPr sz="919" b="1">
                <a:solidFill>
                  <a:srgbClr val="FFFFFF"/>
                </a:solidFill>
                <a:latin typeface="Microsoft JhengHei"/>
              </a:rPr>
              <a:t>（兼職且資訊由管理層餵養）</a:t>
            </a:r>
          </a:p>
        </p:txBody>
      </p:sp>
      <p:sp>
        <p:nvSpPr>
          <p:cNvPr id="18" name="Rectangle 17"/>
          <p:cNvSpPr/>
          <p:nvPr/>
        </p:nvSpPr>
        <p:spPr>
          <a:xfrm>
            <a:off x="502920" y="2249424"/>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2249424"/>
            <a:ext cx="1060704" cy="2002536"/>
          </a:xfrm>
          <a:prstGeom prst="rect">
            <a:avLst/>
          </a:prstGeom>
          <a:noFill/>
        </p:spPr>
        <p:txBody>
          <a:bodyPr wrap="square" anchor="ctr" lIns="54864" rIns="54864" tIns="36576" bIns="36576">
            <a:spAutoFit/>
          </a:bodyPr>
          <a:lstStyle/>
          <a:p>
            <a:pPr algn="ctr">
              <a:lnSpc>
                <a:spcPct val="118000"/>
              </a:lnSpc>
            </a:pPr>
          </a:p>
        </p:txBody>
      </p:sp>
      <p:sp>
        <p:nvSpPr>
          <p:cNvPr id="20" name="Rectangle 19"/>
          <p:cNvSpPr/>
          <p:nvPr/>
        </p:nvSpPr>
        <p:spPr>
          <a:xfrm>
            <a:off x="1746504"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19656"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董事全由控股大股東提名任命，開會不敢得罪老闆，淪為「拍手俱樂部」（如康美藥業造假 300 億，董事會多年全票通過財報）</a:t>
            </a:r>
          </a:p>
        </p:txBody>
      </p:sp>
      <p:sp>
        <p:nvSpPr>
          <p:cNvPr id="22" name="Rectangle 21"/>
          <p:cNvSpPr/>
          <p:nvPr/>
        </p:nvSpPr>
        <p:spPr>
          <a:xfrm>
            <a:off x="3855719"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8871"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獨董津貼由大股東與管理層決定：津貼太低不願擔責，津貼太高則淪為利益共同體、不願撕破臉</a:t>
            </a:r>
          </a:p>
        </p:txBody>
      </p:sp>
      <p:sp>
        <p:nvSpPr>
          <p:cNvPr id="24" name="Rectangle 23"/>
          <p:cNvSpPr/>
          <p:nvPr/>
        </p:nvSpPr>
        <p:spPr>
          <a:xfrm>
            <a:off x="5964935"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8087"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外部董事多為大學教授或名流兼職，每年僅開幾次會，看到的財報全經過內部人篩選美化</a:t>
            </a:r>
          </a:p>
        </p:txBody>
      </p:sp>
      <p:sp>
        <p:nvSpPr>
          <p:cNvPr id="26" name="Rectangle 25"/>
          <p:cNvSpPr/>
          <p:nvPr/>
        </p:nvSpPr>
        <p:spPr>
          <a:xfrm>
            <a:off x="502920" y="4343400"/>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 y="4343400"/>
            <a:ext cx="1060704" cy="2002536"/>
          </a:xfrm>
          <a:prstGeom prst="rect">
            <a:avLst/>
          </a:prstGeom>
          <a:noFill/>
        </p:spPr>
        <p:txBody>
          <a:bodyPr wrap="square" anchor="ctr" lIns="54864" rIns="54864" tIns="36576" bIns="36576">
            <a:spAutoFit/>
          </a:bodyPr>
          <a:lstStyle/>
          <a:p>
            <a:pPr algn="ctr">
              <a:lnSpc>
                <a:spcPct val="118000"/>
              </a:lnSpc>
            </a:pPr>
          </a:p>
        </p:txBody>
      </p:sp>
      <p:sp>
        <p:nvSpPr>
          <p:cNvPr id="28" name="Rectangle 27"/>
          <p:cNvSpPr/>
          <p:nvPr/>
        </p:nvSpPr>
        <p:spPr>
          <a:xfrm>
            <a:off x="1746504"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19656"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導入累積投票制與中小股東提名機制，讓不同背景之股東代表進入董事會形成多元聲音</a:t>
            </a:r>
          </a:p>
        </p:txBody>
      </p:sp>
      <p:sp>
        <p:nvSpPr>
          <p:cNvPr id="30" name="Rectangle 29"/>
          <p:cNvSpPr/>
          <p:nvPr/>
        </p:nvSpPr>
        <p:spPr>
          <a:xfrm>
            <a:off x="3855719"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8871"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強化法律問責（簽字即擔責）與聲譽市場約束，並由獨立第三方或基金池發放獨董薪酬</a:t>
            </a:r>
          </a:p>
        </p:txBody>
      </p:sp>
      <p:sp>
        <p:nvSpPr>
          <p:cNvPr id="32" name="Rectangle 31"/>
          <p:cNvSpPr/>
          <p:nvPr/>
        </p:nvSpPr>
        <p:spPr>
          <a:xfrm>
            <a:off x="5964935"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8087"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設立專門委員會（審計、薪酬、提名委員會），賦予獨董直接調閱底層資料與聘請外部審計之權限</a:t>
            </a:r>
          </a:p>
        </p:txBody>
      </p:sp>
      <p:sp>
        <p:nvSpPr>
          <p:cNvPr id="34" name="Rectangle 33"/>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7" name="Picture 36" descr="topic_15.jpg_160.jpg"/>
          <p:cNvPicPr>
            <a:picLocks noChangeAspect="1"/>
          </p:cNvPicPr>
          <p:nvPr/>
        </p:nvPicPr>
        <p:blipFill>
          <a:blip r:embed="rId2"/>
          <a:stretch>
            <a:fillRect/>
          </a:stretch>
        </p:blipFill>
        <p:spPr>
          <a:xfrm>
            <a:off x="8293607" y="1938528"/>
            <a:ext cx="3300984" cy="2057400"/>
          </a:xfrm>
          <a:prstGeom prst="rect">
            <a:avLst/>
          </a:prstGeom>
        </p:spPr>
      </p:pic>
      <p:sp>
        <p:nvSpPr>
          <p:cNvPr id="38" name="Rectangle 37"/>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商業情境視覺：空蕩而莊嚴的董事會長桌——董事會本應是公司的「壓艙石」，但若所有席位皆聽命於同一人、且缺乏獨立資訊管道，長桌就會淪為橡皮圖章。</a:t>
            </a:r>
          </a:p>
        </p:txBody>
      </p:sp>
      <p:sp>
        <p:nvSpPr>
          <p:cNvPr id="41" name="Rectangle 40"/>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4" name="TextBox 43"/>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股東幾千幾萬人，不可能天天開會，所以選出十來個人組成「董事會」，代表全體股東做兩件大事：① **定戰略、選總經理**；② **監督總經理別亂來**。為了怕董事會…</a:t>
            </a:r>
          </a:p>
        </p:txBody>
      </p:sp>
      <p:sp>
        <p:nvSpPr>
          <p:cNvPr id="45" name="Rectangle 44"/>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進階架構：【獨立性 × 專業性 × 資訊權】高效董事會三維重構模型</a:t>
            </a:r>
          </a:p>
        </p:txBody>
      </p:sp>
      <p:sp>
        <p:nvSpPr>
          <p:cNvPr id="48" name="TextBox 47"/>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「形式上有董事會，不等於實質上有董事會治理。」進階企業主在建構董事會時，不應將其視為應付工商登記或上市合規的橡皮圖章，而應將其打造為真正的「外部大腦與風…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模組三：經理治理（開篇講）   ｜   版型 6：對立論法 (Opposition)   ｜   知識庫 #017</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主張：董事長與 CEO 不是上下級而是「集體監督 vs. 個人執行」的制衡關係，兩職合一或分離須依企業階段情境決定</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從蘋果董事會解僱賈伯斯與「中農信」兩職分合看懂權力真相：看誰官大，別看名片頭銜，要看背後的股權與任免權</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劉松博《公司治理30講》16 講 ｜ 知識庫條目 #017 ｜ BCG Role Comparison Style  ｜  關鍵字：CEO / 董事長 / 總經理 / 兩職合一 / 兩職分離 / 賈伯斯 / 蘋果 / 情境依賴</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19 / 42</a:t>
            </a:r>
          </a:p>
        </p:txBody>
      </p:sp>
      <p:sp>
        <p:nvSpPr>
          <p:cNvPr id="10" name="Rectangle 9"/>
          <p:cNvSpPr/>
          <p:nvPr/>
        </p:nvSpPr>
        <p:spPr>
          <a:xfrm>
            <a:off x="502920" y="1572768"/>
            <a:ext cx="1280160" cy="53035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280160" cy="530352"/>
          </a:xfrm>
          <a:prstGeom prst="rect">
            <a:avLst/>
          </a:prstGeom>
          <a:noFill/>
        </p:spPr>
        <p:txBody>
          <a:bodyPr wrap="square" anchor="ctr" lIns="54864" rIns="54864" tIns="36576" bIns="36576">
            <a:spAutoFit/>
          </a:bodyPr>
          <a:lstStyle/>
          <a:p>
            <a:pPr algn="ctr">
              <a:lnSpc>
                <a:spcPct val="118000"/>
              </a:lnSpc>
            </a:pPr>
            <a:r>
              <a:rPr sz="950" b="1">
                <a:solidFill>
                  <a:srgbClr val="004B2B"/>
                </a:solidFill>
                <a:latin typeface="Microsoft JhengHei"/>
              </a:rPr>
              <a:t>對立維度</a:t>
            </a:r>
          </a:p>
        </p:txBody>
      </p:sp>
      <p:sp>
        <p:nvSpPr>
          <p:cNvPr id="12" name="Rectangle 11"/>
          <p:cNvSpPr/>
          <p:nvPr/>
        </p:nvSpPr>
        <p:spPr>
          <a:xfrm>
            <a:off x="1856232" y="1572768"/>
            <a:ext cx="2834639" cy="5303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9384"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A</a:t>
            </a:r>
          </a:p>
        </p:txBody>
      </p:sp>
      <p:sp>
        <p:nvSpPr>
          <p:cNvPr id="14" name="TextBox 13"/>
          <p:cNvSpPr txBox="1"/>
          <p:nvPr/>
        </p:nvSpPr>
        <p:spPr>
          <a:xfrm>
            <a:off x="4690871" y="1572768"/>
            <a:ext cx="402336" cy="530352"/>
          </a:xfrm>
          <a:prstGeom prst="rect">
            <a:avLst/>
          </a:prstGeom>
          <a:noFill/>
        </p:spPr>
        <p:txBody>
          <a:bodyPr wrap="square" anchor="ctr" lIns="54864" rIns="54864" tIns="36576" bIns="36576">
            <a:spAutoFit/>
          </a:bodyPr>
          <a:lstStyle/>
          <a:p>
            <a:pPr algn="ctr">
              <a:lnSpc>
                <a:spcPct val="118000"/>
              </a:lnSpc>
            </a:pPr>
            <a:r>
              <a:rPr sz="1000" b="1">
                <a:solidFill>
                  <a:srgbClr val="177B57"/>
                </a:solidFill>
                <a:latin typeface="Microsoft JhengHei"/>
              </a:rPr>
              <a:t>VS</a:t>
            </a:r>
          </a:p>
        </p:txBody>
      </p:sp>
      <p:sp>
        <p:nvSpPr>
          <p:cNvPr id="15" name="Rectangle 14"/>
          <p:cNvSpPr/>
          <p:nvPr/>
        </p:nvSpPr>
        <p:spPr>
          <a:xfrm>
            <a:off x="5093207" y="1572768"/>
            <a:ext cx="2834639" cy="53035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B</a:t>
            </a:r>
          </a:p>
        </p:txBody>
      </p:sp>
      <p:sp>
        <p:nvSpPr>
          <p:cNvPr id="17" name="Rectangle 16"/>
          <p:cNvSpPr/>
          <p:nvPr/>
        </p:nvSpPr>
        <p:spPr>
          <a:xfrm>
            <a:off x="502920" y="2212848"/>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 y="2212848"/>
            <a:ext cx="1170432" cy="964692"/>
          </a:xfrm>
          <a:prstGeom prst="rect">
            <a:avLst/>
          </a:prstGeom>
          <a:noFill/>
        </p:spPr>
        <p:txBody>
          <a:bodyPr wrap="square" anchor="ctr" lIns="54864" rIns="54864" tIns="36576" bIns="36576">
            <a:spAutoFit/>
          </a:bodyPr>
          <a:lstStyle/>
          <a:p>
            <a:pPr algn="ctr">
              <a:lnSpc>
                <a:spcPct val="118000"/>
              </a:lnSpc>
            </a:pPr>
          </a:p>
        </p:txBody>
      </p:sp>
      <p:sp>
        <p:nvSpPr>
          <p:cNvPr id="19" name="Rectangle 18"/>
          <p:cNvSpPr/>
          <p:nvPr/>
        </p:nvSpPr>
        <p:spPr>
          <a:xfrm>
            <a:off x="1856232" y="2212848"/>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9384"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1" name="TextBox 20"/>
          <p:cNvSpPr txBox="1"/>
          <p:nvPr/>
        </p:nvSpPr>
        <p:spPr>
          <a:xfrm>
            <a:off x="4690871" y="2212848"/>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2" name="Rectangle 21"/>
          <p:cNvSpPr/>
          <p:nvPr/>
        </p:nvSpPr>
        <p:spPr>
          <a:xfrm>
            <a:off x="5093207" y="2212848"/>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4" name="Rectangle 23"/>
          <p:cNvSpPr/>
          <p:nvPr/>
        </p:nvSpPr>
        <p:spPr>
          <a:xfrm>
            <a:off x="502920" y="3268980"/>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 y="3268980"/>
            <a:ext cx="1170432" cy="964692"/>
          </a:xfrm>
          <a:prstGeom prst="rect">
            <a:avLst/>
          </a:prstGeom>
          <a:noFill/>
        </p:spPr>
        <p:txBody>
          <a:bodyPr wrap="square" anchor="ctr" lIns="54864" rIns="54864" tIns="36576" bIns="36576">
            <a:spAutoFit/>
          </a:bodyPr>
          <a:lstStyle/>
          <a:p>
            <a:pPr algn="ctr">
              <a:lnSpc>
                <a:spcPct val="118000"/>
              </a:lnSpc>
            </a:pPr>
          </a:p>
        </p:txBody>
      </p:sp>
      <p:sp>
        <p:nvSpPr>
          <p:cNvPr id="26" name="Rectangle 25"/>
          <p:cNvSpPr/>
          <p:nvPr/>
        </p:nvSpPr>
        <p:spPr>
          <a:xfrm>
            <a:off x="1856232" y="3268980"/>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9384"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28" name="TextBox 27"/>
          <p:cNvSpPr txBox="1"/>
          <p:nvPr/>
        </p:nvSpPr>
        <p:spPr>
          <a:xfrm>
            <a:off x="4690871" y="3268980"/>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9" name="Rectangle 28"/>
          <p:cNvSpPr/>
          <p:nvPr/>
        </p:nvSpPr>
        <p:spPr>
          <a:xfrm>
            <a:off x="5093207" y="3268980"/>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59"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31" name="Rectangle 30"/>
          <p:cNvSpPr/>
          <p:nvPr/>
        </p:nvSpPr>
        <p:spPr>
          <a:xfrm>
            <a:off x="502920" y="4325112"/>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784" y="4325112"/>
            <a:ext cx="1170432" cy="964692"/>
          </a:xfrm>
          <a:prstGeom prst="rect">
            <a:avLst/>
          </a:prstGeom>
          <a:noFill/>
        </p:spPr>
        <p:txBody>
          <a:bodyPr wrap="square" anchor="ctr" lIns="54864" rIns="54864" tIns="36576" bIns="36576">
            <a:spAutoFit/>
          </a:bodyPr>
          <a:lstStyle/>
          <a:p>
            <a:pPr algn="ctr">
              <a:lnSpc>
                <a:spcPct val="118000"/>
              </a:lnSpc>
            </a:pPr>
          </a:p>
        </p:txBody>
      </p:sp>
      <p:sp>
        <p:nvSpPr>
          <p:cNvPr id="33" name="Rectangle 32"/>
          <p:cNvSpPr/>
          <p:nvPr/>
        </p:nvSpPr>
        <p:spPr>
          <a:xfrm>
            <a:off x="1856232" y="4325112"/>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9384"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5" name="TextBox 34"/>
          <p:cNvSpPr txBox="1"/>
          <p:nvPr/>
        </p:nvSpPr>
        <p:spPr>
          <a:xfrm>
            <a:off x="4690871" y="4325112"/>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36" name="Rectangle 35"/>
          <p:cNvSpPr/>
          <p:nvPr/>
        </p:nvSpPr>
        <p:spPr>
          <a:xfrm>
            <a:off x="5093207" y="4325112"/>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59"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8" name="Rectangle 37"/>
          <p:cNvSpPr/>
          <p:nvPr/>
        </p:nvSpPr>
        <p:spPr>
          <a:xfrm>
            <a:off x="502920" y="5381244"/>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 y="5381244"/>
            <a:ext cx="1170432" cy="964692"/>
          </a:xfrm>
          <a:prstGeom prst="rect">
            <a:avLst/>
          </a:prstGeom>
          <a:noFill/>
        </p:spPr>
        <p:txBody>
          <a:bodyPr wrap="square" anchor="ctr" lIns="54864" rIns="54864" tIns="36576" bIns="36576">
            <a:spAutoFit/>
          </a:bodyPr>
          <a:lstStyle/>
          <a:p>
            <a:pPr algn="ctr">
              <a:lnSpc>
                <a:spcPct val="118000"/>
              </a:lnSpc>
            </a:pPr>
          </a:p>
        </p:txBody>
      </p:sp>
      <p:sp>
        <p:nvSpPr>
          <p:cNvPr id="40" name="Rectangle 39"/>
          <p:cNvSpPr/>
          <p:nvPr/>
        </p:nvSpPr>
        <p:spPr>
          <a:xfrm>
            <a:off x="1856232" y="5381244"/>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9384"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2" name="TextBox 41"/>
          <p:cNvSpPr txBox="1"/>
          <p:nvPr/>
        </p:nvSpPr>
        <p:spPr>
          <a:xfrm>
            <a:off x="4690871" y="5381244"/>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43" name="Rectangle 42"/>
          <p:cNvSpPr/>
          <p:nvPr/>
        </p:nvSpPr>
        <p:spPr>
          <a:xfrm>
            <a:off x="5093207" y="5381244"/>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6359"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5" name="Rectangle 44"/>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48" name="Picture 47" descr="topic_16.jpg_160.jpg"/>
          <p:cNvPicPr>
            <a:picLocks noChangeAspect="1"/>
          </p:cNvPicPr>
          <p:nvPr/>
        </p:nvPicPr>
        <p:blipFill>
          <a:blip r:embed="rId2"/>
          <a:stretch>
            <a:fillRect/>
          </a:stretch>
        </p:blipFill>
        <p:spPr>
          <a:xfrm>
            <a:off x="8293607" y="1938528"/>
            <a:ext cx="3300984" cy="2057400"/>
          </a:xfrm>
          <a:prstGeom prst="rect">
            <a:avLst/>
          </a:prstGeom>
        </p:spPr>
      </p:pic>
      <p:sp>
        <p:nvSpPr>
          <p:cNvPr id="49" name="Rectangle 48"/>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商業情境視覺：董事長代表董事會掌握「方向盤與煞車（集體議事）」，CEO 則掌握「油門與引擎（行政執行）」。兩者是分工制衡，而非單純的官大官小。</a:t>
            </a:r>
          </a:p>
        </p:txBody>
      </p:sp>
      <p:sp>
        <p:nvSpPr>
          <p:cNvPr id="52" name="Rectangle 51"/>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55" name="TextBox 5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「董事長和 CEO（總經理）到底誰官大？」在台灣和大陸，90% 的人都會說「當然是董事長大」！但劉松博教授告訴你：**在法律職權上，董事長個人其實沒有任何行政指…</a:t>
            </a:r>
          </a:p>
        </p:txBody>
      </p:sp>
      <p:sp>
        <p:nvSpPr>
          <p:cNvPr id="56" name="Rectangle 55"/>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進階架構：【職銜 vs. 實權】穿透式權力盤點 ＆ 情境分合模型</a:t>
            </a:r>
          </a:p>
        </p:txBody>
      </p:sp>
      <p:sp>
        <p:nvSpPr>
          <p:cNvPr id="59" name="TextBox 5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進階治理者看一家公司的權力結構，絕不看名片上的職銜（Title），而是穿透看三層底牌：① **產權底牌**（誰是控股股東或實際控制人？）；② **任免底…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模組三：經理治理   ｜   版型 3：結合論法 (Combined Tree)   ｜   知識庫 #018</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主張：老闆與職業經理人反目不僅源於「自利代理問題」，更常源於優秀經理人將公司當自己家而產生的「過高心理所有權」</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從國美電器「黃光裕 vs. 陳曉控制權大戰」看懂兩類需被制約的人：故意做壞事的人，與自以為做好事卻越界的人</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劉松博《公司治理30講》17 講 ｜ 知識庫條目 #018 ｜ McKinsey Dual-Cause Tree Style  ｜  關鍵字：職業經理人 / 國美 / 黃光裕 / 陳曉 / 心理所有權 / 委託代理 / 內部人控制 / 亞當斯密</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20 / 42</a:t>
            </a:r>
          </a:p>
        </p:txBody>
      </p:sp>
      <p:sp>
        <p:nvSpPr>
          <p:cNvPr id="10" name="Rectangle 9"/>
          <p:cNvSpPr/>
          <p:nvPr/>
        </p:nvSpPr>
        <p:spPr>
          <a:xfrm>
            <a:off x="502920"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原因 1：委託代理問題（故意做壞事／自利動機）</a:t>
            </a:r>
          </a:p>
        </p:txBody>
      </p:sp>
      <p:sp>
        <p:nvSpPr>
          <p:cNvPr id="13" name="TextBox 12"/>
          <p:cNvSpPr txBox="1"/>
          <p:nvPr/>
        </p:nvSpPr>
        <p:spPr>
          <a:xfrm>
            <a:off x="594360"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4" name="Rectangle 13"/>
          <p:cNvSpPr/>
          <p:nvPr/>
        </p:nvSpPr>
        <p:spPr>
          <a:xfrm>
            <a:off x="4315967"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原因 2：心理所有權過高（自以為做好事／鳩佔鵲巢）</a:t>
            </a:r>
          </a:p>
        </p:txBody>
      </p:sp>
      <p:sp>
        <p:nvSpPr>
          <p:cNvPr id="17" name="TextBox 16"/>
          <p:cNvSpPr txBox="1"/>
          <p:nvPr/>
        </p:nvSpPr>
        <p:spPr>
          <a:xfrm>
            <a:off x="4407407"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8" name="Rounded Rectangle 17"/>
          <p:cNvSpPr/>
          <p:nvPr/>
        </p:nvSpPr>
        <p:spPr>
          <a:xfrm>
            <a:off x="502920" y="5330952"/>
            <a:ext cx="7498079" cy="101498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404104"/>
            <a:ext cx="7168895" cy="868680"/>
          </a:xfrm>
          <a:prstGeom prst="rect">
            <a:avLst/>
          </a:prstGeom>
          <a:noFill/>
        </p:spPr>
        <p:txBody>
          <a:bodyPr wrap="square" anchor="ctr" lIns="54864" rIns="54864" tIns="36576" bIns="36576">
            <a:spAutoFit/>
          </a:bodyPr>
          <a:lstStyle/>
          <a:p>
            <a:pPr algn="l">
              <a:lnSpc>
                <a:spcPct val="118000"/>
              </a:lnSpc>
            </a:pPr>
            <a:r>
              <a:rPr sz="1019" b="1">
                <a:solidFill>
                  <a:srgbClr val="FFFFFF"/>
                </a:solidFill>
                <a:latin typeface="Microsoft JhengHei"/>
              </a:rPr>
              <a:t>🎯 結合型核心綜效：</a:t>
            </a:r>
          </a:p>
        </p:txBody>
      </p:sp>
      <p:sp>
        <p:nvSpPr>
          <p:cNvPr id="20" name="Rectangle 19"/>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3" name="Picture 22" descr="topic_17.jpg_160.jpg"/>
          <p:cNvPicPr>
            <a:picLocks noChangeAspect="1"/>
          </p:cNvPicPr>
          <p:nvPr/>
        </p:nvPicPr>
        <p:blipFill>
          <a:blip r:embed="rId2"/>
          <a:stretch>
            <a:fillRect/>
          </a:stretch>
        </p:blipFill>
        <p:spPr>
          <a:xfrm>
            <a:off x="8293607" y="1938528"/>
            <a:ext cx="3300984" cy="2057400"/>
          </a:xfrm>
          <a:prstGeom prst="rect">
            <a:avLst/>
          </a:prstGeom>
        </p:spPr>
      </p:pic>
      <p:sp>
        <p:nvSpPr>
          <p:cNvPr id="24" name="Rectangle 23"/>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商業情境視覺：創始大股東與強勢職業經理人在會議室的眼神交鋒——衝突往往不是因為經理人不努力，而是因為經理人產生了「這家公司歸我管才對」的心理所有權。</a:t>
            </a:r>
          </a:p>
        </p:txBody>
      </p:sp>
      <p:sp>
        <p:nvSpPr>
          <p:cNvPr id="27" name="Rectangle 26"/>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30" name="TextBox 2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為什麼老闆請來的能幹總經理，最後常常跟老闆翻臉成仇人（像國美的黃光裕與陳曉）？老闆常罵經理人是「白眼狼」，但劉松博教授指出背後有兩個深層原因：第一種是「自私型（…</a:t>
            </a:r>
          </a:p>
        </p:txBody>
      </p:sp>
      <p:sp>
        <p:nvSpPr>
          <p:cNvPr id="31" name="Rectangle 30"/>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進階架構：【代理自利 × 心理所有權】經理人雙重衝突診斷模型</a:t>
            </a:r>
          </a:p>
        </p:txBody>
      </p:sp>
      <p:sp>
        <p:nvSpPr>
          <p:cNvPr id="34" name="TextBox 3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本講是第三模組「經理治理」的總綱。傳統經濟學只假設經理人是「自利的小人（Agency Theory）」，但組織行為學發現，高階經理人往往具有強烈的成就動…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模組三：經理治理   ｜   版型 2：並列論法 (Parallel)   ｜   知識庫 #019</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2D1054"/>
                </a:solidFill>
                <a:latin typeface="Microsoft JhengHei"/>
              </a:rPr>
              <a:t>① 主張：優秀的職業經理人必須具備「職業技能、職業態度、職業道德（契約精神）」三大維度，且好聚好散亦是職業化的體現</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從「史上最貴離職」百度總裁陸奇（離職令百度市值蒸發 900 億人民幣）看懂受人之託、忠人之事的最高職業準則</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劉松博《公司治理30講》18 講 ｜ 知識庫條目 #019 ｜ Accenture Three-Pillar Professionalism Style  ｜  關鍵字：職業化 / 職業經理人 / 陸奇 / 百度 / 李彥宏 / 契約精神 / 信義義務 / 空降兵</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21 / 42</a:t>
            </a:r>
          </a:p>
        </p:txBody>
      </p:sp>
      <p:sp>
        <p:nvSpPr>
          <p:cNvPr id="10" name="Rectangle 9"/>
          <p:cNvSpPr/>
          <p:nvPr/>
        </p:nvSpPr>
        <p:spPr>
          <a:xfrm>
            <a:off x="502920"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1</a:t>
            </a:r>
          </a:p>
        </p:txBody>
      </p:sp>
      <p:sp>
        <p:nvSpPr>
          <p:cNvPr id="14" name="TextBox 13"/>
          <p:cNvSpPr txBox="1"/>
          <p:nvPr/>
        </p:nvSpPr>
        <p:spPr>
          <a:xfrm>
            <a:off x="612648"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② 維度 1：職業技能（把事做對的硬實力）</a:t>
            </a:r>
          </a:p>
        </p:txBody>
      </p:sp>
      <p:sp>
        <p:nvSpPr>
          <p:cNvPr id="15" name="TextBox 14"/>
          <p:cNvSpPr txBox="1"/>
          <p:nvPr/>
        </p:nvSpPr>
        <p:spPr>
          <a:xfrm>
            <a:off x="612648"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16" name="Rectangle 15"/>
          <p:cNvSpPr/>
          <p:nvPr/>
        </p:nvSpPr>
        <p:spPr>
          <a:xfrm>
            <a:off x="4334255"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4255"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3"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3"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2</a:t>
            </a:r>
          </a:p>
        </p:txBody>
      </p:sp>
      <p:sp>
        <p:nvSpPr>
          <p:cNvPr id="20" name="TextBox 19"/>
          <p:cNvSpPr txBox="1"/>
          <p:nvPr/>
        </p:nvSpPr>
        <p:spPr>
          <a:xfrm>
            <a:off x="4443983"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③ 維度 2：職業態度（敬業與角色自覺）</a:t>
            </a:r>
          </a:p>
        </p:txBody>
      </p:sp>
      <p:sp>
        <p:nvSpPr>
          <p:cNvPr id="21" name="TextBox 20"/>
          <p:cNvSpPr txBox="1"/>
          <p:nvPr/>
        </p:nvSpPr>
        <p:spPr>
          <a:xfrm>
            <a:off x="4443983"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22" name="Rectangle 21"/>
          <p:cNvSpPr/>
          <p:nvPr/>
        </p:nvSpPr>
        <p:spPr>
          <a:xfrm>
            <a:off x="502920" y="404164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4164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 y="416966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16966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3</a:t>
            </a:r>
          </a:p>
        </p:txBody>
      </p:sp>
      <p:sp>
        <p:nvSpPr>
          <p:cNvPr id="26" name="TextBox 25"/>
          <p:cNvSpPr txBox="1"/>
          <p:nvPr/>
        </p:nvSpPr>
        <p:spPr>
          <a:xfrm>
            <a:off x="612648" y="446227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④ 維度 3：職業道德（契約精神・核心底線）</a:t>
            </a:r>
          </a:p>
        </p:txBody>
      </p:sp>
      <p:sp>
        <p:nvSpPr>
          <p:cNvPr id="27" name="TextBox 26"/>
          <p:cNvSpPr txBox="1"/>
          <p:nvPr/>
        </p:nvSpPr>
        <p:spPr>
          <a:xfrm>
            <a:off x="612648" y="4864608"/>
            <a:ext cx="3447287" cy="1408176"/>
          </a:xfrm>
          <a:prstGeom prst="rect">
            <a:avLst/>
          </a:prstGeom>
          <a:noFill/>
        </p:spPr>
        <p:txBody>
          <a:bodyPr wrap="square" anchor="t" lIns="54864" rIns="54864" tIns="36576" bIns="36576">
            <a:spAutoFit/>
          </a:bodyPr>
          <a:lstStyle/>
          <a:p>
            <a:pPr algn="l">
              <a:lnSpc>
                <a:spcPct val="118000"/>
              </a:lnSpc>
            </a:pPr>
          </a:p>
        </p:txBody>
      </p:sp>
      <p:sp>
        <p:nvSpPr>
          <p:cNvPr id="28" name="Rectangle 27"/>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1" name="Picture 30" descr="topic_18.jpg_160.jpg"/>
          <p:cNvPicPr>
            <a:picLocks noChangeAspect="1"/>
          </p:cNvPicPr>
          <p:nvPr/>
        </p:nvPicPr>
        <p:blipFill>
          <a:blip r:embed="rId2"/>
          <a:stretch>
            <a:fillRect/>
          </a:stretch>
        </p:blipFill>
        <p:spPr>
          <a:xfrm>
            <a:off x="8293607" y="1938528"/>
            <a:ext cx="3300984" cy="2057400"/>
          </a:xfrm>
          <a:prstGeom prst="rect">
            <a:avLst/>
          </a:prstGeom>
        </p:spPr>
      </p:pic>
      <p:sp>
        <p:nvSpPr>
          <p:cNvPr id="32" name="Rectangle 31"/>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商業情境視覺：真正的「職業化（Professionalism）」無關乎任期長短，而在於在職時傾盡全力履行受託責任，離任時嚴守契約精神與商業操守。</a:t>
            </a:r>
          </a:p>
        </p:txBody>
      </p:sp>
      <p:sp>
        <p:nvSpPr>
          <p:cNvPr id="35" name="Rectangle 34"/>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38" name="TextBox 37"/>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什麼叫「這個人很職業（Professional）」？劉松博教授把「職業化」拆成三個標準：① **有本事（職業技能）**；② **有敬業精神（職業態度）**；③ …</a:t>
            </a:r>
          </a:p>
        </p:txBody>
      </p:sp>
      <p:sp>
        <p:nvSpPr>
          <p:cNvPr id="39" name="Rectangle 38"/>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進階架構：【技能 × 態度 × 契約精神】高管選任與空降落地模型</a:t>
            </a:r>
          </a:p>
        </p:txBody>
      </p:sp>
      <p:sp>
        <p:nvSpPr>
          <p:cNvPr id="42" name="TextBox 41"/>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在不完全契約下（第 04 講），一紙聘任合約不可能寫盡所有道德風險，因此高管的「職業道德與聲譽約束」是降低代理成本的無形資產。進階企業主在引進外部空降高…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模組三：經理治理   ｜   版型 3：結合論法 (Combined Tree)   ｜   知識庫 #020</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主張：高管天價薪酬既是吸引人才與「錦標賽激勵」的市場結果，也是高管利用「管理層權力」自我定薪的治理失衡產物</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從聯想楊元慶 1.19 億年薪、平安馬明哲 6600 萬到「業績下滑高管卻加薪」怪象，剖析薪酬背後的權力博弈</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劉松博《公司治理30講》19 講 ｜ 知識庫條目 #020 ｜ BCG Compensation &amp; Power Tree  ｜  關鍵字：高管薪酬 / 管理層權力 / 錦標賽理論 / 參與約束 / 激勵相容 / 楊元慶 / 馬明哲 / 薪酬委員會</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22 / 42</a:t>
            </a:r>
          </a:p>
        </p:txBody>
      </p:sp>
      <p:sp>
        <p:nvSpPr>
          <p:cNvPr id="10" name="Rectangle 9"/>
          <p:cNvSpPr/>
          <p:nvPr/>
        </p:nvSpPr>
        <p:spPr>
          <a:xfrm>
            <a:off x="502920" y="1572768"/>
            <a:ext cx="3685031" cy="3611880"/>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85031" cy="694944"/>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正面合理性：契約約束與錦標賽理論</a:t>
            </a:r>
          </a:p>
        </p:txBody>
      </p:sp>
      <p:sp>
        <p:nvSpPr>
          <p:cNvPr id="13" name="TextBox 12"/>
          <p:cNvSpPr txBox="1"/>
          <p:nvPr/>
        </p:nvSpPr>
        <p:spPr>
          <a:xfrm>
            <a:off x="594360"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4" name="Rectangle 13"/>
          <p:cNvSpPr/>
          <p:nvPr/>
        </p:nvSpPr>
        <p:spPr>
          <a:xfrm>
            <a:off x="4315967" y="1572768"/>
            <a:ext cx="3685031" cy="3611880"/>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572768"/>
            <a:ext cx="3685031" cy="694944"/>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負面失控源：管理層權力理論（自己給自己定薪）</a:t>
            </a:r>
          </a:p>
        </p:txBody>
      </p:sp>
      <p:sp>
        <p:nvSpPr>
          <p:cNvPr id="17" name="TextBox 16"/>
          <p:cNvSpPr txBox="1"/>
          <p:nvPr/>
        </p:nvSpPr>
        <p:spPr>
          <a:xfrm>
            <a:off x="4407407"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8" name="Rounded Rectangle 17"/>
          <p:cNvSpPr/>
          <p:nvPr/>
        </p:nvSpPr>
        <p:spPr>
          <a:xfrm>
            <a:off x="502920" y="5330952"/>
            <a:ext cx="7498079" cy="1014984"/>
          </a:xfrm>
          <a:prstGeom prst="round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404104"/>
            <a:ext cx="7168895" cy="868680"/>
          </a:xfrm>
          <a:prstGeom prst="rect">
            <a:avLst/>
          </a:prstGeom>
          <a:noFill/>
        </p:spPr>
        <p:txBody>
          <a:bodyPr wrap="square" anchor="ctr" lIns="54864" rIns="54864" tIns="36576" bIns="36576">
            <a:spAutoFit/>
          </a:bodyPr>
          <a:lstStyle/>
          <a:p>
            <a:pPr algn="l">
              <a:lnSpc>
                <a:spcPct val="118000"/>
              </a:lnSpc>
            </a:pPr>
            <a:r>
              <a:rPr sz="1019" b="1">
                <a:solidFill>
                  <a:srgbClr val="FFFFFF"/>
                </a:solidFill>
                <a:latin typeface="Microsoft JhengHei"/>
              </a:rPr>
              <a:t>🎯 結合型核心綜效：</a:t>
            </a:r>
          </a:p>
        </p:txBody>
      </p:sp>
      <p:sp>
        <p:nvSpPr>
          <p:cNvPr id="20" name="Rectangle 19"/>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3" name="Picture 22" descr="topic_19.jpg_160.jpg"/>
          <p:cNvPicPr>
            <a:picLocks noChangeAspect="1"/>
          </p:cNvPicPr>
          <p:nvPr/>
        </p:nvPicPr>
        <p:blipFill>
          <a:blip r:embed="rId2"/>
          <a:stretch>
            <a:fillRect/>
          </a:stretch>
        </p:blipFill>
        <p:spPr>
          <a:xfrm>
            <a:off x="8293607" y="1938528"/>
            <a:ext cx="3300984" cy="2057400"/>
          </a:xfrm>
          <a:prstGeom prst="rect">
            <a:avLst/>
          </a:prstGeom>
        </p:spPr>
      </p:pic>
      <p:sp>
        <p:nvSpPr>
          <p:cNvPr id="24" name="Rectangle 23"/>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商業情境視覺：金字塔頂端的天價獎盃（錦標賽理論）能激勵全體選手奮力向上攀登；但若裁判（薪酬委員會）成了選手的附庸，獎金就會演變成失控的自肥。</a:t>
            </a:r>
          </a:p>
        </p:txBody>
      </p:sp>
      <p:sp>
        <p:nvSpPr>
          <p:cNvPr id="27" name="Rectangle 26"/>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30" name="TextBox 2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為什麼大公司的 CEO 一年能領幾千萬甚至上億薪水，普通員工不吃不喝幾百年都賺不到？劉松博教授從正反兩面拆解：**正面來看（合理面）**：第一，頂級 CEO 是…</a:t>
            </a:r>
          </a:p>
        </p:txBody>
      </p:sp>
      <p:sp>
        <p:nvSpPr>
          <p:cNvPr id="31" name="Rectangle 30"/>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進階架構：【參與約束 × 激勵相容 × 定薪權隔離】高管薪酬治理模型</a:t>
            </a:r>
          </a:p>
        </p:txBody>
      </p:sp>
      <p:sp>
        <p:nvSpPr>
          <p:cNvPr id="34" name="TextBox 3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進階決策者在設計高管薪酬體系時，必須跳出「給多給少」的直覺爭論，建立三層制度防線：① **市場對標（滿足參與約束）**；② **結構掛鉤（滿足激勵相容，…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模組三：經理治理   ｜   版型 5：麥肯錫論法 (McKinsey Matrix)   ｜   知識庫 #021</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主張：股權激勵不是「一發就靈」的萬靈丹，必須克服股價扭曲與按錢認購誤區，並結合人力資源五大配套機制</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從安然高管為拉抬股價造假、非上市企業按「誰有錢誰多買」導致失衡，建立系統化的高管股權激勵閉環</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劉松博《公司治理30講》20 講 ｜ 知識庫條目 #021 ｜ McKinsey Equity Incentive Matrix  ｜  關鍵字：股權激勵 / 股票期權 / 限制性股票 / 套現 / 動態調整 / 人才梯隊 / 績效考核</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23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陷阱 1：股價與真實努力脫鉤</a:t>
            </a:r>
          </a:p>
          <a:p>
            <a:pPr algn="ctr">
              <a:lnSpc>
                <a:spcPct val="118000"/>
              </a:lnSpc>
            </a:pPr>
            <a:r>
              <a:rPr sz="919" b="1">
                <a:solidFill>
                  <a:srgbClr val="FFFFFF"/>
                </a:solidFill>
                <a:latin typeface="Microsoft JhengHei"/>
              </a:rPr>
              <a:t>（大盤牛熊與造假誘因）</a:t>
            </a:r>
          </a:p>
        </p:txBody>
      </p:sp>
      <p:sp>
        <p:nvSpPr>
          <p:cNvPr id="14" name="Chevron 13"/>
          <p:cNvSpPr/>
          <p:nvPr/>
        </p:nvSpPr>
        <p:spPr>
          <a:xfrm>
            <a:off x="3855719"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8871"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陷阱 2：套現暴富即躺平離職</a:t>
            </a:r>
          </a:p>
          <a:p>
            <a:pPr algn="ctr">
              <a:lnSpc>
                <a:spcPct val="118000"/>
              </a:lnSpc>
            </a:pPr>
            <a:r>
              <a:rPr sz="919" b="1">
                <a:solidFill>
                  <a:srgbClr val="FFFFFF"/>
                </a:solidFill>
                <a:latin typeface="Microsoft JhengHei"/>
              </a:rPr>
              <a:t>（缺乏滾動鎖定與梯隊）</a:t>
            </a:r>
          </a:p>
        </p:txBody>
      </p:sp>
      <p:sp>
        <p:nvSpPr>
          <p:cNvPr id="16" name="Chevron 15"/>
          <p:cNvSpPr/>
          <p:nvPr/>
        </p:nvSpPr>
        <p:spPr>
          <a:xfrm>
            <a:off x="5964935"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8087"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陷阱 3：非上市按「購買力」發股</a:t>
            </a:r>
          </a:p>
          <a:p>
            <a:pPr algn="ctr">
              <a:lnSpc>
                <a:spcPct val="118000"/>
              </a:lnSpc>
            </a:pPr>
            <a:r>
              <a:rPr sz="919" b="1">
                <a:solidFill>
                  <a:srgbClr val="FFFFFF"/>
                </a:solidFill>
                <a:latin typeface="Microsoft JhengHei"/>
              </a:rPr>
              <a:t>（有錢老臣多買、新銳少買）</a:t>
            </a:r>
          </a:p>
        </p:txBody>
      </p:sp>
      <p:sp>
        <p:nvSpPr>
          <p:cNvPr id="18" name="Rectangle 17"/>
          <p:cNvSpPr/>
          <p:nvPr/>
        </p:nvSpPr>
        <p:spPr>
          <a:xfrm>
            <a:off x="502920" y="2249424"/>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2249424"/>
            <a:ext cx="1060704" cy="2002536"/>
          </a:xfrm>
          <a:prstGeom prst="rect">
            <a:avLst/>
          </a:prstGeom>
          <a:noFill/>
        </p:spPr>
        <p:txBody>
          <a:bodyPr wrap="square" anchor="ctr" lIns="54864" rIns="54864" tIns="36576" bIns="36576">
            <a:spAutoFit/>
          </a:bodyPr>
          <a:lstStyle/>
          <a:p>
            <a:pPr algn="ctr">
              <a:lnSpc>
                <a:spcPct val="118000"/>
              </a:lnSpc>
            </a:pPr>
          </a:p>
        </p:txBody>
      </p:sp>
      <p:sp>
        <p:nvSpPr>
          <p:cNvPr id="20" name="Rectangle 19"/>
          <p:cNvSpPr/>
          <p:nvPr/>
        </p:nvSpPr>
        <p:spPr>
          <a:xfrm>
            <a:off x="1746504"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19656"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牛市時躺著賺、熊市時再努力期權也變廢紙；甚至誘發高管為高位套現而粉飾財報、砍研發保短期股價</a:t>
            </a:r>
          </a:p>
        </p:txBody>
      </p:sp>
      <p:sp>
        <p:nvSpPr>
          <p:cNvPr id="22" name="Rectangle 21"/>
          <p:cNvSpPr/>
          <p:nvPr/>
        </p:nvSpPr>
        <p:spPr>
          <a:xfrm>
            <a:off x="3855719"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8871"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一解禁立刻賣股套現買豪宅、甚至辭職創業，把股權激勵變成「一次性離職大紅包」</a:t>
            </a:r>
          </a:p>
        </p:txBody>
      </p:sp>
      <p:sp>
        <p:nvSpPr>
          <p:cNvPr id="24" name="Rectangle 23"/>
          <p:cNvSpPr/>
          <p:nvPr/>
        </p:nvSpPr>
        <p:spPr>
          <a:xfrm>
            <a:off x="5964935"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8087"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某非上市民企讓高管掏錢買股，結果有錢但無貢獻的老臣買最多，真正能打仗的年輕高管沒錢買，激勵徹底失效</a:t>
            </a:r>
          </a:p>
        </p:txBody>
      </p:sp>
      <p:sp>
        <p:nvSpPr>
          <p:cNvPr id="26" name="Rectangle 25"/>
          <p:cNvSpPr/>
          <p:nvPr/>
        </p:nvSpPr>
        <p:spPr>
          <a:xfrm>
            <a:off x="502920" y="4343400"/>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 y="4343400"/>
            <a:ext cx="1060704" cy="2002536"/>
          </a:xfrm>
          <a:prstGeom prst="rect">
            <a:avLst/>
          </a:prstGeom>
          <a:noFill/>
        </p:spPr>
        <p:txBody>
          <a:bodyPr wrap="square" anchor="ctr" lIns="54864" rIns="54864" tIns="36576" bIns="36576">
            <a:spAutoFit/>
          </a:bodyPr>
          <a:lstStyle/>
          <a:p>
            <a:pPr algn="ctr">
              <a:lnSpc>
                <a:spcPct val="118000"/>
              </a:lnSpc>
            </a:pPr>
          </a:p>
        </p:txBody>
      </p:sp>
      <p:sp>
        <p:nvSpPr>
          <p:cNvPr id="28" name="Rectangle 27"/>
          <p:cNvSpPr/>
          <p:nvPr/>
        </p:nvSpPr>
        <p:spPr>
          <a:xfrm>
            <a:off x="1746504"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19656"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【多元績效考核＋內外強監督】：行權條件不能只看股價，必須綁定長期 ROE、現金流與戰略里程碑</a:t>
            </a:r>
          </a:p>
        </p:txBody>
      </p:sp>
      <p:sp>
        <p:nvSpPr>
          <p:cNvPr id="30" name="Rectangle 29"/>
          <p:cNvSpPr/>
          <p:nvPr/>
        </p:nvSpPr>
        <p:spPr>
          <a:xfrm>
            <a:off x="3855719"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8871"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【動態調整＋人才梯隊】：分批滾動授予（Rolling Grant）、拉長鎖定期，並隨時準備好板凳接班人</a:t>
            </a:r>
          </a:p>
        </p:txBody>
      </p:sp>
      <p:sp>
        <p:nvSpPr>
          <p:cNvPr id="32" name="Rectangle 31"/>
          <p:cNvSpPr/>
          <p:nvPr/>
        </p:nvSpPr>
        <p:spPr>
          <a:xfrm>
            <a:off x="5964935"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8087"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【按價值貢獻定額＋深度溝通】：依據崗位價值與未來貢獻分配額度（可配借款或分紅抵繳），並講清規則與風險</a:t>
            </a:r>
          </a:p>
        </p:txBody>
      </p:sp>
      <p:sp>
        <p:nvSpPr>
          <p:cNvPr id="34" name="Rectangle 33"/>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7" name="Picture 36" descr="topic_20.jpg_160.jpg"/>
          <p:cNvPicPr>
            <a:picLocks noChangeAspect="1"/>
          </p:cNvPicPr>
          <p:nvPr/>
        </p:nvPicPr>
        <p:blipFill>
          <a:blip r:embed="rId2"/>
          <a:stretch>
            <a:fillRect/>
          </a:stretch>
        </p:blipFill>
        <p:spPr>
          <a:xfrm>
            <a:off x="8293607" y="1938528"/>
            <a:ext cx="3300984" cy="2057400"/>
          </a:xfrm>
          <a:prstGeom prst="rect">
            <a:avLst/>
          </a:prstGeom>
        </p:spPr>
      </p:pic>
      <p:sp>
        <p:nvSpPr>
          <p:cNvPr id="38" name="Rectangle 37"/>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商業情境視覺：股權激勵若只盯短期股價曲線，極易誘發高管操縱財報或套現離場；唯有嵌入長期績效、動態調整與梯隊建設，才能真正綁定人心。</a:t>
            </a:r>
          </a:p>
        </p:txBody>
      </p:sp>
      <p:sp>
        <p:nvSpPr>
          <p:cNvPr id="41" name="Rectangle 40"/>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4" name="TextBox 43"/>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很多老闆以為「只要給高管發了股票，高管就會把公司當自己家拚命幹」，結果往往大失所望！為什麼高管股權激勵常失效？第一，上市公司的股價常受大盤影響（大盤跌時高管再努…</a:t>
            </a:r>
          </a:p>
        </p:txBody>
      </p:sp>
      <p:sp>
        <p:nvSpPr>
          <p:cNvPr id="45" name="Rectangle 44"/>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進階架構：【績效・估值・動態・梯隊・溝通】五維股權激勵系統</a:t>
            </a:r>
          </a:p>
        </p:txBody>
      </p:sp>
      <p:sp>
        <p:nvSpPr>
          <p:cNvPr id="48" name="TextBox 47"/>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股權激勵本質上是將部分「剩餘索取權」讓渡給經理人以換取長期投入。但若缺乏「監控機制（防操縱財報）」與「滾動鎖定機制（防一把套現走人）」，股權激勵反而會放…</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模組三：特殊產權治理   ｜   版型 7：比較論法 (Comparison / Venn)   ｜   知識庫 #022</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主張：國有企業改革的核心不在「一賣了之」，而在於依「商業類 vs. 公益類」分類推進混合所有制，劃清行政治理與公司治理邊界</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從聯想、雲南白藥（陳發樹投入 254 億獲並立第一大股東）與中國聯通混改，看懂國資保值與民企活力的交集融合</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劉松博《公司治理30講》21 講 ｜ 知識庫條目 #022 ｜ BCG Venn Comparison Style  ｜  關鍵字：混合所有制 / 國企改革 / 雲南白藥 / 陳發樹 / 中國聯通 / MBO / 所有者缺位 / 分類治理</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24 / 42</a:t>
            </a:r>
          </a:p>
        </p:txBody>
      </p:sp>
      <p:sp>
        <p:nvSpPr>
          <p:cNvPr id="10" name="Rectangle 9"/>
          <p:cNvSpPr/>
          <p:nvPr/>
        </p:nvSpPr>
        <p:spPr>
          <a:xfrm>
            <a:off x="502920" y="1572768"/>
            <a:ext cx="2426207" cy="4773168"/>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2426207" cy="62179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09344"/>
            <a:ext cx="2279903" cy="548640"/>
          </a:xfrm>
          <a:prstGeom prst="rect">
            <a:avLst/>
          </a:prstGeom>
          <a:noFill/>
        </p:spPr>
        <p:txBody>
          <a:bodyPr wrap="square" anchor="ctr" lIns="54864" rIns="54864" tIns="36576" bIns="36576">
            <a:spAutoFit/>
          </a:bodyPr>
          <a:lstStyle/>
          <a:p>
            <a:pPr algn="ctr">
              <a:lnSpc>
                <a:spcPct val="118000"/>
              </a:lnSpc>
            </a:pPr>
            <a:r>
              <a:rPr sz="1000" b="1">
                <a:solidFill>
                  <a:srgbClr val="FFFFFF"/>
                </a:solidFill>
                <a:latin typeface="Microsoft JhengHei"/>
              </a:rPr>
              <a:t>① 國有資本屬性（④ 差異點）</a:t>
            </a:r>
          </a:p>
        </p:txBody>
      </p:sp>
      <p:sp>
        <p:nvSpPr>
          <p:cNvPr id="13" name="TextBox 12"/>
          <p:cNvSpPr txBox="1"/>
          <p:nvPr/>
        </p:nvSpPr>
        <p:spPr>
          <a:xfrm>
            <a:off x="612648" y="2304288"/>
            <a:ext cx="2206751" cy="3931920"/>
          </a:xfrm>
          <a:prstGeom prst="rect">
            <a:avLst/>
          </a:prstGeom>
          <a:noFill/>
        </p:spPr>
        <p:txBody>
          <a:bodyPr wrap="square" anchor="t" lIns="54864" rIns="54864" tIns="36576" bIns="36576">
            <a:spAutoFit/>
          </a:bodyPr>
          <a:lstStyle/>
          <a:p>
            <a:pPr algn="l">
              <a:lnSpc>
                <a:spcPct val="118000"/>
              </a:lnSpc>
            </a:pPr>
            <a:r>
              <a:rPr sz="919" b="0">
                <a:solidFill>
                  <a:srgbClr val="1A2E23"/>
                </a:solidFill>
                <a:latin typeface="Microsoft JhengHei"/>
              </a:rPr>
              <a:t>● 背負多重目標：除經濟利潤外，還承擔國家安全、民生保供、穩定就業與策略基建等社會責任</a:t>
            </a:r>
          </a:p>
          <a:p>
            <a:pPr algn="l">
              <a:lnSpc>
                <a:spcPct val="118000"/>
              </a:lnSpc>
            </a:pPr>
          </a:p>
          <a:p>
            <a:pPr algn="l">
              <a:lnSpc>
                <a:spcPct val="118000"/>
              </a:lnSpc>
            </a:pPr>
            <a:r>
              <a:rPr sz="919" b="0">
                <a:solidFill>
                  <a:srgbClr val="1A2E23"/>
                </a:solidFill>
                <a:latin typeface="Microsoft JhengHei"/>
              </a:rPr>
              <a:t>● 治理痛點：「所有者缺位（誰都是老闆、誰都不是真老闆）」與行政干預過多、高管限薪缺乏激勵</a:t>
            </a:r>
          </a:p>
          <a:p>
            <a:pPr algn="l">
              <a:lnSpc>
                <a:spcPct val="118000"/>
              </a:lnSpc>
            </a:pPr>
          </a:p>
          <a:p>
            <a:pPr algn="l">
              <a:lnSpc>
                <a:spcPct val="118000"/>
              </a:lnSpc>
            </a:pPr>
            <a:r>
              <a:rPr sz="919" b="0">
                <a:solidFill>
                  <a:srgbClr val="1A2E23"/>
                </a:solidFill>
                <a:latin typeface="Microsoft JhengHei"/>
              </a:rPr>
              <a:t>● 改革紅線：嚴防管理層收購（MBO）低價賤賣導致國有資產流失</a:t>
            </a:r>
          </a:p>
        </p:txBody>
      </p:sp>
      <p:sp>
        <p:nvSpPr>
          <p:cNvPr id="14" name="Rectangle 13"/>
          <p:cNvSpPr/>
          <p:nvPr/>
        </p:nvSpPr>
        <p:spPr>
          <a:xfrm>
            <a:off x="3038855" y="1572768"/>
            <a:ext cx="2426207" cy="4773168"/>
          </a:xfrm>
          <a:prstGeom prst="rect">
            <a:avLst/>
          </a:prstGeom>
          <a:solidFill>
            <a:srgbClr val="F2F8F5"/>
          </a:solidFill>
          <a:ln w="2286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38855" y="1572768"/>
            <a:ext cx="2426207" cy="621792"/>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12007" y="1609344"/>
            <a:ext cx="2279903" cy="548640"/>
          </a:xfrm>
          <a:prstGeom prst="rect">
            <a:avLst/>
          </a:prstGeom>
          <a:noFill/>
        </p:spPr>
        <p:txBody>
          <a:bodyPr wrap="square" anchor="ctr" lIns="54864" rIns="54864" tIns="36576" bIns="36576">
            <a:spAutoFit/>
          </a:bodyPr>
          <a:lstStyle/>
          <a:p>
            <a:pPr algn="ctr">
              <a:lnSpc>
                <a:spcPct val="118000"/>
              </a:lnSpc>
            </a:pPr>
            <a:r>
              <a:rPr sz="1000" b="1">
                <a:solidFill>
                  <a:srgbClr val="FFFFFF"/>
                </a:solidFill>
                <a:latin typeface="Microsoft JhengHei"/>
              </a:rPr>
              <a:t>③ 混合所有制核心交集（混改成功關鍵）</a:t>
            </a:r>
          </a:p>
        </p:txBody>
      </p:sp>
      <p:sp>
        <p:nvSpPr>
          <p:cNvPr id="17" name="TextBox 16"/>
          <p:cNvSpPr txBox="1"/>
          <p:nvPr/>
        </p:nvSpPr>
        <p:spPr>
          <a:xfrm>
            <a:off x="3148583" y="2304288"/>
            <a:ext cx="2206751" cy="3931920"/>
          </a:xfrm>
          <a:prstGeom prst="rect">
            <a:avLst/>
          </a:prstGeom>
          <a:noFill/>
        </p:spPr>
        <p:txBody>
          <a:bodyPr wrap="square" anchor="t" lIns="54864" rIns="54864" tIns="36576" bIns="36576">
            <a:spAutoFit/>
          </a:bodyPr>
          <a:lstStyle/>
          <a:p>
            <a:pPr algn="l">
              <a:lnSpc>
                <a:spcPct val="118000"/>
              </a:lnSpc>
            </a:pPr>
            <a:r>
              <a:rPr sz="919" b="0">
                <a:solidFill>
                  <a:srgbClr val="1A2E23"/>
                </a:solidFill>
                <a:latin typeface="Microsoft JhengHei"/>
              </a:rPr>
              <a:t>● 【不光要『混』，更要『改』】：引入非公資本後，必須將「行政治理」轉軌為真正的「現代公司治理」</a:t>
            </a:r>
          </a:p>
          <a:p>
            <a:pPr algn="l">
              <a:lnSpc>
                <a:spcPct val="118000"/>
              </a:lnSpc>
            </a:pPr>
          </a:p>
          <a:p>
            <a:pPr algn="l">
              <a:lnSpc>
                <a:spcPct val="118000"/>
              </a:lnSpc>
            </a:pPr>
            <a:r>
              <a:rPr sz="919" b="0">
                <a:solidFill>
                  <a:srgbClr val="1A2E23"/>
                </a:solidFill>
                <a:latin typeface="Microsoft JhengHei"/>
              </a:rPr>
              <a:t>● 【雲南白藥標竿模式】：國資與民企新華都（陳發樹）各持 45% 並列、董事會席位對等、管理層完全市場化選聘與激勵</a:t>
            </a:r>
          </a:p>
          <a:p>
            <a:pPr algn="l">
              <a:lnSpc>
                <a:spcPct val="118000"/>
              </a:lnSpc>
            </a:pPr>
          </a:p>
          <a:p>
            <a:pPr algn="l">
              <a:lnSpc>
                <a:spcPct val="118000"/>
              </a:lnSpc>
            </a:pPr>
            <a:r>
              <a:rPr sz="919" b="0">
                <a:solidFill>
                  <a:srgbClr val="1A2E23"/>
                </a:solidFill>
                <a:latin typeface="Microsoft JhengHei"/>
              </a:rPr>
              <a:t>● 【分類治理】：商業競爭類國企大膽放開混改；公益保障類國企聚焦公共服務效率</a:t>
            </a:r>
          </a:p>
        </p:txBody>
      </p:sp>
      <p:sp>
        <p:nvSpPr>
          <p:cNvPr id="18" name="Rectangle 17"/>
          <p:cNvSpPr/>
          <p:nvPr/>
        </p:nvSpPr>
        <p:spPr>
          <a:xfrm>
            <a:off x="5574791" y="1572768"/>
            <a:ext cx="2426207" cy="4773168"/>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74791" y="1572768"/>
            <a:ext cx="2426207" cy="62179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47943" y="1609344"/>
            <a:ext cx="2279903" cy="548640"/>
          </a:xfrm>
          <a:prstGeom prst="rect">
            <a:avLst/>
          </a:prstGeom>
          <a:noFill/>
        </p:spPr>
        <p:txBody>
          <a:bodyPr wrap="square" anchor="ctr" lIns="54864" rIns="54864" tIns="36576" bIns="36576">
            <a:spAutoFit/>
          </a:bodyPr>
          <a:lstStyle/>
          <a:p>
            <a:pPr algn="ctr">
              <a:lnSpc>
                <a:spcPct val="118000"/>
              </a:lnSpc>
            </a:pPr>
            <a:r>
              <a:rPr sz="1000" b="1">
                <a:solidFill>
                  <a:srgbClr val="FFFFFF"/>
                </a:solidFill>
                <a:latin typeface="Microsoft JhengHei"/>
              </a:rPr>
              <a:t>① 民營與社會資本屬性（④ 差異點）</a:t>
            </a:r>
          </a:p>
        </p:txBody>
      </p:sp>
      <p:sp>
        <p:nvSpPr>
          <p:cNvPr id="21" name="TextBox 20"/>
          <p:cNvSpPr txBox="1"/>
          <p:nvPr/>
        </p:nvSpPr>
        <p:spPr>
          <a:xfrm>
            <a:off x="5684519" y="2304288"/>
            <a:ext cx="2206751" cy="3931920"/>
          </a:xfrm>
          <a:prstGeom prst="rect">
            <a:avLst/>
          </a:prstGeom>
          <a:noFill/>
        </p:spPr>
        <p:txBody>
          <a:bodyPr wrap="square" anchor="t" lIns="54864" rIns="54864" tIns="36576" bIns="36576">
            <a:spAutoFit/>
          </a:bodyPr>
          <a:lstStyle/>
          <a:p>
            <a:pPr algn="l">
              <a:lnSpc>
                <a:spcPct val="118000"/>
              </a:lnSpc>
            </a:pPr>
            <a:r>
              <a:rPr sz="919" b="0">
                <a:solidFill>
                  <a:srgbClr val="1A2E23"/>
                </a:solidFill>
                <a:latin typeface="Microsoft JhengHei"/>
              </a:rPr>
              <a:t>● 目標單一明確：追求資本回報與市場競爭效率最大化</a:t>
            </a:r>
          </a:p>
          <a:p>
            <a:pPr algn="l">
              <a:lnSpc>
                <a:spcPct val="118000"/>
              </a:lnSpc>
            </a:pPr>
          </a:p>
          <a:p>
            <a:pPr algn="l">
              <a:lnSpc>
                <a:spcPct val="118000"/>
              </a:lnSpc>
            </a:pPr>
            <a:r>
              <a:rPr sz="919" b="0">
                <a:solidFill>
                  <a:srgbClr val="1A2E23"/>
                </a:solidFill>
                <a:latin typeface="Microsoft JhengHei"/>
              </a:rPr>
              <a:t>● 治理優勢：產權清晰、決策靈活、激勵機制高度市場化</a:t>
            </a:r>
          </a:p>
          <a:p>
            <a:pPr algn="l">
              <a:lnSpc>
                <a:spcPct val="118000"/>
              </a:lnSpc>
            </a:pPr>
          </a:p>
          <a:p>
            <a:pPr algn="l">
              <a:lnSpc>
                <a:spcPct val="118000"/>
              </a:lnSpc>
            </a:pPr>
            <a:r>
              <a:rPr sz="919" b="0">
                <a:solidFill>
                  <a:srgbClr val="1A2E23"/>
                </a:solidFill>
                <a:latin typeface="Microsoft JhengHei"/>
              </a:rPr>
              <a:t>● 參與混改顧慮：最怕「關門打狗」——投了巨資卻在董事會毫無話語權，淪為純粹湊錢的財務附庸</a:t>
            </a:r>
          </a:p>
        </p:txBody>
      </p:sp>
      <p:sp>
        <p:nvSpPr>
          <p:cNvPr id="22" name="Rectangle 21"/>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5" name="Picture 24" descr="topic_21.jpg_160.jpg"/>
          <p:cNvPicPr>
            <a:picLocks noChangeAspect="1"/>
          </p:cNvPicPr>
          <p:nvPr/>
        </p:nvPicPr>
        <p:blipFill>
          <a:blip r:embed="rId2"/>
          <a:stretch>
            <a:fillRect/>
          </a:stretch>
        </p:blipFill>
        <p:spPr>
          <a:xfrm>
            <a:off x="8293607" y="1938528"/>
            <a:ext cx="3300984" cy="2057400"/>
          </a:xfrm>
          <a:prstGeom prst="rect">
            <a:avLst/>
          </a:prstGeom>
        </p:spPr>
      </p:pic>
      <p:sp>
        <p:nvSpPr>
          <p:cNvPr id="26" name="Rectangle 25"/>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商業情境視覺：國有資本的雄厚基石與民營資本的市場活力，唯有在「政企分開、同股同權、董事會實質制衡」的制度橋樑下才能實現真正融合。</a:t>
            </a:r>
          </a:p>
        </p:txBody>
      </p:sp>
      <p:sp>
        <p:nvSpPr>
          <p:cNvPr id="29" name="Rectangle 28"/>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32" name="TextBox 31"/>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為什麼有人罵國企效率低，但國家又不能把國企全部私有化賣光？因為國企不只為了賺錢，還要負責水電、高鐵、國防、偏遠地區通訊等民生大計！那競爭性行業的國企怎麼提升效率…</a:t>
            </a:r>
          </a:p>
        </p:txBody>
      </p:sp>
      <p:sp>
        <p:nvSpPr>
          <p:cNvPr id="33" name="Rectangle 32"/>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進階架構：【產權混合 × 治理邊界隔離】公私合營治理模型</a:t>
            </a:r>
          </a:p>
        </p:txBody>
      </p:sp>
      <p:sp>
        <p:nvSpPr>
          <p:cNvPr id="36" name="TextBox 35"/>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從第 04 講「對等原則」來看，傳統國企的核心痛點在於「握有控制權的行政主管部門不享有合法的剩餘索取權」，而混改若只引資不放權，則會造成「民營股東有索取…</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模組三：特殊產權治理   ｜   版型 5：麥肯錫論法 (McKinsey Matrix)   ｜   知識庫 #023</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主張：打破「富不過三代」宿命的關鍵，在於建立「家族憲法與家族委員會」，將家族情感治理與現代公司治理徹底分開</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從百年李錦記（家族委員會＋四不準憲法）與香港利豐集團（引入外部治理與職業經理人）看懂基業長青的雙軌密碼</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劉松博《公司治理30講》22 講 ｜ 知識庫條目 #023 ｜ McKinsey Family Governance Matrix  ｜  關鍵字：家族企業 / 富不過三代 / 李錦記 / 家族憲法 / 家族委員會 / 利豐集團 / 二代接班</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25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傳承痛點 1：家族情感綁架公司</a:t>
            </a:r>
          </a:p>
          <a:p>
            <a:pPr algn="ctr">
              <a:lnSpc>
                <a:spcPct val="118000"/>
              </a:lnSpc>
            </a:pPr>
            <a:r>
              <a:rPr sz="919" b="1">
                <a:solidFill>
                  <a:srgbClr val="FFFFFF"/>
                </a:solidFill>
                <a:latin typeface="Microsoft JhengHei"/>
              </a:rPr>
              <a:t>（家事與公事混同）</a:t>
            </a:r>
          </a:p>
        </p:txBody>
      </p:sp>
      <p:sp>
        <p:nvSpPr>
          <p:cNvPr id="14" name="Chevron 13"/>
          <p:cNvSpPr/>
          <p:nvPr/>
        </p:nvSpPr>
        <p:spPr>
          <a:xfrm>
            <a:off x="3855719"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8871"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傳承痛點 2：二代接班意願與能力落差</a:t>
            </a:r>
          </a:p>
          <a:p>
            <a:pPr algn="ctr">
              <a:lnSpc>
                <a:spcPct val="118000"/>
              </a:lnSpc>
            </a:pPr>
            <a:r>
              <a:rPr sz="919" b="1">
                <a:solidFill>
                  <a:srgbClr val="FFFFFF"/>
                </a:solidFill>
                <a:latin typeface="Microsoft JhengHei"/>
              </a:rPr>
              <a:t>（強扭的瓜不甜）</a:t>
            </a:r>
          </a:p>
        </p:txBody>
      </p:sp>
      <p:sp>
        <p:nvSpPr>
          <p:cNvPr id="16" name="Chevron 15"/>
          <p:cNvSpPr/>
          <p:nvPr/>
        </p:nvSpPr>
        <p:spPr>
          <a:xfrm>
            <a:off x="5964935"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8087"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傳承痛點 3：外部人才玻璃天花板</a:t>
            </a:r>
          </a:p>
          <a:p>
            <a:pPr algn="ctr">
              <a:lnSpc>
                <a:spcPct val="118000"/>
              </a:lnSpc>
            </a:pPr>
            <a:r>
              <a:rPr sz="919" b="1">
                <a:solidFill>
                  <a:srgbClr val="FFFFFF"/>
                </a:solidFill>
                <a:latin typeface="Microsoft JhengHei"/>
              </a:rPr>
              <a:t>（皇親國戚壓制職業經理人）</a:t>
            </a:r>
          </a:p>
        </p:txBody>
      </p:sp>
      <p:sp>
        <p:nvSpPr>
          <p:cNvPr id="18" name="Rectangle 17"/>
          <p:cNvSpPr/>
          <p:nvPr/>
        </p:nvSpPr>
        <p:spPr>
          <a:xfrm>
            <a:off x="502920" y="2249424"/>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2249424"/>
            <a:ext cx="1060704" cy="2002536"/>
          </a:xfrm>
          <a:prstGeom prst="rect">
            <a:avLst/>
          </a:prstGeom>
          <a:noFill/>
        </p:spPr>
        <p:txBody>
          <a:bodyPr wrap="square" anchor="ctr" lIns="54864" rIns="54864" tIns="36576" bIns="36576">
            <a:spAutoFit/>
          </a:bodyPr>
          <a:lstStyle/>
          <a:p>
            <a:pPr algn="ctr">
              <a:lnSpc>
                <a:spcPct val="118000"/>
              </a:lnSpc>
            </a:pPr>
          </a:p>
        </p:txBody>
      </p:sp>
      <p:sp>
        <p:nvSpPr>
          <p:cNvPr id="20" name="Rectangle 19"/>
          <p:cNvSpPr/>
          <p:nvPr/>
        </p:nvSpPr>
        <p:spPr>
          <a:xfrm>
            <a:off x="1746504"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19656"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兄弟分家、夫妻離婚、叔姪爭產直接搬進董事會開戰，導致公司經營瞬間癱瘓（如真功夫家族內鬥）</a:t>
            </a:r>
          </a:p>
        </p:txBody>
      </p:sp>
      <p:sp>
        <p:nvSpPr>
          <p:cNvPr id="22" name="Rectangle 21"/>
          <p:cNvSpPr/>
          <p:nvPr/>
        </p:nvSpPr>
        <p:spPr>
          <a:xfrm>
            <a:off x="3855719"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8871"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二代成長環境優渥、不願接手傳統苦差事，或能力不足卻硬扶上馬導致權威崩塌</a:t>
            </a:r>
          </a:p>
        </p:txBody>
      </p:sp>
      <p:sp>
        <p:nvSpPr>
          <p:cNvPr id="24" name="Rectangle 23"/>
          <p:cNvSpPr/>
          <p:nvPr/>
        </p:nvSpPr>
        <p:spPr>
          <a:xfrm>
            <a:off x="5964935"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8087"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非家族高管深知永遠進不了核心決策圈，優秀人才留不住，企業淪為家族近親繁殖場</a:t>
            </a:r>
          </a:p>
        </p:txBody>
      </p:sp>
      <p:sp>
        <p:nvSpPr>
          <p:cNvPr id="26" name="Rectangle 25"/>
          <p:cNvSpPr/>
          <p:nvPr/>
        </p:nvSpPr>
        <p:spPr>
          <a:xfrm>
            <a:off x="502920" y="4343400"/>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 y="4343400"/>
            <a:ext cx="1060704" cy="2002536"/>
          </a:xfrm>
          <a:prstGeom prst="rect">
            <a:avLst/>
          </a:prstGeom>
          <a:noFill/>
        </p:spPr>
        <p:txBody>
          <a:bodyPr wrap="square" anchor="ctr" lIns="54864" rIns="54864" tIns="36576" bIns="36576">
            <a:spAutoFit/>
          </a:bodyPr>
          <a:lstStyle/>
          <a:p>
            <a:pPr algn="ctr">
              <a:lnSpc>
                <a:spcPct val="118000"/>
              </a:lnSpc>
            </a:pPr>
          </a:p>
        </p:txBody>
      </p:sp>
      <p:sp>
        <p:nvSpPr>
          <p:cNvPr id="28" name="Rectangle 27"/>
          <p:cNvSpPr/>
          <p:nvPr/>
        </p:nvSpPr>
        <p:spPr>
          <a:xfrm>
            <a:off x="1746504"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19656"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【李錦記模式】：設立獨立於董事會之外的「家族委員會」，制定《家族憲法》（如：不準晚婚、不準離婚、不準婚外情），家務事在家族委員會解決，絕不帶進董事會</a:t>
            </a:r>
          </a:p>
        </p:txBody>
      </p:sp>
      <p:sp>
        <p:nvSpPr>
          <p:cNvPr id="30" name="Rectangle 29"/>
          <p:cNvSpPr/>
          <p:nvPr/>
        </p:nvSpPr>
        <p:spPr>
          <a:xfrm>
            <a:off x="3855719"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8871"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【五年外部歷練鐵律】：家族後代大學畢業必須先在外部無關聯企業打工至少 3–5 年，應徵回本企業須經外部標準考核，不及格照樣開除</a:t>
            </a:r>
          </a:p>
        </p:txBody>
      </p:sp>
      <p:sp>
        <p:nvSpPr>
          <p:cNvPr id="32" name="Rectangle 31"/>
          <p:cNvSpPr/>
          <p:nvPr/>
        </p:nvSpPr>
        <p:spPr>
          <a:xfrm>
            <a:off x="5964935"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8087"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【利豐模式（傳賢不限傳子）】：馮氏家族早期即引入外部獨立董事與全球職業經理人，家族可做「積極的大股東」而非事必躬親的總經理</a:t>
            </a:r>
          </a:p>
        </p:txBody>
      </p:sp>
      <p:sp>
        <p:nvSpPr>
          <p:cNvPr id="34" name="Rectangle 33"/>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7" name="Picture 36" descr="topic_22.jpg_160.jpg"/>
          <p:cNvPicPr>
            <a:picLocks noChangeAspect="1"/>
          </p:cNvPicPr>
          <p:nvPr/>
        </p:nvPicPr>
        <p:blipFill>
          <a:blip r:embed="rId2"/>
          <a:stretch>
            <a:fillRect/>
          </a:stretch>
        </p:blipFill>
        <p:spPr>
          <a:xfrm>
            <a:off x="8293607" y="1938528"/>
            <a:ext cx="3300984" cy="2057400"/>
          </a:xfrm>
          <a:prstGeom prst="rect">
            <a:avLst/>
          </a:prstGeom>
        </p:spPr>
      </p:pic>
      <p:sp>
        <p:nvSpPr>
          <p:cNvPr id="38" name="Rectangle 37"/>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商業情境視覺：家族傳承不是把鑰匙塞給下一代，而是搭建「家族治理（管人情與分紅）」與「公司治理（管戰略與能者居之）」兩座互不干擾的橋樑。</a:t>
            </a:r>
          </a:p>
        </p:txBody>
      </p:sp>
      <p:sp>
        <p:nvSpPr>
          <p:cNvPr id="41" name="Rectangle 40"/>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4" name="TextBox 43"/>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全球超過 80% 的企業都是家族企業（連沃爾瑪、福特、三星、寶馬都是家族企業），所以「家族企業」一點也不落後！家族企業真正的致命傷是**把「家務事」和「公司事」…</a:t>
            </a:r>
          </a:p>
        </p:txBody>
      </p:sp>
      <p:sp>
        <p:nvSpPr>
          <p:cNvPr id="45" name="Rectangle 44"/>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進階架構：【家族委員會 × 家族憲法 × 董事會】三環分離傳承架構</a:t>
            </a:r>
          </a:p>
        </p:txBody>
      </p:sp>
      <p:sp>
        <p:nvSpPr>
          <p:cNvPr id="48" name="TextBox 47"/>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哈佛商學院經典「家族企業三環模型（家族、所有權、經營層）」指出，所有傳承悲劇都源於三環重疊處的規則混亂。進階家族企業掌門人必須在第一代健康掌舵時，就完成…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模組三：外部接管市場   ｜   版型 6：對立論法 (Opposition)   ｜   知識庫 #024</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主張：敵意收購（門口野蠻人）雖能懲戒怠惰管理層並推升股價，但若血洗優秀經營團隊則會摧毀企業長期人力資本價值</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從「寶萬之爭（寶能狙擊萬科王石）」與「南玻 A 高管集體辭職慘劇」，反思外部控制權市場的治理邊界</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劉松博《公司治理30講》23 講 ｜ 知識庫條目 #024 ｜ BCG Takeover Defense Opposition Style  ｜  關鍵字：門口野蠻人 / 敵意收購 / 寶萬之爭 / 萬科 / 王石 / 寶能 / 南玻A / 毒丸計畫 / 白衣騎士 / 內部人控制</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26 / 42</a:t>
            </a:r>
          </a:p>
        </p:txBody>
      </p:sp>
      <p:sp>
        <p:nvSpPr>
          <p:cNvPr id="10" name="Rectangle 9"/>
          <p:cNvSpPr/>
          <p:nvPr/>
        </p:nvSpPr>
        <p:spPr>
          <a:xfrm>
            <a:off x="502920" y="1572768"/>
            <a:ext cx="1280160" cy="53035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280160" cy="530352"/>
          </a:xfrm>
          <a:prstGeom prst="rect">
            <a:avLst/>
          </a:prstGeom>
          <a:noFill/>
        </p:spPr>
        <p:txBody>
          <a:bodyPr wrap="square" anchor="ctr" lIns="54864" rIns="54864" tIns="36576" bIns="36576">
            <a:spAutoFit/>
          </a:bodyPr>
          <a:lstStyle/>
          <a:p>
            <a:pPr algn="ctr">
              <a:lnSpc>
                <a:spcPct val="118000"/>
              </a:lnSpc>
            </a:pPr>
            <a:r>
              <a:rPr sz="950" b="1">
                <a:solidFill>
                  <a:srgbClr val="004B2B"/>
                </a:solidFill>
                <a:latin typeface="Microsoft JhengHei"/>
              </a:rPr>
              <a:t>對立維度</a:t>
            </a:r>
          </a:p>
        </p:txBody>
      </p:sp>
      <p:sp>
        <p:nvSpPr>
          <p:cNvPr id="12" name="Rectangle 11"/>
          <p:cNvSpPr/>
          <p:nvPr/>
        </p:nvSpPr>
        <p:spPr>
          <a:xfrm>
            <a:off x="1856232" y="1572768"/>
            <a:ext cx="2834639" cy="5303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9384"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A</a:t>
            </a:r>
          </a:p>
        </p:txBody>
      </p:sp>
      <p:sp>
        <p:nvSpPr>
          <p:cNvPr id="14" name="TextBox 13"/>
          <p:cNvSpPr txBox="1"/>
          <p:nvPr/>
        </p:nvSpPr>
        <p:spPr>
          <a:xfrm>
            <a:off x="4690871" y="1572768"/>
            <a:ext cx="402336" cy="530352"/>
          </a:xfrm>
          <a:prstGeom prst="rect">
            <a:avLst/>
          </a:prstGeom>
          <a:noFill/>
        </p:spPr>
        <p:txBody>
          <a:bodyPr wrap="square" anchor="ctr" lIns="54864" rIns="54864" tIns="36576" bIns="36576">
            <a:spAutoFit/>
          </a:bodyPr>
          <a:lstStyle/>
          <a:p>
            <a:pPr algn="ctr">
              <a:lnSpc>
                <a:spcPct val="118000"/>
              </a:lnSpc>
            </a:pPr>
            <a:r>
              <a:rPr sz="1000" b="1">
                <a:solidFill>
                  <a:srgbClr val="177B57"/>
                </a:solidFill>
                <a:latin typeface="Microsoft JhengHei"/>
              </a:rPr>
              <a:t>VS</a:t>
            </a:r>
          </a:p>
        </p:txBody>
      </p:sp>
      <p:sp>
        <p:nvSpPr>
          <p:cNvPr id="15" name="Rectangle 14"/>
          <p:cNvSpPr/>
          <p:nvPr/>
        </p:nvSpPr>
        <p:spPr>
          <a:xfrm>
            <a:off x="5093207" y="1572768"/>
            <a:ext cx="2834639" cy="53035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B</a:t>
            </a:r>
          </a:p>
        </p:txBody>
      </p:sp>
      <p:sp>
        <p:nvSpPr>
          <p:cNvPr id="17" name="Rectangle 16"/>
          <p:cNvSpPr/>
          <p:nvPr/>
        </p:nvSpPr>
        <p:spPr>
          <a:xfrm>
            <a:off x="502920" y="2212848"/>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 y="2212848"/>
            <a:ext cx="1170432" cy="964692"/>
          </a:xfrm>
          <a:prstGeom prst="rect">
            <a:avLst/>
          </a:prstGeom>
          <a:noFill/>
        </p:spPr>
        <p:txBody>
          <a:bodyPr wrap="square" anchor="ctr" lIns="54864" rIns="54864" tIns="36576" bIns="36576">
            <a:spAutoFit/>
          </a:bodyPr>
          <a:lstStyle/>
          <a:p>
            <a:pPr algn="ctr">
              <a:lnSpc>
                <a:spcPct val="118000"/>
              </a:lnSpc>
            </a:pPr>
          </a:p>
        </p:txBody>
      </p:sp>
      <p:sp>
        <p:nvSpPr>
          <p:cNvPr id="19" name="Rectangle 18"/>
          <p:cNvSpPr/>
          <p:nvPr/>
        </p:nvSpPr>
        <p:spPr>
          <a:xfrm>
            <a:off x="1856232" y="2212848"/>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9384"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1" name="TextBox 20"/>
          <p:cNvSpPr txBox="1"/>
          <p:nvPr/>
        </p:nvSpPr>
        <p:spPr>
          <a:xfrm>
            <a:off x="4690871" y="2212848"/>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2" name="Rectangle 21"/>
          <p:cNvSpPr/>
          <p:nvPr/>
        </p:nvSpPr>
        <p:spPr>
          <a:xfrm>
            <a:off x="5093207" y="2212848"/>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4" name="Rectangle 23"/>
          <p:cNvSpPr/>
          <p:nvPr/>
        </p:nvSpPr>
        <p:spPr>
          <a:xfrm>
            <a:off x="502920" y="3268980"/>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 y="3268980"/>
            <a:ext cx="1170432" cy="964692"/>
          </a:xfrm>
          <a:prstGeom prst="rect">
            <a:avLst/>
          </a:prstGeom>
          <a:noFill/>
        </p:spPr>
        <p:txBody>
          <a:bodyPr wrap="square" anchor="ctr" lIns="54864" rIns="54864" tIns="36576" bIns="36576">
            <a:spAutoFit/>
          </a:bodyPr>
          <a:lstStyle/>
          <a:p>
            <a:pPr algn="ctr">
              <a:lnSpc>
                <a:spcPct val="118000"/>
              </a:lnSpc>
            </a:pPr>
          </a:p>
        </p:txBody>
      </p:sp>
      <p:sp>
        <p:nvSpPr>
          <p:cNvPr id="26" name="Rectangle 25"/>
          <p:cNvSpPr/>
          <p:nvPr/>
        </p:nvSpPr>
        <p:spPr>
          <a:xfrm>
            <a:off x="1856232" y="3268980"/>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9384"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28" name="TextBox 27"/>
          <p:cNvSpPr txBox="1"/>
          <p:nvPr/>
        </p:nvSpPr>
        <p:spPr>
          <a:xfrm>
            <a:off x="4690871" y="3268980"/>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9" name="Rectangle 28"/>
          <p:cNvSpPr/>
          <p:nvPr/>
        </p:nvSpPr>
        <p:spPr>
          <a:xfrm>
            <a:off x="5093207" y="3268980"/>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59"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31" name="Rectangle 30"/>
          <p:cNvSpPr/>
          <p:nvPr/>
        </p:nvSpPr>
        <p:spPr>
          <a:xfrm>
            <a:off x="502920" y="4325112"/>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784" y="4325112"/>
            <a:ext cx="1170432" cy="964692"/>
          </a:xfrm>
          <a:prstGeom prst="rect">
            <a:avLst/>
          </a:prstGeom>
          <a:noFill/>
        </p:spPr>
        <p:txBody>
          <a:bodyPr wrap="square" anchor="ctr" lIns="54864" rIns="54864" tIns="36576" bIns="36576">
            <a:spAutoFit/>
          </a:bodyPr>
          <a:lstStyle/>
          <a:p>
            <a:pPr algn="ctr">
              <a:lnSpc>
                <a:spcPct val="118000"/>
              </a:lnSpc>
            </a:pPr>
          </a:p>
        </p:txBody>
      </p:sp>
      <p:sp>
        <p:nvSpPr>
          <p:cNvPr id="33" name="Rectangle 32"/>
          <p:cNvSpPr/>
          <p:nvPr/>
        </p:nvSpPr>
        <p:spPr>
          <a:xfrm>
            <a:off x="1856232" y="4325112"/>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9384"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5" name="TextBox 34"/>
          <p:cNvSpPr txBox="1"/>
          <p:nvPr/>
        </p:nvSpPr>
        <p:spPr>
          <a:xfrm>
            <a:off x="4690871" y="4325112"/>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36" name="Rectangle 35"/>
          <p:cNvSpPr/>
          <p:nvPr/>
        </p:nvSpPr>
        <p:spPr>
          <a:xfrm>
            <a:off x="5093207" y="4325112"/>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59"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8" name="Rectangle 37"/>
          <p:cNvSpPr/>
          <p:nvPr/>
        </p:nvSpPr>
        <p:spPr>
          <a:xfrm>
            <a:off x="502920" y="5381244"/>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 y="5381244"/>
            <a:ext cx="1170432" cy="964692"/>
          </a:xfrm>
          <a:prstGeom prst="rect">
            <a:avLst/>
          </a:prstGeom>
          <a:noFill/>
        </p:spPr>
        <p:txBody>
          <a:bodyPr wrap="square" anchor="ctr" lIns="54864" rIns="54864" tIns="36576" bIns="36576">
            <a:spAutoFit/>
          </a:bodyPr>
          <a:lstStyle/>
          <a:p>
            <a:pPr algn="ctr">
              <a:lnSpc>
                <a:spcPct val="118000"/>
              </a:lnSpc>
            </a:pPr>
          </a:p>
        </p:txBody>
      </p:sp>
      <p:sp>
        <p:nvSpPr>
          <p:cNvPr id="40" name="Rectangle 39"/>
          <p:cNvSpPr/>
          <p:nvPr/>
        </p:nvSpPr>
        <p:spPr>
          <a:xfrm>
            <a:off x="1856232" y="5381244"/>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9384"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2" name="TextBox 41"/>
          <p:cNvSpPr txBox="1"/>
          <p:nvPr/>
        </p:nvSpPr>
        <p:spPr>
          <a:xfrm>
            <a:off x="4690871" y="5381244"/>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43" name="Rectangle 42"/>
          <p:cNvSpPr/>
          <p:nvPr/>
        </p:nvSpPr>
        <p:spPr>
          <a:xfrm>
            <a:off x="5093207" y="5381244"/>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6359"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5" name="Rectangle 44"/>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48" name="Picture 47" descr="topic_23.jpg_160.jpg"/>
          <p:cNvPicPr>
            <a:picLocks noChangeAspect="1"/>
          </p:cNvPicPr>
          <p:nvPr/>
        </p:nvPicPr>
        <p:blipFill>
          <a:blip r:embed="rId2"/>
          <a:stretch>
            <a:fillRect/>
          </a:stretch>
        </p:blipFill>
        <p:spPr>
          <a:xfrm>
            <a:off x="8293607" y="1938528"/>
            <a:ext cx="3300984" cy="2057400"/>
          </a:xfrm>
          <a:prstGeom prst="rect">
            <a:avLst/>
          </a:prstGeom>
        </p:spPr>
      </p:pic>
      <p:sp>
        <p:nvSpPr>
          <p:cNvPr id="49" name="Rectangle 48"/>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商業情境視覺：華爾街「門口的野蠻人（Barbarians at the Gate）」手持資本巨斧叩關——它既能砍掉腐敗懶惰的經理層，也可能誤傷支撐企業靈魂的優秀經營團隊。</a:t>
            </a:r>
          </a:p>
        </p:txBody>
      </p:sp>
      <p:sp>
        <p:nvSpPr>
          <p:cNvPr id="52" name="Rectangle 51"/>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55" name="TextBox 5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什麼叫「門口的野蠻人（敵意收購）」？就是一家上市公司沒有大股東（股權很分散），外面的資本大鱷看上這家公司，也不跟公司管理層商量，直接在股票市場上瘋狂買股票，買成…</a:t>
            </a:r>
          </a:p>
        </p:txBody>
      </p:sp>
      <p:sp>
        <p:nvSpPr>
          <p:cNvPr id="56" name="Rectangle 55"/>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進階架構：【外部接管懲戒 vs. 人力資本保全】控制權市場權衡模型</a:t>
            </a:r>
          </a:p>
        </p:txBody>
      </p:sp>
      <p:sp>
        <p:nvSpPr>
          <p:cNvPr id="59" name="TextBox 5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經典英美公司治理將「外部控制權市場（Market for Corporate Control）」視為懲戒經理人代理問題的終極武器。但劉松博教授透過萬科與…</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模組三：公司目的與治理哲學   ｜   版型 6：對立論法 (Opposition)   ｜   知識庫 #025</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主張：利害關係人理論雖修正了「股東至上」的短視自利，但因「多元目標無法考核經理人」而難以在操作層面完全取代股東至上</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 1919 年「道奇兄弟告贏亨利・福特案」到 2019 年美國商業圓桌會議 181 位 CEO 聯合宣言，看懂百年公司目的之爭</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劉松博《公司治理30講》24 講 ｜ 知識庫條目 #025 ｜ BCG Governance Philosophy Opposition Style  ｜  關鍵字：股東至上 / 利害關係人 / 利益相關者 / 道奇兄弟 / 福特 / 傅利曼 / 商業圓桌會議 / ESG</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27 / 42</a:t>
            </a:r>
          </a:p>
        </p:txBody>
      </p:sp>
      <p:sp>
        <p:nvSpPr>
          <p:cNvPr id="10" name="Rectangle 9"/>
          <p:cNvSpPr/>
          <p:nvPr/>
        </p:nvSpPr>
        <p:spPr>
          <a:xfrm>
            <a:off x="502920" y="1572768"/>
            <a:ext cx="1280160" cy="53035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280160" cy="530352"/>
          </a:xfrm>
          <a:prstGeom prst="rect">
            <a:avLst/>
          </a:prstGeom>
          <a:noFill/>
        </p:spPr>
        <p:txBody>
          <a:bodyPr wrap="square" anchor="ctr" lIns="54864" rIns="54864" tIns="36576" bIns="36576">
            <a:spAutoFit/>
          </a:bodyPr>
          <a:lstStyle/>
          <a:p>
            <a:pPr algn="ctr">
              <a:lnSpc>
                <a:spcPct val="118000"/>
              </a:lnSpc>
            </a:pPr>
            <a:r>
              <a:rPr sz="950" b="1">
                <a:solidFill>
                  <a:srgbClr val="004B2B"/>
                </a:solidFill>
                <a:latin typeface="Microsoft JhengHei"/>
              </a:rPr>
              <a:t>對立維度</a:t>
            </a:r>
          </a:p>
        </p:txBody>
      </p:sp>
      <p:sp>
        <p:nvSpPr>
          <p:cNvPr id="12" name="Rectangle 11"/>
          <p:cNvSpPr/>
          <p:nvPr/>
        </p:nvSpPr>
        <p:spPr>
          <a:xfrm>
            <a:off x="1856232" y="1572768"/>
            <a:ext cx="2834639" cy="5303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9384"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A</a:t>
            </a:r>
          </a:p>
        </p:txBody>
      </p:sp>
      <p:sp>
        <p:nvSpPr>
          <p:cNvPr id="14" name="TextBox 13"/>
          <p:cNvSpPr txBox="1"/>
          <p:nvPr/>
        </p:nvSpPr>
        <p:spPr>
          <a:xfrm>
            <a:off x="4690871" y="1572768"/>
            <a:ext cx="402336" cy="530352"/>
          </a:xfrm>
          <a:prstGeom prst="rect">
            <a:avLst/>
          </a:prstGeom>
          <a:noFill/>
        </p:spPr>
        <p:txBody>
          <a:bodyPr wrap="square" anchor="ctr" lIns="54864" rIns="54864" tIns="36576" bIns="36576">
            <a:spAutoFit/>
          </a:bodyPr>
          <a:lstStyle/>
          <a:p>
            <a:pPr algn="ctr">
              <a:lnSpc>
                <a:spcPct val="118000"/>
              </a:lnSpc>
            </a:pPr>
            <a:r>
              <a:rPr sz="1000" b="1">
                <a:solidFill>
                  <a:srgbClr val="177B57"/>
                </a:solidFill>
                <a:latin typeface="Microsoft JhengHei"/>
              </a:rPr>
              <a:t>VS</a:t>
            </a:r>
          </a:p>
        </p:txBody>
      </p:sp>
      <p:sp>
        <p:nvSpPr>
          <p:cNvPr id="15" name="Rectangle 14"/>
          <p:cNvSpPr/>
          <p:nvPr/>
        </p:nvSpPr>
        <p:spPr>
          <a:xfrm>
            <a:off x="5093207" y="1572768"/>
            <a:ext cx="2834639" cy="53035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B</a:t>
            </a:r>
          </a:p>
        </p:txBody>
      </p:sp>
      <p:sp>
        <p:nvSpPr>
          <p:cNvPr id="17" name="Rectangle 16"/>
          <p:cNvSpPr/>
          <p:nvPr/>
        </p:nvSpPr>
        <p:spPr>
          <a:xfrm>
            <a:off x="502920" y="2212848"/>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 y="2212848"/>
            <a:ext cx="1170432" cy="964692"/>
          </a:xfrm>
          <a:prstGeom prst="rect">
            <a:avLst/>
          </a:prstGeom>
          <a:noFill/>
        </p:spPr>
        <p:txBody>
          <a:bodyPr wrap="square" anchor="ctr" lIns="54864" rIns="54864" tIns="36576" bIns="36576">
            <a:spAutoFit/>
          </a:bodyPr>
          <a:lstStyle/>
          <a:p>
            <a:pPr algn="ctr">
              <a:lnSpc>
                <a:spcPct val="118000"/>
              </a:lnSpc>
            </a:pPr>
          </a:p>
        </p:txBody>
      </p:sp>
      <p:sp>
        <p:nvSpPr>
          <p:cNvPr id="19" name="Rectangle 18"/>
          <p:cNvSpPr/>
          <p:nvPr/>
        </p:nvSpPr>
        <p:spPr>
          <a:xfrm>
            <a:off x="1856232" y="2212848"/>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9384"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1" name="TextBox 20"/>
          <p:cNvSpPr txBox="1"/>
          <p:nvPr/>
        </p:nvSpPr>
        <p:spPr>
          <a:xfrm>
            <a:off x="4690871" y="2212848"/>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2" name="Rectangle 21"/>
          <p:cNvSpPr/>
          <p:nvPr/>
        </p:nvSpPr>
        <p:spPr>
          <a:xfrm>
            <a:off x="5093207" y="2212848"/>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4" name="Rectangle 23"/>
          <p:cNvSpPr/>
          <p:nvPr/>
        </p:nvSpPr>
        <p:spPr>
          <a:xfrm>
            <a:off x="502920" y="3268980"/>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 y="3268980"/>
            <a:ext cx="1170432" cy="964692"/>
          </a:xfrm>
          <a:prstGeom prst="rect">
            <a:avLst/>
          </a:prstGeom>
          <a:noFill/>
        </p:spPr>
        <p:txBody>
          <a:bodyPr wrap="square" anchor="ctr" lIns="54864" rIns="54864" tIns="36576" bIns="36576">
            <a:spAutoFit/>
          </a:bodyPr>
          <a:lstStyle/>
          <a:p>
            <a:pPr algn="ctr">
              <a:lnSpc>
                <a:spcPct val="118000"/>
              </a:lnSpc>
            </a:pPr>
          </a:p>
        </p:txBody>
      </p:sp>
      <p:sp>
        <p:nvSpPr>
          <p:cNvPr id="26" name="Rectangle 25"/>
          <p:cNvSpPr/>
          <p:nvPr/>
        </p:nvSpPr>
        <p:spPr>
          <a:xfrm>
            <a:off x="1856232" y="3268980"/>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9384"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28" name="TextBox 27"/>
          <p:cNvSpPr txBox="1"/>
          <p:nvPr/>
        </p:nvSpPr>
        <p:spPr>
          <a:xfrm>
            <a:off x="4690871" y="3268980"/>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9" name="Rectangle 28"/>
          <p:cNvSpPr/>
          <p:nvPr/>
        </p:nvSpPr>
        <p:spPr>
          <a:xfrm>
            <a:off x="5093207" y="3268980"/>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59"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31" name="Rectangle 30"/>
          <p:cNvSpPr/>
          <p:nvPr/>
        </p:nvSpPr>
        <p:spPr>
          <a:xfrm>
            <a:off x="502920" y="4325112"/>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784" y="4325112"/>
            <a:ext cx="1170432" cy="964692"/>
          </a:xfrm>
          <a:prstGeom prst="rect">
            <a:avLst/>
          </a:prstGeom>
          <a:noFill/>
        </p:spPr>
        <p:txBody>
          <a:bodyPr wrap="square" anchor="ctr" lIns="54864" rIns="54864" tIns="36576" bIns="36576">
            <a:spAutoFit/>
          </a:bodyPr>
          <a:lstStyle/>
          <a:p>
            <a:pPr algn="ctr">
              <a:lnSpc>
                <a:spcPct val="118000"/>
              </a:lnSpc>
            </a:pPr>
          </a:p>
        </p:txBody>
      </p:sp>
      <p:sp>
        <p:nvSpPr>
          <p:cNvPr id="33" name="Rectangle 32"/>
          <p:cNvSpPr/>
          <p:nvPr/>
        </p:nvSpPr>
        <p:spPr>
          <a:xfrm>
            <a:off x="1856232" y="4325112"/>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9384"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5" name="TextBox 34"/>
          <p:cNvSpPr txBox="1"/>
          <p:nvPr/>
        </p:nvSpPr>
        <p:spPr>
          <a:xfrm>
            <a:off x="4690871" y="4325112"/>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36" name="Rectangle 35"/>
          <p:cNvSpPr/>
          <p:nvPr/>
        </p:nvSpPr>
        <p:spPr>
          <a:xfrm>
            <a:off x="5093207" y="4325112"/>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59"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8" name="Rectangle 37"/>
          <p:cNvSpPr/>
          <p:nvPr/>
        </p:nvSpPr>
        <p:spPr>
          <a:xfrm>
            <a:off x="502920" y="5381244"/>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 y="5381244"/>
            <a:ext cx="1170432" cy="964692"/>
          </a:xfrm>
          <a:prstGeom prst="rect">
            <a:avLst/>
          </a:prstGeom>
          <a:noFill/>
        </p:spPr>
        <p:txBody>
          <a:bodyPr wrap="square" anchor="ctr" lIns="54864" rIns="54864" tIns="36576" bIns="36576">
            <a:spAutoFit/>
          </a:bodyPr>
          <a:lstStyle/>
          <a:p>
            <a:pPr algn="ctr">
              <a:lnSpc>
                <a:spcPct val="118000"/>
              </a:lnSpc>
            </a:pPr>
          </a:p>
        </p:txBody>
      </p:sp>
      <p:sp>
        <p:nvSpPr>
          <p:cNvPr id="40" name="Rectangle 39"/>
          <p:cNvSpPr/>
          <p:nvPr/>
        </p:nvSpPr>
        <p:spPr>
          <a:xfrm>
            <a:off x="1856232" y="5381244"/>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9384"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2" name="TextBox 41"/>
          <p:cNvSpPr txBox="1"/>
          <p:nvPr/>
        </p:nvSpPr>
        <p:spPr>
          <a:xfrm>
            <a:off x="4690871" y="5381244"/>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43" name="Rectangle 42"/>
          <p:cNvSpPr/>
          <p:nvPr/>
        </p:nvSpPr>
        <p:spPr>
          <a:xfrm>
            <a:off x="5093207" y="5381244"/>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6359"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5" name="Rectangle 44"/>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48" name="Picture 47" descr="topic_24.jpg_160.jpg"/>
          <p:cNvPicPr>
            <a:picLocks noChangeAspect="1"/>
          </p:cNvPicPr>
          <p:nvPr/>
        </p:nvPicPr>
        <p:blipFill>
          <a:blip r:embed="rId2"/>
          <a:stretch>
            <a:fillRect/>
          </a:stretch>
        </p:blipFill>
        <p:spPr>
          <a:xfrm>
            <a:off x="8293607" y="1938528"/>
            <a:ext cx="3300984" cy="2057400"/>
          </a:xfrm>
          <a:prstGeom prst="rect">
            <a:avLst/>
          </a:prstGeom>
        </p:spPr>
      </p:pic>
      <p:sp>
        <p:nvSpPr>
          <p:cNvPr id="49" name="Rectangle 48"/>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商業情境視覺：股東、員工、客戶、供應商與社會共同圍繞在企業圓桌旁——照顧所有利害關係人是高尚理想，但在決策衝突時，經理人必須有一個清晰的優先序。</a:t>
            </a:r>
          </a:p>
        </p:txBody>
      </p:sp>
      <p:sp>
        <p:nvSpPr>
          <p:cNvPr id="52" name="Rectangle 51"/>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55" name="TextBox 5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「開公司到底是為了幫股東賺錢，還是為了造福員工、客戶和社會？」一百年前，汽車大王福特賺了大錢不想分給股東，想拿去給工人加薪、把車價降下來造福大眾，結果被股東「道…</a:t>
            </a:r>
          </a:p>
        </p:txBody>
      </p:sp>
      <p:sp>
        <p:nvSpPr>
          <p:cNvPr id="56" name="Rectangle 55"/>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進階架構：【單一問責目標 vs. 多方長期共生】公司目的權衡模型</a:t>
            </a:r>
          </a:p>
        </p:txBody>
      </p:sp>
      <p:sp>
        <p:nvSpPr>
          <p:cNvPr id="59" name="TextBox 5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為什麼「利害關係人理論」聽起來政治正確，卻在治理實務中舉步維艱？因為它混淆了「道德倡議」與「契約問責」。在公司治理中，若缺乏可量化的首要目標，代理成本將…</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模組三：公司目的與治理哲學（雙線分離關鍵講）   ｜   版型 3：結合論法 (Combined Tree)   ｜   知識庫 #026</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主張：公司的存在目的是「創造並滿足客戶」，治理上必須將「以誰為利益中心（客戶第一）」與「以誰為權力中心」拆開看待</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 Costco 無條件退貨、河北「信譽樓」百貨傳奇與阿里價值觀，打通第三模組過渡到第四模組的最關鍵邏輯鎖扣</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劉松博《公司治理30講》25 講 ｜ 知識庫條目 #026 ｜ McKinsey Dual-Track Separation Tree  ｜  關鍵字：公司的目的 / 客戶第一 / 德魯克 / Costco / 信譽樓 / 利益中心 / 權力中心 / 阿里巴巴</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28 / 42</a:t>
            </a:r>
          </a:p>
        </p:txBody>
      </p:sp>
      <p:sp>
        <p:nvSpPr>
          <p:cNvPr id="10" name="Rectangle 9"/>
          <p:cNvSpPr/>
          <p:nvPr/>
        </p:nvSpPr>
        <p:spPr>
          <a:xfrm>
            <a:off x="502920"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利益線（為誰創造價值）：客戶必須排在第一位</a:t>
            </a:r>
          </a:p>
        </p:txBody>
      </p:sp>
      <p:sp>
        <p:nvSpPr>
          <p:cNvPr id="13" name="TextBox 12"/>
          <p:cNvSpPr txBox="1"/>
          <p:nvPr/>
        </p:nvSpPr>
        <p:spPr>
          <a:xfrm>
            <a:off x="594360"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4" name="Rectangle 13"/>
          <p:cNvSpPr/>
          <p:nvPr/>
        </p:nvSpPr>
        <p:spPr>
          <a:xfrm>
            <a:off x="4315967" y="1572768"/>
            <a:ext cx="3685031" cy="36118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7" y="1572768"/>
            <a:ext cx="3685031" cy="694944"/>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1627632"/>
            <a:ext cx="3538727" cy="585216"/>
          </a:xfrm>
          <a:prstGeom prst="rect">
            <a:avLst/>
          </a:prstGeom>
          <a:noFill/>
        </p:spPr>
        <p:txBody>
          <a:bodyPr wrap="square" anchor="ctr" lIns="54864" rIns="54864" tIns="36576" bIns="36576">
            <a:spAutoFit/>
          </a:bodyPr>
          <a:lstStyle/>
          <a:p>
            <a:pPr algn="ctr">
              <a:lnSpc>
                <a:spcPct val="118000"/>
              </a:lnSpc>
            </a:pPr>
            <a:r>
              <a:rPr sz="1050" b="1">
                <a:solidFill>
                  <a:srgbClr val="FFFFFF"/>
                </a:solidFill>
                <a:latin typeface="Microsoft JhengHei"/>
              </a:rPr>
              <a:t>② 權力線（由誰掌舵決策）：客戶優先 ≠ 客戶掌權</a:t>
            </a:r>
          </a:p>
        </p:txBody>
      </p:sp>
      <p:sp>
        <p:nvSpPr>
          <p:cNvPr id="17" name="TextBox 16"/>
          <p:cNvSpPr txBox="1"/>
          <p:nvPr/>
        </p:nvSpPr>
        <p:spPr>
          <a:xfrm>
            <a:off x="4407407" y="2359152"/>
            <a:ext cx="3502151" cy="2734056"/>
          </a:xfrm>
          <a:prstGeom prst="rect">
            <a:avLst/>
          </a:prstGeom>
          <a:noFill/>
        </p:spPr>
        <p:txBody>
          <a:bodyPr wrap="square" anchor="t" lIns="54864" rIns="54864" tIns="36576" bIns="36576">
            <a:spAutoFit/>
          </a:bodyPr>
          <a:lstStyle/>
          <a:p>
            <a:pPr algn="l">
              <a:lnSpc>
                <a:spcPct val="118000"/>
              </a:lnSpc>
            </a:pPr>
          </a:p>
        </p:txBody>
      </p:sp>
      <p:sp>
        <p:nvSpPr>
          <p:cNvPr id="18" name="Rounded Rectangle 17"/>
          <p:cNvSpPr/>
          <p:nvPr/>
        </p:nvSpPr>
        <p:spPr>
          <a:xfrm>
            <a:off x="502920" y="5330952"/>
            <a:ext cx="7498079" cy="101498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5404104"/>
            <a:ext cx="7168895" cy="868680"/>
          </a:xfrm>
          <a:prstGeom prst="rect">
            <a:avLst/>
          </a:prstGeom>
          <a:noFill/>
        </p:spPr>
        <p:txBody>
          <a:bodyPr wrap="square" anchor="ctr" lIns="54864" rIns="54864" tIns="36576" bIns="36576">
            <a:spAutoFit/>
          </a:bodyPr>
          <a:lstStyle/>
          <a:p>
            <a:pPr algn="l">
              <a:lnSpc>
                <a:spcPct val="118000"/>
              </a:lnSpc>
            </a:pPr>
            <a:r>
              <a:rPr sz="1019" b="1">
                <a:solidFill>
                  <a:srgbClr val="FFFFFF"/>
                </a:solidFill>
                <a:latin typeface="Microsoft JhengHei"/>
              </a:rPr>
              <a:t>🎯 結合型核心綜效：</a:t>
            </a:r>
          </a:p>
        </p:txBody>
      </p:sp>
      <p:sp>
        <p:nvSpPr>
          <p:cNvPr id="20" name="Rectangle 19"/>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3" name="Picture 22" descr="topic_25.jpg_160.jpg"/>
          <p:cNvPicPr>
            <a:picLocks noChangeAspect="1"/>
          </p:cNvPicPr>
          <p:nvPr/>
        </p:nvPicPr>
        <p:blipFill>
          <a:blip r:embed="rId2"/>
          <a:stretch>
            <a:fillRect/>
          </a:stretch>
        </p:blipFill>
        <p:spPr>
          <a:xfrm>
            <a:off x="8293607" y="1938528"/>
            <a:ext cx="3300984" cy="2057400"/>
          </a:xfrm>
          <a:prstGeom prst="rect">
            <a:avLst/>
          </a:prstGeom>
        </p:spPr>
      </p:pic>
      <p:sp>
        <p:nvSpPr>
          <p:cNvPr id="24" name="Rectangle 23"/>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商業情境視覺：Costco 與信譽樓的極致客戶體驗證明——當企業把「解決客戶問題」作為北極星指標時，不但解決了多元目標混亂，更自然為股東帶來長期複利。</a:t>
            </a:r>
          </a:p>
        </p:txBody>
      </p:sp>
      <p:sp>
        <p:nvSpPr>
          <p:cNvPr id="27" name="Rectangle 26"/>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30" name="TextBox 2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上一講說「只顧股東太短視，兼顧所有人又沒法考核」，那怎麼辦？管理學之父彼得・德魯克（Peter Drucker）和阿里巴巴、華為、Costco 給出了同一個答案…</a:t>
            </a:r>
          </a:p>
        </p:txBody>
      </p:sp>
      <p:sp>
        <p:nvSpPr>
          <p:cNvPr id="31" name="Rectangle 30"/>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進階架構：【利益線（客戶中心）× 權力線（合夥人中心）】雙軌分離架構</a:t>
            </a:r>
          </a:p>
        </p:txBody>
      </p:sp>
      <p:sp>
        <p:nvSpPr>
          <p:cNvPr id="34" name="TextBox 3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本講是讀懂整部《公司治理 30 講》後半段架構的黃金鑰匙（參見知識庫 #041）！為什麼傳統公司治理爭論百年無果？因為大家把「利益分配優先序（Who 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模組三：跨國治理比較（德國篇 I）   ｜   版型 6：對立論法 (Opposition)   ｜   知識庫 #027</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主張：德國「監事會高於董事會」的垂直二元制雖賦予監事會任免大權，但若喪失實質獨立性仍會爆發德意志銀行式的監督失靈</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對比德國「垂直雙層制（監事會管董事會）」與亞洲常見「平行雙層制」，拆解德意志銀行衍生品豪賭巨虧背後的治理盲區</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劉松博《公司治理30講》26 講 ｜ 知識庫條目 #027 ｜ BCG Institutional Comparison Style  ｜  關鍵字：德國監事會 / 德意志銀行 / 二元制 / 垂直雙層制 / 交叉持股 / 獨立性 / 旋轉門</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29 / 42</a:t>
            </a:r>
          </a:p>
        </p:txBody>
      </p:sp>
      <p:sp>
        <p:nvSpPr>
          <p:cNvPr id="10" name="Rectangle 9"/>
          <p:cNvSpPr/>
          <p:nvPr/>
        </p:nvSpPr>
        <p:spPr>
          <a:xfrm>
            <a:off x="502920" y="1572768"/>
            <a:ext cx="1280160" cy="53035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280160" cy="530352"/>
          </a:xfrm>
          <a:prstGeom prst="rect">
            <a:avLst/>
          </a:prstGeom>
          <a:noFill/>
        </p:spPr>
        <p:txBody>
          <a:bodyPr wrap="square" anchor="ctr" lIns="54864" rIns="54864" tIns="36576" bIns="36576">
            <a:spAutoFit/>
          </a:bodyPr>
          <a:lstStyle/>
          <a:p>
            <a:pPr algn="ctr">
              <a:lnSpc>
                <a:spcPct val="118000"/>
              </a:lnSpc>
            </a:pPr>
            <a:r>
              <a:rPr sz="950" b="1">
                <a:solidFill>
                  <a:srgbClr val="004B2B"/>
                </a:solidFill>
                <a:latin typeface="Microsoft JhengHei"/>
              </a:rPr>
              <a:t>對立維度</a:t>
            </a:r>
          </a:p>
        </p:txBody>
      </p:sp>
      <p:sp>
        <p:nvSpPr>
          <p:cNvPr id="12" name="Rectangle 11"/>
          <p:cNvSpPr/>
          <p:nvPr/>
        </p:nvSpPr>
        <p:spPr>
          <a:xfrm>
            <a:off x="1856232" y="1572768"/>
            <a:ext cx="2834639" cy="5303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9384"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A</a:t>
            </a:r>
          </a:p>
        </p:txBody>
      </p:sp>
      <p:sp>
        <p:nvSpPr>
          <p:cNvPr id="14" name="TextBox 13"/>
          <p:cNvSpPr txBox="1"/>
          <p:nvPr/>
        </p:nvSpPr>
        <p:spPr>
          <a:xfrm>
            <a:off x="4690871" y="1572768"/>
            <a:ext cx="402336" cy="530352"/>
          </a:xfrm>
          <a:prstGeom prst="rect">
            <a:avLst/>
          </a:prstGeom>
          <a:noFill/>
        </p:spPr>
        <p:txBody>
          <a:bodyPr wrap="square" anchor="ctr" lIns="54864" rIns="54864" tIns="36576" bIns="36576">
            <a:spAutoFit/>
          </a:bodyPr>
          <a:lstStyle/>
          <a:p>
            <a:pPr algn="ctr">
              <a:lnSpc>
                <a:spcPct val="118000"/>
              </a:lnSpc>
            </a:pPr>
            <a:r>
              <a:rPr sz="1000" b="1">
                <a:solidFill>
                  <a:srgbClr val="177B57"/>
                </a:solidFill>
                <a:latin typeface="Microsoft JhengHei"/>
              </a:rPr>
              <a:t>VS</a:t>
            </a:r>
          </a:p>
        </p:txBody>
      </p:sp>
      <p:sp>
        <p:nvSpPr>
          <p:cNvPr id="15" name="Rectangle 14"/>
          <p:cNvSpPr/>
          <p:nvPr/>
        </p:nvSpPr>
        <p:spPr>
          <a:xfrm>
            <a:off x="5093207" y="1572768"/>
            <a:ext cx="2834639" cy="53035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B</a:t>
            </a:r>
          </a:p>
        </p:txBody>
      </p:sp>
      <p:sp>
        <p:nvSpPr>
          <p:cNvPr id="17" name="Rectangle 16"/>
          <p:cNvSpPr/>
          <p:nvPr/>
        </p:nvSpPr>
        <p:spPr>
          <a:xfrm>
            <a:off x="502920" y="2212848"/>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 y="2212848"/>
            <a:ext cx="1170432" cy="964692"/>
          </a:xfrm>
          <a:prstGeom prst="rect">
            <a:avLst/>
          </a:prstGeom>
          <a:noFill/>
        </p:spPr>
        <p:txBody>
          <a:bodyPr wrap="square" anchor="ctr" lIns="54864" rIns="54864" tIns="36576" bIns="36576">
            <a:spAutoFit/>
          </a:bodyPr>
          <a:lstStyle/>
          <a:p>
            <a:pPr algn="ctr">
              <a:lnSpc>
                <a:spcPct val="118000"/>
              </a:lnSpc>
            </a:pPr>
          </a:p>
        </p:txBody>
      </p:sp>
      <p:sp>
        <p:nvSpPr>
          <p:cNvPr id="19" name="Rectangle 18"/>
          <p:cNvSpPr/>
          <p:nvPr/>
        </p:nvSpPr>
        <p:spPr>
          <a:xfrm>
            <a:off x="1856232" y="2212848"/>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9384"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1" name="TextBox 20"/>
          <p:cNvSpPr txBox="1"/>
          <p:nvPr/>
        </p:nvSpPr>
        <p:spPr>
          <a:xfrm>
            <a:off x="4690871" y="2212848"/>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2" name="Rectangle 21"/>
          <p:cNvSpPr/>
          <p:nvPr/>
        </p:nvSpPr>
        <p:spPr>
          <a:xfrm>
            <a:off x="5093207" y="2212848"/>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4" name="Rectangle 23"/>
          <p:cNvSpPr/>
          <p:nvPr/>
        </p:nvSpPr>
        <p:spPr>
          <a:xfrm>
            <a:off x="502920" y="3268980"/>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 y="3268980"/>
            <a:ext cx="1170432" cy="964692"/>
          </a:xfrm>
          <a:prstGeom prst="rect">
            <a:avLst/>
          </a:prstGeom>
          <a:noFill/>
        </p:spPr>
        <p:txBody>
          <a:bodyPr wrap="square" anchor="ctr" lIns="54864" rIns="54864" tIns="36576" bIns="36576">
            <a:spAutoFit/>
          </a:bodyPr>
          <a:lstStyle/>
          <a:p>
            <a:pPr algn="ctr">
              <a:lnSpc>
                <a:spcPct val="118000"/>
              </a:lnSpc>
            </a:pPr>
          </a:p>
        </p:txBody>
      </p:sp>
      <p:sp>
        <p:nvSpPr>
          <p:cNvPr id="26" name="Rectangle 25"/>
          <p:cNvSpPr/>
          <p:nvPr/>
        </p:nvSpPr>
        <p:spPr>
          <a:xfrm>
            <a:off x="1856232" y="3268980"/>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9384"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28" name="TextBox 27"/>
          <p:cNvSpPr txBox="1"/>
          <p:nvPr/>
        </p:nvSpPr>
        <p:spPr>
          <a:xfrm>
            <a:off x="4690871" y="3268980"/>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9" name="Rectangle 28"/>
          <p:cNvSpPr/>
          <p:nvPr/>
        </p:nvSpPr>
        <p:spPr>
          <a:xfrm>
            <a:off x="5093207" y="3268980"/>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59"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31" name="Rectangle 30"/>
          <p:cNvSpPr/>
          <p:nvPr/>
        </p:nvSpPr>
        <p:spPr>
          <a:xfrm>
            <a:off x="502920" y="4325112"/>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784" y="4325112"/>
            <a:ext cx="1170432" cy="964692"/>
          </a:xfrm>
          <a:prstGeom prst="rect">
            <a:avLst/>
          </a:prstGeom>
          <a:noFill/>
        </p:spPr>
        <p:txBody>
          <a:bodyPr wrap="square" anchor="ctr" lIns="54864" rIns="54864" tIns="36576" bIns="36576">
            <a:spAutoFit/>
          </a:bodyPr>
          <a:lstStyle/>
          <a:p>
            <a:pPr algn="ctr">
              <a:lnSpc>
                <a:spcPct val="118000"/>
              </a:lnSpc>
            </a:pPr>
          </a:p>
        </p:txBody>
      </p:sp>
      <p:sp>
        <p:nvSpPr>
          <p:cNvPr id="33" name="Rectangle 32"/>
          <p:cNvSpPr/>
          <p:nvPr/>
        </p:nvSpPr>
        <p:spPr>
          <a:xfrm>
            <a:off x="1856232" y="4325112"/>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9384"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5" name="TextBox 34"/>
          <p:cNvSpPr txBox="1"/>
          <p:nvPr/>
        </p:nvSpPr>
        <p:spPr>
          <a:xfrm>
            <a:off x="4690871" y="4325112"/>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36" name="Rectangle 35"/>
          <p:cNvSpPr/>
          <p:nvPr/>
        </p:nvSpPr>
        <p:spPr>
          <a:xfrm>
            <a:off x="5093207" y="4325112"/>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59"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8" name="Rectangle 37"/>
          <p:cNvSpPr/>
          <p:nvPr/>
        </p:nvSpPr>
        <p:spPr>
          <a:xfrm>
            <a:off x="502920" y="5381244"/>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 y="5381244"/>
            <a:ext cx="1170432" cy="964692"/>
          </a:xfrm>
          <a:prstGeom prst="rect">
            <a:avLst/>
          </a:prstGeom>
          <a:noFill/>
        </p:spPr>
        <p:txBody>
          <a:bodyPr wrap="square" anchor="ctr" lIns="54864" rIns="54864" tIns="36576" bIns="36576">
            <a:spAutoFit/>
          </a:bodyPr>
          <a:lstStyle/>
          <a:p>
            <a:pPr algn="ctr">
              <a:lnSpc>
                <a:spcPct val="118000"/>
              </a:lnSpc>
            </a:pPr>
          </a:p>
        </p:txBody>
      </p:sp>
      <p:sp>
        <p:nvSpPr>
          <p:cNvPr id="40" name="Rectangle 39"/>
          <p:cNvSpPr/>
          <p:nvPr/>
        </p:nvSpPr>
        <p:spPr>
          <a:xfrm>
            <a:off x="1856232" y="5381244"/>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9384"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2" name="TextBox 41"/>
          <p:cNvSpPr txBox="1"/>
          <p:nvPr/>
        </p:nvSpPr>
        <p:spPr>
          <a:xfrm>
            <a:off x="4690871" y="5381244"/>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43" name="Rectangle 42"/>
          <p:cNvSpPr/>
          <p:nvPr/>
        </p:nvSpPr>
        <p:spPr>
          <a:xfrm>
            <a:off x="5093207" y="5381244"/>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6359"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5" name="Rectangle 44"/>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48" name="Picture 47" descr="topic_26.jpg_160.jpg"/>
          <p:cNvPicPr>
            <a:picLocks noChangeAspect="1"/>
          </p:cNvPicPr>
          <p:nvPr/>
        </p:nvPicPr>
        <p:blipFill>
          <a:blip r:embed="rId2"/>
          <a:stretch>
            <a:fillRect/>
          </a:stretch>
        </p:blipFill>
        <p:spPr>
          <a:xfrm>
            <a:off x="8293607" y="1938528"/>
            <a:ext cx="3300984" cy="2057400"/>
          </a:xfrm>
          <a:prstGeom prst="rect">
            <a:avLst/>
          </a:prstGeom>
        </p:spPr>
      </p:pic>
      <p:sp>
        <p:nvSpPr>
          <p:cNvPr id="49" name="Rectangle 48"/>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商業情境視覺：法蘭克福金融區的德意志銀行雙塔——即便擁有全球法定權力最大的「德國垂直監事會」，當監督者與被監督者淪為熟人俱樂部時，高位階也救不了風控崩潰。</a:t>
            </a:r>
          </a:p>
        </p:txBody>
      </p:sp>
      <p:sp>
        <p:nvSpPr>
          <p:cNvPr id="52" name="Rectangle 51"/>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55" name="TextBox 5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為什麼很多公司的「監事會（或監察人）」感覺像空氣一樣沒存在感？因為在我們熟悉的制度裡，股東大會同時選出「董事會」和「監事會」，兩邊平起平坐，監事會根本沒權力開除…</a:t>
            </a:r>
          </a:p>
        </p:txBody>
      </p:sp>
      <p:sp>
        <p:nvSpPr>
          <p:cNvPr id="56" name="Rectangle 55"/>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進階架構：【機構位階 vs. 實質獨立性】監督有效性檢驗模型</a:t>
            </a:r>
          </a:p>
        </p:txBody>
      </p:sp>
      <p:sp>
        <p:nvSpPr>
          <p:cNvPr id="59" name="TextBox 5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本講再次印證全課核心機制之五——**「形式不等於功能」**（見知識庫 #041）。無論是美式的「單一董事會＋獨立董事（第 15 講）」，還是德式的「垂直…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模組三：跨國治理比較（德國篇 II）   ｜   版型 8：BCG 論法 (BCG 2×2 Matrix)   ｜   知識庫 #028</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主張：德國「員工共決制」透過讓員工佔據監事會半數席位實現高度勞資穩定，但也帶來轉型緩慢與決策僵化的高昂代價</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從歐寶汽車（Opel）勞資共度危機 vs. 德意志銀行與德國商業銀行合併破局，看懂「公平保障」與「變革效率」的取捨</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劉松博《公司治理30講》27 講 ｜ 知識庫條目 #028 ｜ BCG Co-determination Matrix Style  ｜  關鍵字：員工共決制 / 德國 / 工會 / 企業委員會 / 歐寶汽車 / 德意志銀行 / 公平與效率 / 工匠精神</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30 / 42</a:t>
            </a:r>
          </a:p>
        </p:txBody>
      </p:sp>
      <p:sp>
        <p:nvSpPr>
          <p:cNvPr id="10" name="TextBox 9"/>
          <p:cNvSpPr txBox="1"/>
          <p:nvPr/>
        </p:nvSpPr>
        <p:spPr>
          <a:xfrm>
            <a:off x="502920" y="1572768"/>
            <a:ext cx="329184" cy="4443984"/>
          </a:xfrm>
          <a:prstGeom prst="rect">
            <a:avLst/>
          </a:prstGeom>
          <a:noFill/>
        </p:spPr>
        <p:txBody>
          <a:bodyPr wrap="square" anchor="ctr" lIns="54864" rIns="54864" tIns="36576" bIns="36576">
            <a:spAutoFit/>
          </a:bodyPr>
          <a:lstStyle/>
          <a:p>
            <a:pPr algn="ctr">
              <a:lnSpc>
                <a:spcPct val="118000"/>
              </a:lnSpc>
            </a:pPr>
            <a:r>
              <a:rPr sz="880" b="1">
                <a:solidFill>
                  <a:srgbClr val="004B2B"/>
                </a:solidFill>
                <a:latin typeface="Microsoft JhengHei"/>
              </a:rPr>
              <a:t>▲</a:t>
            </a:r>
          </a:p>
          <a:p>
            <a:pPr algn="ctr">
              <a:lnSpc>
                <a:spcPct val="118000"/>
              </a:lnSpc>
            </a:pPr>
            <a:r>
              <a:rPr sz="880" b="1">
                <a:solidFill>
                  <a:srgbClr val="004B2B"/>
                </a:solidFill>
                <a:latin typeface="Microsoft JhengHei"/>
              </a:rPr>
              <a:t>縱軸維度</a:t>
            </a:r>
          </a:p>
        </p:txBody>
      </p:sp>
      <p:sp>
        <p:nvSpPr>
          <p:cNvPr id="11" name="TextBox 10"/>
          <p:cNvSpPr txBox="1"/>
          <p:nvPr/>
        </p:nvSpPr>
        <p:spPr>
          <a:xfrm>
            <a:off x="832104" y="6053328"/>
            <a:ext cx="7168895" cy="274320"/>
          </a:xfrm>
          <a:prstGeom prst="rect">
            <a:avLst/>
          </a:prstGeom>
          <a:noFill/>
        </p:spPr>
        <p:txBody>
          <a:bodyPr wrap="square" anchor="ctr" lIns="54864" rIns="54864" tIns="36576" bIns="36576">
            <a:spAutoFit/>
          </a:bodyPr>
          <a:lstStyle/>
          <a:p>
            <a:pPr algn="ctr">
              <a:lnSpc>
                <a:spcPct val="118000"/>
              </a:lnSpc>
            </a:pPr>
            <a:r>
              <a:rPr sz="919" b="1">
                <a:solidFill>
                  <a:srgbClr val="004B2B"/>
                </a:solidFill>
                <a:latin typeface="Microsoft JhengHei"/>
              </a:rPr>
              <a:t>橫軸維度  ▶</a:t>
            </a:r>
          </a:p>
        </p:txBody>
      </p:sp>
      <p:sp>
        <p:nvSpPr>
          <p:cNvPr id="12" name="Rectangle 11"/>
          <p:cNvSpPr/>
          <p:nvPr/>
        </p:nvSpPr>
        <p:spPr>
          <a:xfrm>
            <a:off x="832104" y="1572768"/>
            <a:ext cx="3520439" cy="2157984"/>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1572768"/>
            <a:ext cx="3520439" cy="36576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1600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1</a:t>
            </a:r>
          </a:p>
        </p:txBody>
      </p:sp>
      <p:sp>
        <p:nvSpPr>
          <p:cNvPr id="15" name="TextBox 14"/>
          <p:cNvSpPr txBox="1"/>
          <p:nvPr/>
        </p:nvSpPr>
        <p:spPr>
          <a:xfrm>
            <a:off x="941832" y="1993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04B2B"/>
                </a:solidFill>
                <a:latin typeface="Microsoft JhengHei"/>
              </a:rPr>
              <a:t>③ (X1Y2) 剛性共決阻礙變革（如：德銀與德商銀合併失敗）</a:t>
            </a:r>
          </a:p>
        </p:txBody>
      </p:sp>
      <p:sp>
        <p:nvSpPr>
          <p:cNvPr id="16" name="TextBox 15"/>
          <p:cNvSpPr txBox="1"/>
          <p:nvPr/>
        </p:nvSpPr>
        <p:spPr>
          <a:xfrm>
            <a:off x="941832" y="2377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E23"/>
                </a:solidFill>
                <a:latin typeface="Microsoft JhengHei"/>
              </a:rPr>
              <a:t>• 德國《共決法》規定逾 2000 人企業監事會【50% 席位歸員工與工會】</a:t>
            </a:r>
          </a:p>
          <a:p>
            <a:pPr algn="l">
              <a:lnSpc>
                <a:spcPct val="115000"/>
              </a:lnSpc>
            </a:pPr>
            <a:r>
              <a:rPr sz="900" b="0">
                <a:solidFill>
                  <a:srgbClr val="1A2E23"/>
                </a:solidFill>
                <a:latin typeface="Microsoft JhengHei"/>
              </a:rPr>
              <a:t>• 當數位轉型或合併需裁員 3 萬人時，工會代表強烈抵制，導致企業錯失轉型良機</a:t>
            </a:r>
          </a:p>
        </p:txBody>
      </p:sp>
      <p:sp>
        <p:nvSpPr>
          <p:cNvPr id="17" name="Rectangle 16"/>
          <p:cNvSpPr/>
          <p:nvPr/>
        </p:nvSpPr>
        <p:spPr>
          <a:xfrm>
            <a:off x="4480559" y="1572768"/>
            <a:ext cx="3520439" cy="2157984"/>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59" y="1572768"/>
            <a:ext cx="3520439" cy="36576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1999" y="1600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2</a:t>
            </a:r>
          </a:p>
        </p:txBody>
      </p:sp>
      <p:sp>
        <p:nvSpPr>
          <p:cNvPr id="20" name="TextBox 19"/>
          <p:cNvSpPr txBox="1"/>
          <p:nvPr/>
        </p:nvSpPr>
        <p:spPr>
          <a:xfrm>
            <a:off x="4590287" y="1993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04B2B"/>
                </a:solidFill>
                <a:latin typeface="Microsoft JhengHei"/>
              </a:rPr>
              <a:t>③ (X2Y2) 德國共決制理想態（如：歐寶汽車危機協商、短時工作制）</a:t>
            </a:r>
          </a:p>
        </p:txBody>
      </p:sp>
      <p:sp>
        <p:nvSpPr>
          <p:cNvPr id="21" name="TextBox 20"/>
          <p:cNvSpPr txBox="1"/>
          <p:nvPr/>
        </p:nvSpPr>
        <p:spPr>
          <a:xfrm>
            <a:off x="4590287" y="2377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E23"/>
                </a:solidFill>
                <a:latin typeface="Microsoft JhengHei"/>
              </a:rPr>
              <a:t>• 監事會＋企業委員會（Works Council）雙層保障，員工不懼失業而願深耕專業技術（造就德國精密製造工匠精神）</a:t>
            </a:r>
          </a:p>
          <a:p>
            <a:pPr algn="l">
              <a:lnSpc>
                <a:spcPct val="115000"/>
              </a:lnSpc>
            </a:pPr>
            <a:r>
              <a:rPr sz="900" b="0">
                <a:solidFill>
                  <a:srgbClr val="1A2E23"/>
                </a:solidFill>
                <a:latin typeface="Microsoft JhengHei"/>
              </a:rPr>
              <a:t>• 危機時員工願接受減工時降薪、換取公司不裁員承諾</a:t>
            </a:r>
          </a:p>
        </p:txBody>
      </p:sp>
      <p:sp>
        <p:nvSpPr>
          <p:cNvPr id="22" name="Rectangle 21"/>
          <p:cNvSpPr/>
          <p:nvPr/>
        </p:nvSpPr>
        <p:spPr>
          <a:xfrm>
            <a:off x="832104" y="3858768"/>
            <a:ext cx="3520439" cy="2157984"/>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 y="3858768"/>
            <a:ext cx="3520439" cy="36576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3886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3</a:t>
            </a:r>
          </a:p>
        </p:txBody>
      </p:sp>
      <p:sp>
        <p:nvSpPr>
          <p:cNvPr id="25" name="TextBox 24"/>
          <p:cNvSpPr txBox="1"/>
          <p:nvPr/>
        </p:nvSpPr>
        <p:spPr>
          <a:xfrm>
            <a:off x="941832" y="4279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04B2B"/>
                </a:solidFill>
                <a:latin typeface="Microsoft JhengHei"/>
              </a:rPr>
              <a:t>③ (X1Y1) 傳統外部工會罷工對抗模式（如：部分歐美傳統製造業）</a:t>
            </a:r>
          </a:p>
        </p:txBody>
      </p:sp>
      <p:sp>
        <p:nvSpPr>
          <p:cNvPr id="26" name="TextBox 25"/>
          <p:cNvSpPr txBox="1"/>
          <p:nvPr/>
        </p:nvSpPr>
        <p:spPr>
          <a:xfrm>
            <a:off x="941832" y="4663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E23"/>
                </a:solidFill>
                <a:latin typeface="Microsoft JhengHei"/>
              </a:rPr>
              <a:t>• 員工不進董事會，但透過外部工會發起罷工與集體訴訟抗爭</a:t>
            </a:r>
          </a:p>
          <a:p>
            <a:pPr algn="l">
              <a:lnSpc>
                <a:spcPct val="115000"/>
              </a:lnSpc>
            </a:pPr>
            <a:r>
              <a:rPr sz="900" b="0">
                <a:solidFill>
                  <a:srgbClr val="1A2E23"/>
                </a:solidFill>
                <a:latin typeface="Microsoft JhengHei"/>
              </a:rPr>
              <a:t>• 勞資雙方零和博弈，停工損失與摩擦成本極高</a:t>
            </a:r>
          </a:p>
        </p:txBody>
      </p:sp>
      <p:sp>
        <p:nvSpPr>
          <p:cNvPr id="27" name="Rectangle 26"/>
          <p:cNvSpPr/>
          <p:nvPr/>
        </p:nvSpPr>
        <p:spPr>
          <a:xfrm>
            <a:off x="4480559" y="3858768"/>
            <a:ext cx="3520439" cy="2157984"/>
          </a:xfrm>
          <a:prstGeom prst="rect">
            <a:avLst/>
          </a:prstGeom>
          <a:solidFill>
            <a:srgbClr val="F2F8F5"/>
          </a:solidFill>
          <a:ln w="2286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59" y="3858768"/>
            <a:ext cx="3520439" cy="36576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1999" y="3886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4</a:t>
            </a:r>
          </a:p>
        </p:txBody>
      </p:sp>
      <p:sp>
        <p:nvSpPr>
          <p:cNvPr id="30" name="TextBox 29"/>
          <p:cNvSpPr txBox="1"/>
          <p:nvPr/>
        </p:nvSpPr>
        <p:spPr>
          <a:xfrm>
            <a:off x="4590287" y="4279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04B2B"/>
                </a:solidFill>
                <a:latin typeface="Microsoft JhengHei"/>
              </a:rPr>
              <a:t>③ (X2Y1) 事業合夥與價值共享模式 ★ 新經濟演進焦點</a:t>
            </a:r>
          </a:p>
        </p:txBody>
      </p:sp>
      <p:sp>
        <p:nvSpPr>
          <p:cNvPr id="31" name="TextBox 30"/>
          <p:cNvSpPr txBox="1"/>
          <p:nvPr/>
        </p:nvSpPr>
        <p:spPr>
          <a:xfrm>
            <a:off x="4590287" y="4663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E23"/>
                </a:solidFill>
                <a:latin typeface="Microsoft JhengHei"/>
              </a:rPr>
              <a:t>• 不強制瓜分董事會半數席位以保決策敏捷，但透過核心員工持股、合夥制與軟治理形成「利益與命運共同體」（銜接第四模組）</a:t>
            </a:r>
          </a:p>
        </p:txBody>
      </p:sp>
      <p:sp>
        <p:nvSpPr>
          <p:cNvPr id="32" name="Rectangle 31"/>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5" name="Picture 34" descr="topic_27.jpg_160.jpg"/>
          <p:cNvPicPr>
            <a:picLocks noChangeAspect="1"/>
          </p:cNvPicPr>
          <p:nvPr/>
        </p:nvPicPr>
        <p:blipFill>
          <a:blip r:embed="rId2"/>
          <a:stretch>
            <a:fillRect/>
          </a:stretch>
        </p:blipFill>
        <p:spPr>
          <a:xfrm>
            <a:off x="8293607" y="1938528"/>
            <a:ext cx="3300984" cy="2057400"/>
          </a:xfrm>
          <a:prstGeom prst="rect">
            <a:avLst/>
          </a:prstGeom>
        </p:spPr>
      </p:pic>
      <p:sp>
        <p:nvSpPr>
          <p:cNvPr id="36" name="Rectangle 35"/>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商業情境視覺：德國精密工業生產線上的工程師與技工——「員工共決制」賦予德國工人極高的安全感與工匠投入度，卻也在數位化大轉型時代成為船大難掉頭的包袱。</a:t>
            </a:r>
          </a:p>
        </p:txBody>
      </p:sp>
      <p:sp>
        <p:nvSpPr>
          <p:cNvPr id="39" name="Rectangle 38"/>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42" name="TextBox 41"/>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你能想像一家大公司裡，決定總經理生死和公司大計的「監事會」，有**整整一半（50%）的座位是普通員工和工會代表**嗎？這就是德國舉世聞名的「**員工共決制（Co…</a:t>
            </a:r>
          </a:p>
        </p:txBody>
      </p:sp>
      <p:sp>
        <p:nvSpPr>
          <p:cNvPr id="43" name="Rectangle 42"/>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進階架構：【專用性人力資本保護 vs. 戰略重組敏捷度】勞資治理權衡模型</a:t>
            </a:r>
          </a:p>
        </p:txBody>
      </p:sp>
      <p:sp>
        <p:nvSpPr>
          <p:cNvPr id="46" name="TextBox 45"/>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為什麼德國精密製造業適合「共決制」，而矽谷軟體與網路業卻不適合？從制度經濟學看：精密機械與汽車需要工人投入長達數十年的「企業專用性技能（Firm-spe…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模組三：跨國治理比較（日本篇）   ｜   版型 4：連鎖論法 (Chain / Flow)   ｜   知識庫 #029</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2D1054"/>
                </a:solidFill>
                <a:latin typeface="Microsoft JhengHei"/>
              </a:rPr>
              <a:t>① 主張：日本公司治理在泡沫經濟與醜聞衝擊下大舉引入美式外部監督，並以「三種治理架構自由選擇」克服歷史路徑依賴</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運用「蝴蝶效應、進化論、路徑依賴」三大理論透镜，看懂奧林巴斯（Olympus）造假案後日本安倍公司治理改革的深層邏輯</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劉松博《公司治理30講》28 講 ｜ 知識庫條目 #029 ｜ Accenture Evolutionary Flow Style  ｜  關鍵字：日本公司治理 / 路徑依賴 / 進化論 / 蝴蝶效應 / 奧林巴斯 / 東芝 / 交叉持股 / 主銀行制 / 終身僱用</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31 / 42</a:t>
            </a:r>
          </a:p>
        </p:txBody>
      </p:sp>
      <p:sp>
        <p:nvSpPr>
          <p:cNvPr id="10" name="Rectangle 9"/>
          <p:cNvSpPr/>
          <p:nvPr/>
        </p:nvSpPr>
        <p:spPr>
          <a:xfrm>
            <a:off x="502920" y="1572768"/>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 y="1572768"/>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1</a:t>
            </a:r>
          </a:p>
        </p:txBody>
      </p:sp>
      <p:sp>
        <p:nvSpPr>
          <p:cNvPr id="13" name="TextBox 12"/>
          <p:cNvSpPr txBox="1"/>
          <p:nvPr/>
        </p:nvSpPr>
        <p:spPr>
          <a:xfrm>
            <a:off x="1865376" y="1627632"/>
            <a:ext cx="6044183" cy="274320"/>
          </a:xfrm>
          <a:prstGeom prst="rect">
            <a:avLst/>
          </a:prstGeom>
          <a:noFill/>
        </p:spPr>
        <p:txBody>
          <a:bodyPr wrap="square" anchor="t" lIns="54864" rIns="54864" tIns="36576" bIns="36576">
            <a:spAutoFit/>
          </a:bodyPr>
          <a:lstStyle/>
          <a:p>
            <a:pPr algn="l">
              <a:lnSpc>
                <a:spcPct val="118000"/>
              </a:lnSpc>
            </a:pPr>
          </a:p>
        </p:txBody>
      </p:sp>
      <p:sp>
        <p:nvSpPr>
          <p:cNvPr id="14" name="TextBox 13"/>
          <p:cNvSpPr txBox="1"/>
          <p:nvPr/>
        </p:nvSpPr>
        <p:spPr>
          <a:xfrm>
            <a:off x="1865376" y="1901952"/>
            <a:ext cx="6044183" cy="752094"/>
          </a:xfrm>
          <a:prstGeom prst="rect">
            <a:avLst/>
          </a:prstGeom>
          <a:noFill/>
        </p:spPr>
        <p:txBody>
          <a:bodyPr wrap="square" anchor="t" lIns="54864" rIns="54864" tIns="36576" bIns="36576">
            <a:spAutoFit/>
          </a:bodyPr>
          <a:lstStyle/>
          <a:p>
            <a:pPr algn="l">
              <a:lnSpc>
                <a:spcPct val="114000"/>
              </a:lnSpc>
            </a:pPr>
          </a:p>
        </p:txBody>
      </p:sp>
      <p:sp>
        <p:nvSpPr>
          <p:cNvPr id="15" name="Rectangle 14"/>
          <p:cNvSpPr/>
          <p:nvPr/>
        </p:nvSpPr>
        <p:spPr>
          <a:xfrm>
            <a:off x="502920" y="2791206"/>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791206"/>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2791206"/>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2</a:t>
            </a:r>
          </a:p>
        </p:txBody>
      </p:sp>
      <p:sp>
        <p:nvSpPr>
          <p:cNvPr id="18" name="TextBox 17"/>
          <p:cNvSpPr txBox="1"/>
          <p:nvPr/>
        </p:nvSpPr>
        <p:spPr>
          <a:xfrm>
            <a:off x="1865376" y="2846070"/>
            <a:ext cx="6044183" cy="274320"/>
          </a:xfrm>
          <a:prstGeom prst="rect">
            <a:avLst/>
          </a:prstGeom>
          <a:noFill/>
        </p:spPr>
        <p:txBody>
          <a:bodyPr wrap="square" anchor="t" lIns="54864" rIns="54864" tIns="36576" bIns="36576">
            <a:spAutoFit/>
          </a:bodyPr>
          <a:lstStyle/>
          <a:p>
            <a:pPr algn="l">
              <a:lnSpc>
                <a:spcPct val="118000"/>
              </a:lnSpc>
            </a:pPr>
          </a:p>
        </p:txBody>
      </p:sp>
      <p:sp>
        <p:nvSpPr>
          <p:cNvPr id="19" name="TextBox 18"/>
          <p:cNvSpPr txBox="1"/>
          <p:nvPr/>
        </p:nvSpPr>
        <p:spPr>
          <a:xfrm>
            <a:off x="1865376" y="3120390"/>
            <a:ext cx="6044183" cy="752094"/>
          </a:xfrm>
          <a:prstGeom prst="rect">
            <a:avLst/>
          </a:prstGeom>
          <a:noFill/>
        </p:spPr>
        <p:txBody>
          <a:bodyPr wrap="square" anchor="t" lIns="54864" rIns="54864" tIns="36576" bIns="36576">
            <a:spAutoFit/>
          </a:bodyPr>
          <a:lstStyle/>
          <a:p>
            <a:pPr algn="l">
              <a:lnSpc>
                <a:spcPct val="114000"/>
              </a:lnSpc>
            </a:pPr>
          </a:p>
        </p:txBody>
      </p:sp>
      <p:sp>
        <p:nvSpPr>
          <p:cNvPr id="20" name="Rectangle 19"/>
          <p:cNvSpPr/>
          <p:nvPr/>
        </p:nvSpPr>
        <p:spPr>
          <a:xfrm>
            <a:off x="502920" y="4009644"/>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009644"/>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 y="4009644"/>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3</a:t>
            </a:r>
          </a:p>
        </p:txBody>
      </p:sp>
      <p:sp>
        <p:nvSpPr>
          <p:cNvPr id="23" name="TextBox 22"/>
          <p:cNvSpPr txBox="1"/>
          <p:nvPr/>
        </p:nvSpPr>
        <p:spPr>
          <a:xfrm>
            <a:off x="1865376" y="4064508"/>
            <a:ext cx="6044183" cy="274320"/>
          </a:xfrm>
          <a:prstGeom prst="rect">
            <a:avLst/>
          </a:prstGeom>
          <a:noFill/>
        </p:spPr>
        <p:txBody>
          <a:bodyPr wrap="square" anchor="t" lIns="54864" rIns="54864" tIns="36576" bIns="36576">
            <a:spAutoFit/>
          </a:bodyPr>
          <a:lstStyle/>
          <a:p>
            <a:pPr algn="l">
              <a:lnSpc>
                <a:spcPct val="118000"/>
              </a:lnSpc>
            </a:pPr>
          </a:p>
        </p:txBody>
      </p:sp>
      <p:sp>
        <p:nvSpPr>
          <p:cNvPr id="24" name="TextBox 23"/>
          <p:cNvSpPr txBox="1"/>
          <p:nvPr/>
        </p:nvSpPr>
        <p:spPr>
          <a:xfrm>
            <a:off x="1865376" y="4338828"/>
            <a:ext cx="6044183" cy="752094"/>
          </a:xfrm>
          <a:prstGeom prst="rect">
            <a:avLst/>
          </a:prstGeom>
          <a:noFill/>
        </p:spPr>
        <p:txBody>
          <a:bodyPr wrap="square" anchor="t" lIns="54864" rIns="54864" tIns="36576" bIns="36576">
            <a:spAutoFit/>
          </a:bodyPr>
          <a:lstStyle/>
          <a:p>
            <a:pPr algn="l">
              <a:lnSpc>
                <a:spcPct val="114000"/>
              </a:lnSpc>
            </a:pPr>
          </a:p>
        </p:txBody>
      </p:sp>
      <p:sp>
        <p:nvSpPr>
          <p:cNvPr id="25" name="Rectangle 24"/>
          <p:cNvSpPr/>
          <p:nvPr/>
        </p:nvSpPr>
        <p:spPr>
          <a:xfrm>
            <a:off x="502920" y="5228082"/>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5228082"/>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496" y="5228082"/>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4</a:t>
            </a:r>
          </a:p>
        </p:txBody>
      </p:sp>
      <p:sp>
        <p:nvSpPr>
          <p:cNvPr id="28" name="TextBox 27"/>
          <p:cNvSpPr txBox="1"/>
          <p:nvPr/>
        </p:nvSpPr>
        <p:spPr>
          <a:xfrm>
            <a:off x="1865376" y="5282946"/>
            <a:ext cx="6044183" cy="274320"/>
          </a:xfrm>
          <a:prstGeom prst="rect">
            <a:avLst/>
          </a:prstGeom>
          <a:noFill/>
        </p:spPr>
        <p:txBody>
          <a:bodyPr wrap="square" anchor="t" lIns="54864" rIns="54864" tIns="36576" bIns="36576">
            <a:spAutoFit/>
          </a:bodyPr>
          <a:lstStyle/>
          <a:p>
            <a:pPr algn="l">
              <a:lnSpc>
                <a:spcPct val="118000"/>
              </a:lnSpc>
            </a:pPr>
          </a:p>
        </p:txBody>
      </p:sp>
      <p:sp>
        <p:nvSpPr>
          <p:cNvPr id="29" name="TextBox 28"/>
          <p:cNvSpPr txBox="1"/>
          <p:nvPr/>
        </p:nvSpPr>
        <p:spPr>
          <a:xfrm>
            <a:off x="1865376" y="5557266"/>
            <a:ext cx="6044183" cy="752094"/>
          </a:xfrm>
          <a:prstGeom prst="rect">
            <a:avLst/>
          </a:prstGeom>
          <a:noFill/>
        </p:spPr>
        <p:txBody>
          <a:bodyPr wrap="square" anchor="t" lIns="54864" rIns="54864" tIns="36576" bIns="36576">
            <a:spAutoFit/>
          </a:bodyPr>
          <a:lstStyle/>
          <a:p>
            <a:pPr algn="l">
              <a:lnSpc>
                <a:spcPct val="114000"/>
              </a:lnSpc>
            </a:pPr>
          </a:p>
        </p:txBody>
      </p:sp>
      <p:sp>
        <p:nvSpPr>
          <p:cNvPr id="30" name="Rectangle 29"/>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3" name="Picture 32" descr="topic_28.jpg_160.jpg"/>
          <p:cNvPicPr>
            <a:picLocks noChangeAspect="1"/>
          </p:cNvPicPr>
          <p:nvPr/>
        </p:nvPicPr>
        <p:blipFill>
          <a:blip r:embed="rId2"/>
          <a:stretch>
            <a:fillRect/>
          </a:stretch>
        </p:blipFill>
        <p:spPr>
          <a:xfrm>
            <a:off x="8293607" y="1938528"/>
            <a:ext cx="3300984" cy="2057400"/>
          </a:xfrm>
          <a:prstGeom prst="rect">
            <a:avLst/>
          </a:prstGeom>
        </p:spPr>
      </p:pic>
      <p:sp>
        <p:nvSpPr>
          <p:cNvPr id="34" name="Rectangle 33"/>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商業情境視覺：東京丸之內現代金融大樓與傳統神社並存——日本公司治理改革既積極擁抱美式外部獨立董事與資本效率（進化論），又透過三軌選擇制尊重歷史傳統（路徑依賴）。</a:t>
            </a:r>
          </a:p>
        </p:txBody>
      </p:sp>
      <p:sp>
        <p:nvSpPr>
          <p:cNvPr id="37" name="Rectangle 36"/>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40" name="TextBox 3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過去大家誇日本企業好：員工「終身僱用」、按資歷加薪（年功序列）、銀行跟企業互相抱團持股，從來不怕野蠻人收購。但 1990 年泡沫經濟破滅後，這套制度卻變成了「老…</a:t>
            </a:r>
          </a:p>
        </p:txBody>
      </p:sp>
      <p:sp>
        <p:nvSpPr>
          <p:cNvPr id="41" name="Rectangle 40"/>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進階架構：【蝴蝶效應 × 進化適應 × 路徑依賴】制度變遷三維分析框架</a:t>
            </a:r>
          </a:p>
        </p:txBody>
      </p:sp>
      <p:sp>
        <p:nvSpPr>
          <p:cNvPr id="44" name="TextBox 4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本講為進階決策者提供了極其強大的「制度變遷分析框架」。無論是國家層面的公司法改革，還是企業內部的組織變革，都同時受這三種力量支配：① 認清歷史成因（蝴蝶…</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模組四：治理下沉與外擴（開篇核心講）   ｜   版型 5：麥肯錫論法 (McKinsey Matrix)   ｜   知識庫 #030</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主張：破解職業經理人「包贏不包輸」的終極答案是「事業合夥人制」，以「共擔劣後風險」將經理人升級為權力中心</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從萬科雙層合夥人制度（公司層級槓桿增持＋項目層級強制跟投）看懂「共創・共享・共治・共擔」四位一體</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劉松博《公司治理30講》29 講 ｜ 知識庫條目 #030 ｜ McKinsey Risk-Sharing Partnership Matrix  ｜  關鍵字：事業合夥人 / 萬科 / 項目跟投 / 包贏不包輸 / 共擔風險 / 阿里巴巴合夥人 / 海爾 / 權力中心</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32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傳統職業經理人痛點</a:t>
            </a:r>
          </a:p>
          <a:p>
            <a:pPr algn="ctr">
              <a:lnSpc>
                <a:spcPct val="118000"/>
              </a:lnSpc>
            </a:pPr>
            <a:r>
              <a:rPr sz="919" b="1">
                <a:solidFill>
                  <a:srgbClr val="FFFFFF"/>
                </a:solidFill>
                <a:latin typeface="Microsoft JhengHei"/>
              </a:rPr>
              <a:t>（包贏不包輸）</a:t>
            </a:r>
          </a:p>
        </p:txBody>
      </p:sp>
      <p:sp>
        <p:nvSpPr>
          <p:cNvPr id="14" name="Chevron 13"/>
          <p:cNvSpPr/>
          <p:nvPr/>
        </p:nvSpPr>
        <p:spPr>
          <a:xfrm>
            <a:off x="3855719"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8871"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萬科第 1 層：公司級持股計畫</a:t>
            </a:r>
          </a:p>
          <a:p>
            <a:pPr algn="ctr">
              <a:lnSpc>
                <a:spcPct val="118000"/>
              </a:lnSpc>
            </a:pPr>
            <a:r>
              <a:rPr sz="919" b="1">
                <a:solidFill>
                  <a:srgbClr val="FFFFFF"/>
                </a:solidFill>
                <a:latin typeface="Microsoft JhengHei"/>
              </a:rPr>
              <a:t>（集體獎金池＋槓桿鎖定）</a:t>
            </a:r>
          </a:p>
        </p:txBody>
      </p:sp>
      <p:sp>
        <p:nvSpPr>
          <p:cNvPr id="16" name="Chevron 15"/>
          <p:cNvSpPr/>
          <p:nvPr/>
        </p:nvSpPr>
        <p:spPr>
          <a:xfrm>
            <a:off x="5964935"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8087"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萬科第 2 層：項目級強制跟投</a:t>
            </a:r>
          </a:p>
          <a:p>
            <a:pPr algn="ctr">
              <a:lnSpc>
                <a:spcPct val="118000"/>
              </a:lnSpc>
            </a:pPr>
            <a:r>
              <a:rPr sz="919" b="1">
                <a:solidFill>
                  <a:srgbClr val="FFFFFF"/>
                </a:solidFill>
                <a:latin typeface="Microsoft JhengHei"/>
              </a:rPr>
              <a:t>（一線自己掏錢共擔虧損）</a:t>
            </a:r>
          </a:p>
        </p:txBody>
      </p:sp>
      <p:sp>
        <p:nvSpPr>
          <p:cNvPr id="18" name="Rectangle 17"/>
          <p:cNvSpPr/>
          <p:nvPr/>
        </p:nvSpPr>
        <p:spPr>
          <a:xfrm>
            <a:off x="502920" y="2249424"/>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2249424"/>
            <a:ext cx="1060704" cy="2002536"/>
          </a:xfrm>
          <a:prstGeom prst="rect">
            <a:avLst/>
          </a:prstGeom>
          <a:noFill/>
        </p:spPr>
        <p:txBody>
          <a:bodyPr wrap="square" anchor="ctr" lIns="54864" rIns="54864" tIns="36576" bIns="36576">
            <a:spAutoFit/>
          </a:bodyPr>
          <a:lstStyle/>
          <a:p>
            <a:pPr algn="ctr">
              <a:lnSpc>
                <a:spcPct val="118000"/>
              </a:lnSpc>
            </a:pPr>
          </a:p>
        </p:txBody>
      </p:sp>
      <p:sp>
        <p:nvSpPr>
          <p:cNvPr id="20" name="Rectangle 19"/>
          <p:cNvSpPr/>
          <p:nvPr/>
        </p:nvSpPr>
        <p:spPr>
          <a:xfrm>
            <a:off x="1746504"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19656"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拿高薪與免費期權：公司賺錢拿巨額分紅，公司虧錢拍拍屁股跳槽去下一家，從不掏自己口袋賠錢</a:t>
            </a:r>
          </a:p>
        </p:txBody>
      </p:sp>
      <p:sp>
        <p:nvSpPr>
          <p:cNvPr id="22" name="Rectangle 21"/>
          <p:cNvSpPr/>
          <p:nvPr/>
        </p:nvSpPr>
        <p:spPr>
          <a:xfrm>
            <a:off x="3855719"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8871"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1320 名高管將集體獎金帳戶委託買入萬科股票，甚至引入融資槓桿——若股價大跌，高管自己的獎金本金先虧光（劣後級）！</a:t>
            </a:r>
          </a:p>
        </p:txBody>
      </p:sp>
      <p:sp>
        <p:nvSpPr>
          <p:cNvPr id="24" name="Rectangle 23"/>
          <p:cNvSpPr/>
          <p:nvPr/>
        </p:nvSpPr>
        <p:spPr>
          <a:xfrm>
            <a:off x="5964935"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8087"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每個房地產新項目，一線項目總經理與團隊【必須自掏腰包強制跟投】，其他員工可自願跟投；項目賺錢一起分，項目虧損自己真金白銀賠！</a:t>
            </a:r>
          </a:p>
        </p:txBody>
      </p:sp>
      <p:sp>
        <p:nvSpPr>
          <p:cNvPr id="26" name="Rectangle 25"/>
          <p:cNvSpPr/>
          <p:nvPr/>
        </p:nvSpPr>
        <p:spPr>
          <a:xfrm>
            <a:off x="502920" y="4343400"/>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 y="4343400"/>
            <a:ext cx="1060704" cy="2002536"/>
          </a:xfrm>
          <a:prstGeom prst="rect">
            <a:avLst/>
          </a:prstGeom>
          <a:noFill/>
        </p:spPr>
        <p:txBody>
          <a:bodyPr wrap="square" anchor="ctr" lIns="54864" rIns="54864" tIns="36576" bIns="36576">
            <a:spAutoFit/>
          </a:bodyPr>
          <a:lstStyle/>
          <a:p>
            <a:pPr algn="ctr">
              <a:lnSpc>
                <a:spcPct val="118000"/>
              </a:lnSpc>
            </a:pPr>
          </a:p>
        </p:txBody>
      </p:sp>
      <p:sp>
        <p:nvSpPr>
          <p:cNvPr id="28" name="Rectangle 27"/>
          <p:cNvSpPr/>
          <p:nvPr/>
        </p:nvSpPr>
        <p:spPr>
          <a:xfrm>
            <a:off x="1746504"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19656"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控制權與風險承擔不對等，導致高管敢拿股東的錢盲目高價拿地、擴張規模</a:t>
            </a:r>
          </a:p>
        </p:txBody>
      </p:sp>
      <p:sp>
        <p:nvSpPr>
          <p:cNvPr id="30" name="Rectangle 29"/>
          <p:cNvSpPr/>
          <p:nvPr/>
        </p:nvSpPr>
        <p:spPr>
          <a:xfrm>
            <a:off x="3855719"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8871"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將高管利益與公司長期市值深度綁定，同時凝聚成抵禦外部野蠻人的穩定股東力量</a:t>
            </a:r>
          </a:p>
        </p:txBody>
      </p:sp>
      <p:sp>
        <p:nvSpPr>
          <p:cNvPr id="32" name="Rectangle 31"/>
          <p:cNvSpPr/>
          <p:nvPr/>
        </p:nvSpPr>
        <p:spPr>
          <a:xfrm>
            <a:off x="5964935"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8087"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拿地成本立刻下降、開工到開盤周期大幅縮短！真正做到【共創、共享、共治、共擔（最核心差別）】</a:t>
            </a:r>
          </a:p>
        </p:txBody>
      </p:sp>
      <p:sp>
        <p:nvSpPr>
          <p:cNvPr id="34" name="Rectangle 33"/>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7" name="Picture 36" descr="topic_29.jpg_160.jpg"/>
          <p:cNvPicPr>
            <a:picLocks noChangeAspect="1"/>
          </p:cNvPicPr>
          <p:nvPr/>
        </p:nvPicPr>
        <p:blipFill>
          <a:blip r:embed="rId2"/>
          <a:stretch>
            <a:fillRect/>
          </a:stretch>
        </p:blipFill>
        <p:spPr>
          <a:xfrm>
            <a:off x="8293607" y="1938528"/>
            <a:ext cx="3300984" cy="2057400"/>
          </a:xfrm>
          <a:prstGeom prst="rect">
            <a:avLst/>
          </a:prstGeom>
        </p:spPr>
      </p:pic>
      <p:sp>
        <p:nvSpPr>
          <p:cNvPr id="38" name="Rectangle 37"/>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商業情境視覺：手疊手的合夥誓言背後，必須有「真金白銀掏腰包、虧損時先賠自己」的風險共擔機制，才能把旱澇保收的「打工人」變成休戚與共的「合夥人」。</a:t>
            </a:r>
          </a:p>
        </p:txBody>
      </p:sp>
      <p:sp>
        <p:nvSpPr>
          <p:cNvPr id="41" name="Rectangle 40"/>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4" name="TextBox 43"/>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為什麼哪怕給職業經理人發了高薪和股票期權，老闆還是覺得不放心？因為傳統經理人是「**包贏不包輸**」的！公司賺錢了，他分幾千萬獎金；公司如果虧掉十個億，他頂多不…</a:t>
            </a:r>
          </a:p>
        </p:txBody>
      </p:sp>
      <p:sp>
        <p:nvSpPr>
          <p:cNvPr id="45" name="Rectangle 44"/>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進階架構：【劣後級風險共擔 × 權力中心重構】事業合夥人治理模型</a:t>
            </a:r>
          </a:p>
        </p:txBody>
      </p:sp>
      <p:sp>
        <p:nvSpPr>
          <p:cNvPr id="48" name="TextBox 47"/>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本講是第四模組「治理下沉與外擴」的靈魂開篇，也是對第 04 講「對等原則」與第 25 講「權力線何在」的終極閉環！在知識與創新密集型企業中，貨幣資本已不…</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模組四：治理下沉與外擴   ｜   版型 4：連鎖論法 (Chain / Flow)   ｜   知識庫 #031</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2D1054"/>
                </a:solidFill>
                <a:latin typeface="Microsoft JhengHei"/>
              </a:rPr>
              <a:t>① 主張：企業文化與價值觀是合夥體系的「軟治理」黏著劑，必須經過「成文化 ➔ 制度化 ➔ 形式化」三部曲並對高管一視同仁才能落地</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從阿里巴巴「新六脈神劍（5分看業績、5分看價值觀）」、華為《基本法》到聯想柳傳志自罰站，拆解把牆上標語變成行為底線的方法</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劉松博《公司治理30講》30 講 ｜ 知識庫條目 #031 ｜ Accenture Cultural Transformation Flow  ｜  關鍵字：軟治理 / 企業文化 / 價值觀 / 阿里巴巴 / 六脈神劍 / 華為基本法 / 柳傳志 / 成文化 / 制度化 / 形式化</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33 / 42</a:t>
            </a:r>
          </a:p>
        </p:txBody>
      </p:sp>
      <p:sp>
        <p:nvSpPr>
          <p:cNvPr id="10" name="Rectangle 9"/>
          <p:cNvSpPr/>
          <p:nvPr/>
        </p:nvSpPr>
        <p:spPr>
          <a:xfrm>
            <a:off x="502920" y="1572768"/>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 y="1572768"/>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1</a:t>
            </a:r>
          </a:p>
        </p:txBody>
      </p:sp>
      <p:sp>
        <p:nvSpPr>
          <p:cNvPr id="13" name="TextBox 12"/>
          <p:cNvSpPr txBox="1"/>
          <p:nvPr/>
        </p:nvSpPr>
        <p:spPr>
          <a:xfrm>
            <a:off x="1865376" y="1627632"/>
            <a:ext cx="6044183" cy="274320"/>
          </a:xfrm>
          <a:prstGeom prst="rect">
            <a:avLst/>
          </a:prstGeom>
          <a:noFill/>
        </p:spPr>
        <p:txBody>
          <a:bodyPr wrap="square" anchor="t" lIns="54864" rIns="54864" tIns="36576" bIns="36576">
            <a:spAutoFit/>
          </a:bodyPr>
          <a:lstStyle/>
          <a:p>
            <a:pPr algn="l">
              <a:lnSpc>
                <a:spcPct val="118000"/>
              </a:lnSpc>
            </a:pPr>
          </a:p>
        </p:txBody>
      </p:sp>
      <p:sp>
        <p:nvSpPr>
          <p:cNvPr id="14" name="TextBox 13"/>
          <p:cNvSpPr txBox="1"/>
          <p:nvPr/>
        </p:nvSpPr>
        <p:spPr>
          <a:xfrm>
            <a:off x="1865376" y="1901952"/>
            <a:ext cx="6044183" cy="752094"/>
          </a:xfrm>
          <a:prstGeom prst="rect">
            <a:avLst/>
          </a:prstGeom>
          <a:noFill/>
        </p:spPr>
        <p:txBody>
          <a:bodyPr wrap="square" anchor="t" lIns="54864" rIns="54864" tIns="36576" bIns="36576">
            <a:spAutoFit/>
          </a:bodyPr>
          <a:lstStyle/>
          <a:p>
            <a:pPr algn="l">
              <a:lnSpc>
                <a:spcPct val="114000"/>
              </a:lnSpc>
            </a:pPr>
          </a:p>
        </p:txBody>
      </p:sp>
      <p:sp>
        <p:nvSpPr>
          <p:cNvPr id="15" name="Rectangle 14"/>
          <p:cNvSpPr/>
          <p:nvPr/>
        </p:nvSpPr>
        <p:spPr>
          <a:xfrm>
            <a:off x="502920" y="2791206"/>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791206"/>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2791206"/>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2</a:t>
            </a:r>
          </a:p>
        </p:txBody>
      </p:sp>
      <p:sp>
        <p:nvSpPr>
          <p:cNvPr id="18" name="TextBox 17"/>
          <p:cNvSpPr txBox="1"/>
          <p:nvPr/>
        </p:nvSpPr>
        <p:spPr>
          <a:xfrm>
            <a:off x="1865376" y="2846070"/>
            <a:ext cx="6044183" cy="274320"/>
          </a:xfrm>
          <a:prstGeom prst="rect">
            <a:avLst/>
          </a:prstGeom>
          <a:noFill/>
        </p:spPr>
        <p:txBody>
          <a:bodyPr wrap="square" anchor="t" lIns="54864" rIns="54864" tIns="36576" bIns="36576">
            <a:spAutoFit/>
          </a:bodyPr>
          <a:lstStyle/>
          <a:p>
            <a:pPr algn="l">
              <a:lnSpc>
                <a:spcPct val="118000"/>
              </a:lnSpc>
            </a:pPr>
          </a:p>
        </p:txBody>
      </p:sp>
      <p:sp>
        <p:nvSpPr>
          <p:cNvPr id="19" name="TextBox 18"/>
          <p:cNvSpPr txBox="1"/>
          <p:nvPr/>
        </p:nvSpPr>
        <p:spPr>
          <a:xfrm>
            <a:off x="1865376" y="3120390"/>
            <a:ext cx="6044183" cy="752094"/>
          </a:xfrm>
          <a:prstGeom prst="rect">
            <a:avLst/>
          </a:prstGeom>
          <a:noFill/>
        </p:spPr>
        <p:txBody>
          <a:bodyPr wrap="square" anchor="t" lIns="54864" rIns="54864" tIns="36576" bIns="36576">
            <a:spAutoFit/>
          </a:bodyPr>
          <a:lstStyle/>
          <a:p>
            <a:pPr algn="l">
              <a:lnSpc>
                <a:spcPct val="114000"/>
              </a:lnSpc>
            </a:pPr>
          </a:p>
        </p:txBody>
      </p:sp>
      <p:sp>
        <p:nvSpPr>
          <p:cNvPr id="20" name="Rectangle 19"/>
          <p:cNvSpPr/>
          <p:nvPr/>
        </p:nvSpPr>
        <p:spPr>
          <a:xfrm>
            <a:off x="502920" y="4009644"/>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009644"/>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 y="4009644"/>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3</a:t>
            </a:r>
          </a:p>
        </p:txBody>
      </p:sp>
      <p:sp>
        <p:nvSpPr>
          <p:cNvPr id="23" name="TextBox 22"/>
          <p:cNvSpPr txBox="1"/>
          <p:nvPr/>
        </p:nvSpPr>
        <p:spPr>
          <a:xfrm>
            <a:off x="1865376" y="4064508"/>
            <a:ext cx="6044183" cy="274320"/>
          </a:xfrm>
          <a:prstGeom prst="rect">
            <a:avLst/>
          </a:prstGeom>
          <a:noFill/>
        </p:spPr>
        <p:txBody>
          <a:bodyPr wrap="square" anchor="t" lIns="54864" rIns="54864" tIns="36576" bIns="36576">
            <a:spAutoFit/>
          </a:bodyPr>
          <a:lstStyle/>
          <a:p>
            <a:pPr algn="l">
              <a:lnSpc>
                <a:spcPct val="118000"/>
              </a:lnSpc>
            </a:pPr>
          </a:p>
        </p:txBody>
      </p:sp>
      <p:sp>
        <p:nvSpPr>
          <p:cNvPr id="24" name="TextBox 23"/>
          <p:cNvSpPr txBox="1"/>
          <p:nvPr/>
        </p:nvSpPr>
        <p:spPr>
          <a:xfrm>
            <a:off x="1865376" y="4338828"/>
            <a:ext cx="6044183" cy="752094"/>
          </a:xfrm>
          <a:prstGeom prst="rect">
            <a:avLst/>
          </a:prstGeom>
          <a:noFill/>
        </p:spPr>
        <p:txBody>
          <a:bodyPr wrap="square" anchor="t" lIns="54864" rIns="54864" tIns="36576" bIns="36576">
            <a:spAutoFit/>
          </a:bodyPr>
          <a:lstStyle/>
          <a:p>
            <a:pPr algn="l">
              <a:lnSpc>
                <a:spcPct val="114000"/>
              </a:lnSpc>
            </a:pPr>
          </a:p>
        </p:txBody>
      </p:sp>
      <p:sp>
        <p:nvSpPr>
          <p:cNvPr id="25" name="Rectangle 24"/>
          <p:cNvSpPr/>
          <p:nvPr/>
        </p:nvSpPr>
        <p:spPr>
          <a:xfrm>
            <a:off x="502920" y="5228082"/>
            <a:ext cx="7498079" cy="1117854"/>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5228082"/>
            <a:ext cx="1234440" cy="1117854"/>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9496" y="5228082"/>
            <a:ext cx="1161288" cy="1117854"/>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4</a:t>
            </a:r>
          </a:p>
        </p:txBody>
      </p:sp>
      <p:sp>
        <p:nvSpPr>
          <p:cNvPr id="28" name="TextBox 27"/>
          <p:cNvSpPr txBox="1"/>
          <p:nvPr/>
        </p:nvSpPr>
        <p:spPr>
          <a:xfrm>
            <a:off x="1865376" y="5282946"/>
            <a:ext cx="6044183" cy="274320"/>
          </a:xfrm>
          <a:prstGeom prst="rect">
            <a:avLst/>
          </a:prstGeom>
          <a:noFill/>
        </p:spPr>
        <p:txBody>
          <a:bodyPr wrap="square" anchor="t" lIns="54864" rIns="54864" tIns="36576" bIns="36576">
            <a:spAutoFit/>
          </a:bodyPr>
          <a:lstStyle/>
          <a:p>
            <a:pPr algn="l">
              <a:lnSpc>
                <a:spcPct val="118000"/>
              </a:lnSpc>
            </a:pPr>
          </a:p>
        </p:txBody>
      </p:sp>
      <p:sp>
        <p:nvSpPr>
          <p:cNvPr id="29" name="TextBox 28"/>
          <p:cNvSpPr txBox="1"/>
          <p:nvPr/>
        </p:nvSpPr>
        <p:spPr>
          <a:xfrm>
            <a:off x="1865376" y="5557266"/>
            <a:ext cx="6044183" cy="752094"/>
          </a:xfrm>
          <a:prstGeom prst="rect">
            <a:avLst/>
          </a:prstGeom>
          <a:noFill/>
        </p:spPr>
        <p:txBody>
          <a:bodyPr wrap="square" anchor="t" lIns="54864" rIns="54864" tIns="36576" bIns="36576">
            <a:spAutoFit/>
          </a:bodyPr>
          <a:lstStyle/>
          <a:p>
            <a:pPr algn="l">
              <a:lnSpc>
                <a:spcPct val="114000"/>
              </a:lnSpc>
            </a:pPr>
          </a:p>
        </p:txBody>
      </p:sp>
      <p:sp>
        <p:nvSpPr>
          <p:cNvPr id="30" name="Rectangle 29"/>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3" name="Picture 32" descr="topic_30.jpg_160.jpg"/>
          <p:cNvPicPr>
            <a:picLocks noChangeAspect="1"/>
          </p:cNvPicPr>
          <p:nvPr/>
        </p:nvPicPr>
        <p:blipFill>
          <a:blip r:embed="rId2"/>
          <a:stretch>
            <a:fillRect/>
          </a:stretch>
        </p:blipFill>
        <p:spPr>
          <a:xfrm>
            <a:off x="8293607" y="1938528"/>
            <a:ext cx="3300984" cy="2057400"/>
          </a:xfrm>
          <a:prstGeom prst="rect">
            <a:avLst/>
          </a:prstGeom>
        </p:spPr>
      </p:pic>
      <p:sp>
        <p:nvSpPr>
          <p:cNvPr id="34" name="Rectangle 33"/>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商業情境視覺：如果硬治理（股權、董事會、合約）是公司的鋼筋骨架，那麼軟治理（文化與價值觀）就是流淌在組織裡的血液與神經網路。</a:t>
            </a:r>
          </a:p>
        </p:txBody>
      </p:sp>
      <p:sp>
        <p:nvSpPr>
          <p:cNvPr id="37" name="Rectangle 36"/>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40" name="TextBox 39"/>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為什麼 99% 公司的企業文化都只是「掛在牆上給客戶看的假大空標語」？因為老闆不知道怎麼讓價值觀落地！劉松博教授提出「**軟治理落地三部曲**」：① **成文化…</a:t>
            </a:r>
          </a:p>
        </p:txBody>
      </p:sp>
      <p:sp>
        <p:nvSpPr>
          <p:cNvPr id="41" name="Rectangle 40"/>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進階架構：【成文化 ➔ 制度化 ➔ 形式化 × 領導零特權】軟治理閉環模型</a:t>
            </a:r>
          </a:p>
        </p:txBody>
      </p:sp>
      <p:sp>
        <p:nvSpPr>
          <p:cNvPr id="44" name="TextBox 43"/>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為什麼「企業文化」會出現在《公司治理》課程裡？因為當治理從股東會、董事會向下沉到成百上千的合夥人與知識員工時（第四模組），「硬契約（不完全契約）」的監督…</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模組四：治理下沉與外擴   ｜   版型 6：對立論法 (Opposition)   ｜   知識庫 #032</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主張：人人有份的平均全員持股只會淪為「保健福利（普惠制陷阱）」，唯有像華為「動態拉大差距、配股與績效強掛鉤」才能產生激勵力</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運用赫茨伯格「雙因素理論」，對比華為「飽和配股與動態調整」與信譽樓「分享型員工持股」的截然不同定位</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劉松博《公司治理30講》31 講 ｜ 知識庫條目 #032 ｜ BCG Hygiene vs. Motivator Opposition Style  ｜  關鍵字：全員持股 / 普惠制陷阱 / 華為 / 虛擬受限股 / 雙因素理論 / 福利 / 激勵 / 信譽樓 / 飽和配股</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34 / 42</a:t>
            </a:r>
          </a:p>
        </p:txBody>
      </p:sp>
      <p:sp>
        <p:nvSpPr>
          <p:cNvPr id="10" name="Rectangle 9"/>
          <p:cNvSpPr/>
          <p:nvPr/>
        </p:nvSpPr>
        <p:spPr>
          <a:xfrm>
            <a:off x="502920" y="1572768"/>
            <a:ext cx="1280160" cy="53035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280160" cy="530352"/>
          </a:xfrm>
          <a:prstGeom prst="rect">
            <a:avLst/>
          </a:prstGeom>
          <a:noFill/>
        </p:spPr>
        <p:txBody>
          <a:bodyPr wrap="square" anchor="ctr" lIns="54864" rIns="54864" tIns="36576" bIns="36576">
            <a:spAutoFit/>
          </a:bodyPr>
          <a:lstStyle/>
          <a:p>
            <a:pPr algn="ctr">
              <a:lnSpc>
                <a:spcPct val="118000"/>
              </a:lnSpc>
            </a:pPr>
            <a:r>
              <a:rPr sz="950" b="1">
                <a:solidFill>
                  <a:srgbClr val="004B2B"/>
                </a:solidFill>
                <a:latin typeface="Microsoft JhengHei"/>
              </a:rPr>
              <a:t>對立維度</a:t>
            </a:r>
          </a:p>
        </p:txBody>
      </p:sp>
      <p:sp>
        <p:nvSpPr>
          <p:cNvPr id="12" name="Rectangle 11"/>
          <p:cNvSpPr/>
          <p:nvPr/>
        </p:nvSpPr>
        <p:spPr>
          <a:xfrm>
            <a:off x="1856232" y="1572768"/>
            <a:ext cx="2834639" cy="5303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9384"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A</a:t>
            </a:r>
          </a:p>
        </p:txBody>
      </p:sp>
      <p:sp>
        <p:nvSpPr>
          <p:cNvPr id="14" name="TextBox 13"/>
          <p:cNvSpPr txBox="1"/>
          <p:nvPr/>
        </p:nvSpPr>
        <p:spPr>
          <a:xfrm>
            <a:off x="4690871" y="1572768"/>
            <a:ext cx="402336" cy="530352"/>
          </a:xfrm>
          <a:prstGeom prst="rect">
            <a:avLst/>
          </a:prstGeom>
          <a:noFill/>
        </p:spPr>
        <p:txBody>
          <a:bodyPr wrap="square" anchor="ctr" lIns="54864" rIns="54864" tIns="36576" bIns="36576">
            <a:spAutoFit/>
          </a:bodyPr>
          <a:lstStyle/>
          <a:p>
            <a:pPr algn="ctr">
              <a:lnSpc>
                <a:spcPct val="118000"/>
              </a:lnSpc>
            </a:pPr>
            <a:r>
              <a:rPr sz="1000" b="1">
                <a:solidFill>
                  <a:srgbClr val="177B57"/>
                </a:solidFill>
                <a:latin typeface="Microsoft JhengHei"/>
              </a:rPr>
              <a:t>VS</a:t>
            </a:r>
          </a:p>
        </p:txBody>
      </p:sp>
      <p:sp>
        <p:nvSpPr>
          <p:cNvPr id="15" name="Rectangle 14"/>
          <p:cNvSpPr/>
          <p:nvPr/>
        </p:nvSpPr>
        <p:spPr>
          <a:xfrm>
            <a:off x="5093207" y="1572768"/>
            <a:ext cx="2834639" cy="53035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B</a:t>
            </a:r>
          </a:p>
        </p:txBody>
      </p:sp>
      <p:sp>
        <p:nvSpPr>
          <p:cNvPr id="17" name="Rectangle 16"/>
          <p:cNvSpPr/>
          <p:nvPr/>
        </p:nvSpPr>
        <p:spPr>
          <a:xfrm>
            <a:off x="502920" y="2212848"/>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 y="2212848"/>
            <a:ext cx="1170432" cy="964692"/>
          </a:xfrm>
          <a:prstGeom prst="rect">
            <a:avLst/>
          </a:prstGeom>
          <a:noFill/>
        </p:spPr>
        <p:txBody>
          <a:bodyPr wrap="square" anchor="ctr" lIns="54864" rIns="54864" tIns="36576" bIns="36576">
            <a:spAutoFit/>
          </a:bodyPr>
          <a:lstStyle/>
          <a:p>
            <a:pPr algn="ctr">
              <a:lnSpc>
                <a:spcPct val="118000"/>
              </a:lnSpc>
            </a:pPr>
          </a:p>
        </p:txBody>
      </p:sp>
      <p:sp>
        <p:nvSpPr>
          <p:cNvPr id="19" name="Rectangle 18"/>
          <p:cNvSpPr/>
          <p:nvPr/>
        </p:nvSpPr>
        <p:spPr>
          <a:xfrm>
            <a:off x="1856232" y="2212848"/>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9384"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1" name="TextBox 20"/>
          <p:cNvSpPr txBox="1"/>
          <p:nvPr/>
        </p:nvSpPr>
        <p:spPr>
          <a:xfrm>
            <a:off x="4690871" y="2212848"/>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2" name="Rectangle 21"/>
          <p:cNvSpPr/>
          <p:nvPr/>
        </p:nvSpPr>
        <p:spPr>
          <a:xfrm>
            <a:off x="5093207" y="2212848"/>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4" name="Rectangle 23"/>
          <p:cNvSpPr/>
          <p:nvPr/>
        </p:nvSpPr>
        <p:spPr>
          <a:xfrm>
            <a:off x="502920" y="3268980"/>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 y="3268980"/>
            <a:ext cx="1170432" cy="964692"/>
          </a:xfrm>
          <a:prstGeom prst="rect">
            <a:avLst/>
          </a:prstGeom>
          <a:noFill/>
        </p:spPr>
        <p:txBody>
          <a:bodyPr wrap="square" anchor="ctr" lIns="54864" rIns="54864" tIns="36576" bIns="36576">
            <a:spAutoFit/>
          </a:bodyPr>
          <a:lstStyle/>
          <a:p>
            <a:pPr algn="ctr">
              <a:lnSpc>
                <a:spcPct val="118000"/>
              </a:lnSpc>
            </a:pPr>
          </a:p>
        </p:txBody>
      </p:sp>
      <p:sp>
        <p:nvSpPr>
          <p:cNvPr id="26" name="Rectangle 25"/>
          <p:cNvSpPr/>
          <p:nvPr/>
        </p:nvSpPr>
        <p:spPr>
          <a:xfrm>
            <a:off x="1856232" y="3268980"/>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9384"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28" name="TextBox 27"/>
          <p:cNvSpPr txBox="1"/>
          <p:nvPr/>
        </p:nvSpPr>
        <p:spPr>
          <a:xfrm>
            <a:off x="4690871" y="3268980"/>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9" name="Rectangle 28"/>
          <p:cNvSpPr/>
          <p:nvPr/>
        </p:nvSpPr>
        <p:spPr>
          <a:xfrm>
            <a:off x="5093207" y="3268980"/>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59"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31" name="Rectangle 30"/>
          <p:cNvSpPr/>
          <p:nvPr/>
        </p:nvSpPr>
        <p:spPr>
          <a:xfrm>
            <a:off x="502920" y="4325112"/>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784" y="4325112"/>
            <a:ext cx="1170432" cy="964692"/>
          </a:xfrm>
          <a:prstGeom prst="rect">
            <a:avLst/>
          </a:prstGeom>
          <a:noFill/>
        </p:spPr>
        <p:txBody>
          <a:bodyPr wrap="square" anchor="ctr" lIns="54864" rIns="54864" tIns="36576" bIns="36576">
            <a:spAutoFit/>
          </a:bodyPr>
          <a:lstStyle/>
          <a:p>
            <a:pPr algn="ctr">
              <a:lnSpc>
                <a:spcPct val="118000"/>
              </a:lnSpc>
            </a:pPr>
          </a:p>
        </p:txBody>
      </p:sp>
      <p:sp>
        <p:nvSpPr>
          <p:cNvPr id="33" name="Rectangle 32"/>
          <p:cNvSpPr/>
          <p:nvPr/>
        </p:nvSpPr>
        <p:spPr>
          <a:xfrm>
            <a:off x="1856232" y="4325112"/>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9384"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5" name="TextBox 34"/>
          <p:cNvSpPr txBox="1"/>
          <p:nvPr/>
        </p:nvSpPr>
        <p:spPr>
          <a:xfrm>
            <a:off x="4690871" y="4325112"/>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36" name="Rectangle 35"/>
          <p:cNvSpPr/>
          <p:nvPr/>
        </p:nvSpPr>
        <p:spPr>
          <a:xfrm>
            <a:off x="5093207" y="4325112"/>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59"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8" name="Rectangle 37"/>
          <p:cNvSpPr/>
          <p:nvPr/>
        </p:nvSpPr>
        <p:spPr>
          <a:xfrm>
            <a:off x="502920" y="5381244"/>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 y="5381244"/>
            <a:ext cx="1170432" cy="964692"/>
          </a:xfrm>
          <a:prstGeom prst="rect">
            <a:avLst/>
          </a:prstGeom>
          <a:noFill/>
        </p:spPr>
        <p:txBody>
          <a:bodyPr wrap="square" anchor="ctr" lIns="54864" rIns="54864" tIns="36576" bIns="36576">
            <a:spAutoFit/>
          </a:bodyPr>
          <a:lstStyle/>
          <a:p>
            <a:pPr algn="ctr">
              <a:lnSpc>
                <a:spcPct val="118000"/>
              </a:lnSpc>
            </a:pPr>
          </a:p>
        </p:txBody>
      </p:sp>
      <p:sp>
        <p:nvSpPr>
          <p:cNvPr id="40" name="Rectangle 39"/>
          <p:cNvSpPr/>
          <p:nvPr/>
        </p:nvSpPr>
        <p:spPr>
          <a:xfrm>
            <a:off x="1856232" y="5381244"/>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9384"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2" name="TextBox 41"/>
          <p:cNvSpPr txBox="1"/>
          <p:nvPr/>
        </p:nvSpPr>
        <p:spPr>
          <a:xfrm>
            <a:off x="4690871" y="5381244"/>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43" name="Rectangle 42"/>
          <p:cNvSpPr/>
          <p:nvPr/>
        </p:nvSpPr>
        <p:spPr>
          <a:xfrm>
            <a:off x="5093207" y="5381244"/>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6359"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5" name="Rectangle 44"/>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48" name="Picture 47" descr="topic_31.jpg_160.jpg"/>
          <p:cNvPicPr>
            <a:picLocks noChangeAspect="1"/>
          </p:cNvPicPr>
          <p:nvPr/>
        </p:nvPicPr>
        <p:blipFill>
          <a:blip r:embed="rId2"/>
          <a:stretch>
            <a:fillRect/>
          </a:stretch>
        </p:blipFill>
        <p:spPr>
          <a:xfrm>
            <a:off x="8293607" y="1938528"/>
            <a:ext cx="3300984" cy="2057400"/>
          </a:xfrm>
          <a:prstGeom prst="rect">
            <a:avLst/>
          </a:prstGeom>
        </p:spPr>
      </p:pic>
      <p:sp>
        <p:nvSpPr>
          <p:cNvPr id="49" name="Rectangle 48"/>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商業情境視覺：同樣是讓員工持股，若「人人均分、旱澇保收」就會變成養懶人的福利大鍋飯；唯有「按績效動態配股、能上能下」才能點燃團隊引擎。</a:t>
            </a:r>
          </a:p>
        </p:txBody>
      </p:sp>
      <p:sp>
        <p:nvSpPr>
          <p:cNvPr id="52" name="Rectangle 51"/>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55" name="TextBox 5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很多老闆聽說「華為全員持股，任正非只佔 1% 左右，所以華為戰鬥力超強」，回來也給全公司每個員工都發一點股份，結果發現大家一點也沒變努力，反而每年分紅少一點就罵…</a:t>
            </a:r>
          </a:p>
        </p:txBody>
      </p:sp>
      <p:sp>
        <p:nvSpPr>
          <p:cNvPr id="56" name="Rectangle 55"/>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進階架構：【福利（保健）vs. 激勵（奮鬥）】全員持股雙軌定位模型</a:t>
            </a:r>
          </a:p>
        </p:txBody>
      </p:sp>
      <p:sp>
        <p:nvSpPr>
          <p:cNvPr id="59" name="TextBox 5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進階 CEO 在將股權向基層員工下沉時，必須嚴防兩個誤區：① 用「分紅福利」的普惠發法，卻期待收穫「狼性衝鋒」的激勵效果；② 忽視非上市公司股東人數上限…</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模組四：治理下沉與外擴   ｜   版型 8：BCG 論法 (BCG 2×2 Matrix)   ｜   知識庫 #033</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主張：內部裂變創業並非萬能，必須區分「顛覆式探索（設少數創新特區）」與「成熟模式複製（常態化裂變）」兩類情境</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從騰訊廣研院孵化「微信（張小龍）」、芬尼克茲裂變、到華為與萬科內部創業受挫，看懂內部創業的資源與人性邊界</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劉松博《公司治理30講》32 講 ｜ 知識庫條目 #033 ｜ McKinsey Intrapreneurship 2x2 Matrix  ｜  關鍵字：裂變式創業 / 內部創業 / 微信 / 張小龍 / 創新特區 / 海爾 / 小微企業 / 芬尼克茲 / 愛爾眼科</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35 / 42</a:t>
            </a:r>
          </a:p>
        </p:txBody>
      </p:sp>
      <p:sp>
        <p:nvSpPr>
          <p:cNvPr id="10" name="TextBox 9"/>
          <p:cNvSpPr txBox="1"/>
          <p:nvPr/>
        </p:nvSpPr>
        <p:spPr>
          <a:xfrm>
            <a:off x="502920" y="1572768"/>
            <a:ext cx="329184" cy="4443984"/>
          </a:xfrm>
          <a:prstGeom prst="rect">
            <a:avLst/>
          </a:prstGeom>
          <a:noFill/>
        </p:spPr>
        <p:txBody>
          <a:bodyPr wrap="square" anchor="ctr" lIns="54864" rIns="54864" tIns="36576" bIns="36576">
            <a:spAutoFit/>
          </a:bodyPr>
          <a:lstStyle/>
          <a:p>
            <a:pPr algn="ctr">
              <a:lnSpc>
                <a:spcPct val="118000"/>
              </a:lnSpc>
            </a:pPr>
            <a:r>
              <a:rPr sz="880" b="1">
                <a:solidFill>
                  <a:srgbClr val="051C2C"/>
                </a:solidFill>
                <a:latin typeface="Microsoft JhengHei"/>
              </a:rPr>
              <a:t>▲</a:t>
            </a:r>
          </a:p>
          <a:p>
            <a:pPr algn="ctr">
              <a:lnSpc>
                <a:spcPct val="118000"/>
              </a:lnSpc>
            </a:pPr>
            <a:r>
              <a:rPr sz="880" b="1">
                <a:solidFill>
                  <a:srgbClr val="051C2C"/>
                </a:solidFill>
                <a:latin typeface="Microsoft JhengHei"/>
              </a:rPr>
              <a:t>縱軸維度</a:t>
            </a:r>
          </a:p>
        </p:txBody>
      </p:sp>
      <p:sp>
        <p:nvSpPr>
          <p:cNvPr id="11" name="TextBox 10"/>
          <p:cNvSpPr txBox="1"/>
          <p:nvPr/>
        </p:nvSpPr>
        <p:spPr>
          <a:xfrm>
            <a:off x="832104" y="6053328"/>
            <a:ext cx="7168895" cy="274320"/>
          </a:xfrm>
          <a:prstGeom prst="rect">
            <a:avLst/>
          </a:prstGeom>
          <a:noFill/>
        </p:spPr>
        <p:txBody>
          <a:bodyPr wrap="square" anchor="ctr" lIns="54864" rIns="54864" tIns="36576" bIns="36576">
            <a:spAutoFit/>
          </a:bodyPr>
          <a:lstStyle/>
          <a:p>
            <a:pPr algn="ctr">
              <a:lnSpc>
                <a:spcPct val="118000"/>
              </a:lnSpc>
            </a:pPr>
            <a:r>
              <a:rPr sz="919" b="1">
                <a:solidFill>
                  <a:srgbClr val="051C2C"/>
                </a:solidFill>
                <a:latin typeface="Microsoft JhengHei"/>
              </a:rPr>
              <a:t>橫軸維度  ▶</a:t>
            </a:r>
          </a:p>
        </p:txBody>
      </p:sp>
      <p:sp>
        <p:nvSpPr>
          <p:cNvPr id="12" name="Rectangle 11"/>
          <p:cNvSpPr/>
          <p:nvPr/>
        </p:nvSpPr>
        <p:spPr>
          <a:xfrm>
            <a:off x="832104" y="1572768"/>
            <a:ext cx="3520439" cy="215798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2104" y="1572768"/>
            <a:ext cx="3520439" cy="36576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1600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1</a:t>
            </a:r>
          </a:p>
        </p:txBody>
      </p:sp>
      <p:sp>
        <p:nvSpPr>
          <p:cNvPr id="15" name="TextBox 14"/>
          <p:cNvSpPr txBox="1"/>
          <p:nvPr/>
        </p:nvSpPr>
        <p:spPr>
          <a:xfrm>
            <a:off x="941832" y="1993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51C2C"/>
                </a:solidFill>
                <a:latin typeface="Microsoft JhengHei"/>
              </a:rPr>
              <a:t>③ (X1Y2) 偽內部創業（必敗區：只換招牌不放權）</a:t>
            </a:r>
          </a:p>
        </p:txBody>
      </p:sp>
      <p:sp>
        <p:nvSpPr>
          <p:cNvPr id="16" name="TextBox 15"/>
          <p:cNvSpPr txBox="1"/>
          <p:nvPr/>
        </p:nvSpPr>
        <p:spPr>
          <a:xfrm>
            <a:off x="941832" y="2377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02C"/>
                </a:solidFill>
                <a:latin typeface="Microsoft JhengHei"/>
              </a:rPr>
              <a:t>• 嘴上喊內部創業「人人當老闆」，但預算、人事、採購仍須層層報總部審批，且背負短期盈利 KPI</a:t>
            </a:r>
          </a:p>
          <a:p>
            <a:pPr algn="l">
              <a:lnSpc>
                <a:spcPct val="115000"/>
              </a:lnSpc>
            </a:pPr>
            <a:r>
              <a:rPr sz="900" b="0">
                <a:solidFill>
                  <a:srgbClr val="1A202C"/>
                </a:solidFill>
                <a:latin typeface="Microsoft JhengHei"/>
              </a:rPr>
              <a:t>• 結果：新業務還沒長大就被大公司的官僚流程掐死</a:t>
            </a:r>
          </a:p>
        </p:txBody>
      </p:sp>
      <p:sp>
        <p:nvSpPr>
          <p:cNvPr id="17" name="Rectangle 16"/>
          <p:cNvSpPr/>
          <p:nvPr/>
        </p:nvSpPr>
        <p:spPr>
          <a:xfrm>
            <a:off x="4480559" y="1572768"/>
            <a:ext cx="3520439" cy="2157984"/>
          </a:xfrm>
          <a:prstGeom prst="rect">
            <a:avLst/>
          </a:prstGeom>
          <a:solidFill>
            <a:srgbClr val="F4F6F9"/>
          </a:solidFill>
          <a:ln w="2286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80559" y="1572768"/>
            <a:ext cx="3520439" cy="365760"/>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1999" y="1600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2</a:t>
            </a:r>
          </a:p>
        </p:txBody>
      </p:sp>
      <p:sp>
        <p:nvSpPr>
          <p:cNvPr id="20" name="TextBox 19"/>
          <p:cNvSpPr txBox="1"/>
          <p:nvPr/>
        </p:nvSpPr>
        <p:spPr>
          <a:xfrm>
            <a:off x="4590287" y="1993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51C2C"/>
                </a:solidFill>
                <a:latin typeface="Microsoft JhengHei"/>
              </a:rPr>
              <a:t>③ (X2Y2) 創新特區模式 ★ 0到1突破焦點（如：張小龍孵化微信）</a:t>
            </a:r>
          </a:p>
        </p:txBody>
      </p:sp>
      <p:sp>
        <p:nvSpPr>
          <p:cNvPr id="21" name="TextBox 20"/>
          <p:cNvSpPr txBox="1"/>
          <p:nvPr/>
        </p:nvSpPr>
        <p:spPr>
          <a:xfrm>
            <a:off x="4590287" y="2377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02C"/>
                </a:solidFill>
                <a:latin typeface="Microsoft JhengHei"/>
              </a:rPr>
              <a:t>• 企業家精神極度稀缺，不可能全員皆能 0 到 1 創新！</a:t>
            </a:r>
          </a:p>
          <a:p>
            <a:pPr algn="l">
              <a:lnSpc>
                <a:spcPct val="115000"/>
              </a:lnSpc>
            </a:pPr>
            <a:r>
              <a:rPr sz="900" b="0">
                <a:solidFill>
                  <a:srgbClr val="1A202C"/>
                </a:solidFill>
                <a:latin typeface="Microsoft JhengHei"/>
              </a:rPr>
              <a:t>• 正確做法：挑選極少數頂尖將領，設立遠離總部干擾的【創新特區】（如微信生於廣州而非深圳總部），給予充分資金、獨立決策權與高容錯空間</a:t>
            </a:r>
          </a:p>
        </p:txBody>
      </p:sp>
      <p:sp>
        <p:nvSpPr>
          <p:cNvPr id="22" name="Rectangle 21"/>
          <p:cNvSpPr/>
          <p:nvPr/>
        </p:nvSpPr>
        <p:spPr>
          <a:xfrm>
            <a:off x="832104" y="3858768"/>
            <a:ext cx="3520439" cy="2157984"/>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 y="3858768"/>
            <a:ext cx="3520439" cy="36576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3886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3</a:t>
            </a:r>
          </a:p>
        </p:txBody>
      </p:sp>
      <p:sp>
        <p:nvSpPr>
          <p:cNvPr id="25" name="TextBox 24"/>
          <p:cNvSpPr txBox="1"/>
          <p:nvPr/>
        </p:nvSpPr>
        <p:spPr>
          <a:xfrm>
            <a:off x="941832" y="4279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51C2C"/>
                </a:solidFill>
                <a:latin typeface="Microsoft JhengHei"/>
              </a:rPr>
              <a:t>③ (X1Y1) 盲目裂變分散主業（如：華為2000年內部創業教訓）</a:t>
            </a:r>
          </a:p>
        </p:txBody>
      </p:sp>
      <p:sp>
        <p:nvSpPr>
          <p:cNvPr id="26" name="TextBox 25"/>
          <p:cNvSpPr txBox="1"/>
          <p:nvPr/>
        </p:nvSpPr>
        <p:spPr>
          <a:xfrm>
            <a:off x="941832" y="4663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02C"/>
                </a:solidFill>
                <a:latin typeface="Microsoft JhengHei"/>
              </a:rPr>
              <a:t>• 在主業急需集中兵力攻堅時，鼓動大批骨幹離職搞內部創業代理</a:t>
            </a:r>
          </a:p>
          <a:p>
            <a:pPr algn="l">
              <a:lnSpc>
                <a:spcPct val="115000"/>
              </a:lnSpc>
            </a:pPr>
            <a:r>
              <a:rPr sz="900" b="0">
                <a:solidFill>
                  <a:srgbClr val="1A202C"/>
                </a:solidFill>
                <a:latin typeface="Microsoft JhengHei"/>
              </a:rPr>
              <a:t>• 結果：分散母公司資源、甚至出現內部公司與母公司搶利潤的關聯腐敗</a:t>
            </a:r>
          </a:p>
        </p:txBody>
      </p:sp>
      <p:sp>
        <p:nvSpPr>
          <p:cNvPr id="27" name="Rectangle 26"/>
          <p:cNvSpPr/>
          <p:nvPr/>
        </p:nvSpPr>
        <p:spPr>
          <a:xfrm>
            <a:off x="4480559" y="3858768"/>
            <a:ext cx="3520439" cy="2157984"/>
          </a:xfrm>
          <a:prstGeom prst="rect">
            <a:avLst/>
          </a:prstGeom>
          <a:solidFill>
            <a:srgbClr val="F4F6F9"/>
          </a:solidFill>
          <a:ln w="2286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59" y="3858768"/>
            <a:ext cx="3520439" cy="365760"/>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1999" y="3886200"/>
            <a:ext cx="3337559" cy="310896"/>
          </a:xfrm>
          <a:prstGeom prst="rect">
            <a:avLst/>
          </a:prstGeom>
          <a:noFill/>
        </p:spPr>
        <p:txBody>
          <a:bodyPr wrap="square" anchor="ctr" lIns="54864" rIns="54864" tIns="36576" bIns="36576">
            <a:spAutoFit/>
          </a:bodyPr>
          <a:lstStyle/>
          <a:p>
            <a:pPr algn="l">
              <a:lnSpc>
                <a:spcPct val="118000"/>
              </a:lnSpc>
            </a:pPr>
            <a:r>
              <a:rPr sz="919" b="1">
                <a:solidFill>
                  <a:srgbClr val="FFFFFF"/>
                </a:solidFill>
                <a:latin typeface="Microsoft JhengHei"/>
              </a:rPr>
              <a:t>象限 4</a:t>
            </a:r>
          </a:p>
        </p:txBody>
      </p:sp>
      <p:sp>
        <p:nvSpPr>
          <p:cNvPr id="30" name="TextBox 29"/>
          <p:cNvSpPr txBox="1"/>
          <p:nvPr/>
        </p:nvSpPr>
        <p:spPr>
          <a:xfrm>
            <a:off x="4590287" y="4279392"/>
            <a:ext cx="3300983" cy="365760"/>
          </a:xfrm>
          <a:prstGeom prst="rect">
            <a:avLst/>
          </a:prstGeom>
          <a:noFill/>
        </p:spPr>
        <p:txBody>
          <a:bodyPr wrap="square" anchor="t" lIns="54864" rIns="54864" tIns="36576" bIns="36576">
            <a:spAutoFit/>
          </a:bodyPr>
          <a:lstStyle/>
          <a:p>
            <a:pPr algn="l">
              <a:lnSpc>
                <a:spcPct val="118000"/>
              </a:lnSpc>
            </a:pPr>
            <a:r>
              <a:rPr sz="1080" b="1">
                <a:solidFill>
                  <a:srgbClr val="051C2C"/>
                </a:solidFill>
                <a:latin typeface="Microsoft JhengHei"/>
              </a:rPr>
              <a:t>③ (X2Y1) 複製型裂變擴張 ★ 1到N擴張焦點（如：韓都衣舍、愛爾眼科）</a:t>
            </a:r>
          </a:p>
        </p:txBody>
      </p:sp>
      <p:sp>
        <p:nvSpPr>
          <p:cNvPr id="31" name="TextBox 30"/>
          <p:cNvSpPr txBox="1"/>
          <p:nvPr/>
        </p:nvSpPr>
        <p:spPr>
          <a:xfrm>
            <a:off x="4590287" y="4663440"/>
            <a:ext cx="3300983" cy="1280160"/>
          </a:xfrm>
          <a:prstGeom prst="rect">
            <a:avLst/>
          </a:prstGeom>
          <a:noFill/>
        </p:spPr>
        <p:txBody>
          <a:bodyPr wrap="square" anchor="t" lIns="54864" rIns="54864" tIns="36576" bIns="36576">
            <a:spAutoFit/>
          </a:bodyPr>
          <a:lstStyle/>
          <a:p>
            <a:pPr algn="l">
              <a:lnSpc>
                <a:spcPct val="115000"/>
              </a:lnSpc>
            </a:pPr>
            <a:r>
              <a:rPr sz="900" b="0">
                <a:solidFill>
                  <a:srgbClr val="1A202C"/>
                </a:solidFill>
                <a:latin typeface="Microsoft JhengHei"/>
              </a:rPr>
              <a:t>• 商業模式、供應鏈與IT底盤已100%跑通，只需快速複製新品牌、新門店或新單品</a:t>
            </a:r>
          </a:p>
          <a:p>
            <a:pPr algn="l">
              <a:lnSpc>
                <a:spcPct val="115000"/>
              </a:lnSpc>
            </a:pPr>
            <a:r>
              <a:rPr sz="900" b="0">
                <a:solidFill>
                  <a:srgbClr val="1A202C"/>
                </a:solidFill>
                <a:latin typeface="Microsoft JhengHei"/>
              </a:rPr>
              <a:t>• 正確做法：母公司提供中台賦能，一線小團隊以裂變合夥制快速複製擴張</a:t>
            </a:r>
          </a:p>
        </p:txBody>
      </p:sp>
      <p:sp>
        <p:nvSpPr>
          <p:cNvPr id="32" name="Rectangle 31"/>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5" name="Picture 34" descr="topic_32.jpg_160.jpg"/>
          <p:cNvPicPr>
            <a:picLocks noChangeAspect="1"/>
          </p:cNvPicPr>
          <p:nvPr/>
        </p:nvPicPr>
        <p:blipFill>
          <a:blip r:embed="rId2"/>
          <a:stretch>
            <a:fillRect/>
          </a:stretch>
        </p:blipFill>
        <p:spPr>
          <a:xfrm>
            <a:off x="8293607" y="1938528"/>
            <a:ext cx="3300984" cy="2057400"/>
          </a:xfrm>
          <a:prstGeom prst="rect">
            <a:avLst/>
          </a:prstGeom>
        </p:spPr>
      </p:pic>
      <p:sp>
        <p:nvSpPr>
          <p:cNvPr id="36" name="Rectangle 35"/>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商業情境視覺：在大企業母艦旁打造敏捷的「創新特區快艇」——0 到 1 的顛覆創新需要遠離官僚干擾的獨立特區（如微信），而 1 到 N 的規模擴張才適合標準化裂變。</a:t>
            </a:r>
          </a:p>
        </p:txBody>
      </p:sp>
      <p:sp>
        <p:nvSpPr>
          <p:cNvPr id="39" name="Rectangle 38"/>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2" name="TextBox 41"/>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大公司最怕患上「大企業病（反應慢、官僚、創新死掉）」，於是很多老闆迷上「內部裂變創業」——把大公司拆成幾百個小公司，讓員工自己當 CEO 內部創業！但為什麼有的…</a:t>
            </a:r>
          </a:p>
        </p:txBody>
      </p:sp>
      <p:sp>
        <p:nvSpPr>
          <p:cNvPr id="43" name="Rectangle 42"/>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進階架構：【0到1 創新特區 vs. 1到N 複製裂變】內部創業雙模矩陣</a:t>
            </a:r>
          </a:p>
        </p:txBody>
      </p:sp>
      <p:sp>
        <p:nvSpPr>
          <p:cNvPr id="46" name="TextBox 45"/>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許多大企業搞內部創業失敗，是因為犯了兩個致命錯誤：① **假放權**（名為創業小微，實則人事財務審批全卡在總部職能部門手裡）；② **混淆探索與複製**…</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模組四：治理下沉與外擴（由內向外）   ｜   版型 2：並列論法 (Parallel)   ｜   知識庫 #034</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2D1054"/>
                </a:solidFill>
                <a:latin typeface="Microsoft JhengHei"/>
              </a:rPr>
              <a:t>① 主張：生態治理透過「少數股權投資（不控股）＋全鏈路資源賦能＋嚴守品質價值觀底線」，在外部激活百倍企業家精神</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從小米生態鏈短短數年孵化上百家硬體公司（華米、石頭科技、紫米等）的奇蹟，看懂公司治理如何跨越法人邊界</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劉松博《公司治理30講》33 講 ｜ 知識庫條目 #034 ｜ Accenture Ecosystem Bento Style  ｜  關鍵字：生態型組織 / 生態治理 / 小米生態鏈 / 雷軍 / 投資不控股 / 華米 / 石頭科技 / 賦能</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36 / 42</a:t>
            </a:r>
          </a:p>
        </p:txBody>
      </p:sp>
      <p:sp>
        <p:nvSpPr>
          <p:cNvPr id="10" name="Rectangle 9"/>
          <p:cNvSpPr/>
          <p:nvPr/>
        </p:nvSpPr>
        <p:spPr>
          <a:xfrm>
            <a:off x="502920"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1</a:t>
            </a:r>
          </a:p>
        </p:txBody>
      </p:sp>
      <p:sp>
        <p:nvSpPr>
          <p:cNvPr id="14" name="TextBox 13"/>
          <p:cNvSpPr txBox="1"/>
          <p:nvPr/>
        </p:nvSpPr>
        <p:spPr>
          <a:xfrm>
            <a:off x="612648"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② 支柱 1：股權上「投資而不控股」（激活創始人）</a:t>
            </a:r>
          </a:p>
        </p:txBody>
      </p:sp>
      <p:sp>
        <p:nvSpPr>
          <p:cNvPr id="15" name="TextBox 14"/>
          <p:cNvSpPr txBox="1"/>
          <p:nvPr/>
        </p:nvSpPr>
        <p:spPr>
          <a:xfrm>
            <a:off x="612648"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16" name="Rectangle 15"/>
          <p:cNvSpPr/>
          <p:nvPr/>
        </p:nvSpPr>
        <p:spPr>
          <a:xfrm>
            <a:off x="4334255"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4255"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3"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3"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2</a:t>
            </a:r>
          </a:p>
        </p:txBody>
      </p:sp>
      <p:sp>
        <p:nvSpPr>
          <p:cNvPr id="20" name="TextBox 19"/>
          <p:cNvSpPr txBox="1"/>
          <p:nvPr/>
        </p:nvSpPr>
        <p:spPr>
          <a:xfrm>
            <a:off x="4443983"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③ 支柱 2：資源上「全方位深度賦能」（降低死亡率）</a:t>
            </a:r>
          </a:p>
        </p:txBody>
      </p:sp>
      <p:sp>
        <p:nvSpPr>
          <p:cNvPr id="21" name="TextBox 20"/>
          <p:cNvSpPr txBox="1"/>
          <p:nvPr/>
        </p:nvSpPr>
        <p:spPr>
          <a:xfrm>
            <a:off x="4443983"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22" name="Rectangle 21"/>
          <p:cNvSpPr/>
          <p:nvPr/>
        </p:nvSpPr>
        <p:spPr>
          <a:xfrm>
            <a:off x="502920" y="404164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4164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 y="416966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16966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3</a:t>
            </a:r>
          </a:p>
        </p:txBody>
      </p:sp>
      <p:sp>
        <p:nvSpPr>
          <p:cNvPr id="26" name="TextBox 25"/>
          <p:cNvSpPr txBox="1"/>
          <p:nvPr/>
        </p:nvSpPr>
        <p:spPr>
          <a:xfrm>
            <a:off x="612648" y="446227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④ 支柱 3：規則上「守住品質底線與動態競爭」</a:t>
            </a:r>
          </a:p>
        </p:txBody>
      </p:sp>
      <p:sp>
        <p:nvSpPr>
          <p:cNvPr id="27" name="TextBox 26"/>
          <p:cNvSpPr txBox="1"/>
          <p:nvPr/>
        </p:nvSpPr>
        <p:spPr>
          <a:xfrm>
            <a:off x="612648" y="4864608"/>
            <a:ext cx="3447287" cy="1408176"/>
          </a:xfrm>
          <a:prstGeom prst="rect">
            <a:avLst/>
          </a:prstGeom>
          <a:noFill/>
        </p:spPr>
        <p:txBody>
          <a:bodyPr wrap="square" anchor="t" lIns="54864" rIns="54864" tIns="36576" bIns="36576">
            <a:spAutoFit/>
          </a:bodyPr>
          <a:lstStyle/>
          <a:p>
            <a:pPr algn="l">
              <a:lnSpc>
                <a:spcPct val="118000"/>
              </a:lnSpc>
            </a:pPr>
          </a:p>
        </p:txBody>
      </p:sp>
      <p:sp>
        <p:nvSpPr>
          <p:cNvPr id="28" name="Rectangle 27"/>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1" name="Picture 30" descr="topic_33.jpg_160.jpg"/>
          <p:cNvPicPr>
            <a:picLocks noChangeAspect="1"/>
          </p:cNvPicPr>
          <p:nvPr/>
        </p:nvPicPr>
        <p:blipFill>
          <a:blip r:embed="rId2"/>
          <a:stretch>
            <a:fillRect/>
          </a:stretch>
        </p:blipFill>
        <p:spPr>
          <a:xfrm>
            <a:off x="8293607" y="1938528"/>
            <a:ext cx="3300984" cy="2057400"/>
          </a:xfrm>
          <a:prstGeom prst="rect">
            <a:avLst/>
          </a:prstGeom>
        </p:spPr>
      </p:pic>
      <p:sp>
        <p:nvSpPr>
          <p:cNvPr id="32" name="Rectangle 31"/>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商業情境視覺：生態型組織如同熱帶雨林或星系網路——核心企業（恆星）不吞併周邊夥伴（行星），而是透過引力、陽光（供應鏈與通路賦能）與運行軌道規則共生共榮。</a:t>
            </a:r>
          </a:p>
        </p:txBody>
      </p:sp>
      <p:sp>
        <p:nvSpPr>
          <p:cNvPr id="35" name="Rectangle 34"/>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38" name="TextBox 37"/>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如果小米想做行動電源、手環、空氣清淨機、電鍋、掃地機器人等上百種產品，要是全招員工在小米自己公司裡面做（傳統大公司做法），小米早就變成幾十萬人的笨重怪獸死掉了！…</a:t>
            </a:r>
          </a:p>
        </p:txBody>
      </p:sp>
      <p:sp>
        <p:nvSpPr>
          <p:cNvPr id="39" name="Rectangle 38"/>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進階架構：【少數股權連結 × 平台資源賦能 × 底線規則】生態治理三角模型</a:t>
            </a:r>
          </a:p>
        </p:txBody>
      </p:sp>
      <p:sp>
        <p:nvSpPr>
          <p:cNvPr id="42" name="TextBox 41"/>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還記得第 01 講科斯（Coase）的《企業的性質》嗎？科斯說企業邊界取決於「內部管理成本」與「外部市場交易成本」的比較。而在數位時代，生態型組織創造了…</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模組四：治理下沉與外擴（外擴收官講）   ｜   版型 5：麥肯錫論法 (McKinsey Matrix)   ｜   知識庫 #035</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主張：互聯網平台兼具「公司、市場、社會公器」三重屬性，濫用數據壟斷搞「大數據殺熟」將摧毀平台賴以生存的制度信任</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從旅遊訂房平台「老客戶比新客戶貴 800 元」與危機期間演算法漲價，建立兼顧效率、知情權與公共責任的平台治理規則</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劉松博《公司治理30講》34 講 ｜ 知識庫條目 #035 ｜ McKinsey Platform Governance Matrix  ｜  關鍵字：互聯網平台 / 平台治理 / 大數據殺熟 / 價格歧視 / 雙邊市場 / 網路效應 / 演算法倫理</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37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屬性 1：商業公司屬性</a:t>
            </a:r>
          </a:p>
          <a:p>
            <a:pPr algn="ctr">
              <a:lnSpc>
                <a:spcPct val="118000"/>
              </a:lnSpc>
            </a:pPr>
            <a:r>
              <a:rPr sz="919" b="1">
                <a:solidFill>
                  <a:srgbClr val="FFFFFF"/>
                </a:solidFill>
                <a:latin typeface="Microsoft JhengHei"/>
              </a:rPr>
              <a:t>（追求盈利與股東回報）</a:t>
            </a:r>
          </a:p>
        </p:txBody>
      </p:sp>
      <p:sp>
        <p:nvSpPr>
          <p:cNvPr id="14" name="Chevron 13"/>
          <p:cNvSpPr/>
          <p:nvPr/>
        </p:nvSpPr>
        <p:spPr>
          <a:xfrm>
            <a:off x="3855719"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8871"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屬性 2：多邊市場屬性</a:t>
            </a:r>
          </a:p>
          <a:p>
            <a:pPr algn="ctr">
              <a:lnSpc>
                <a:spcPct val="118000"/>
              </a:lnSpc>
            </a:pPr>
            <a:r>
              <a:rPr sz="919" b="1">
                <a:solidFill>
                  <a:srgbClr val="FFFFFF"/>
                </a:solidFill>
                <a:latin typeface="Microsoft JhengHei"/>
              </a:rPr>
              <a:t>（制定交易規則的「裁判員」）</a:t>
            </a:r>
          </a:p>
        </p:txBody>
      </p:sp>
      <p:sp>
        <p:nvSpPr>
          <p:cNvPr id="16" name="Chevron 15"/>
          <p:cNvSpPr/>
          <p:nvPr/>
        </p:nvSpPr>
        <p:spPr>
          <a:xfrm>
            <a:off x="5964935"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8087"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屬性 3：社會公共基礎設施</a:t>
            </a:r>
          </a:p>
          <a:p>
            <a:pPr algn="ctr">
              <a:lnSpc>
                <a:spcPct val="118000"/>
              </a:lnSpc>
            </a:pPr>
            <a:r>
              <a:rPr sz="919" b="1">
                <a:solidFill>
                  <a:srgbClr val="FFFFFF"/>
                </a:solidFill>
                <a:latin typeface="Microsoft JhengHei"/>
              </a:rPr>
              <a:t>（掌握億萬民生與數據強權）</a:t>
            </a:r>
          </a:p>
        </p:txBody>
      </p:sp>
      <p:sp>
        <p:nvSpPr>
          <p:cNvPr id="18" name="Rectangle 17"/>
          <p:cNvSpPr/>
          <p:nvPr/>
        </p:nvSpPr>
        <p:spPr>
          <a:xfrm>
            <a:off x="502920" y="2249424"/>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2249424"/>
            <a:ext cx="1060704" cy="2002536"/>
          </a:xfrm>
          <a:prstGeom prst="rect">
            <a:avLst/>
          </a:prstGeom>
          <a:noFill/>
        </p:spPr>
        <p:txBody>
          <a:bodyPr wrap="square" anchor="ctr" lIns="54864" rIns="54864" tIns="36576" bIns="36576">
            <a:spAutoFit/>
          </a:bodyPr>
          <a:lstStyle/>
          <a:p>
            <a:pPr algn="ctr">
              <a:lnSpc>
                <a:spcPct val="118000"/>
              </a:lnSpc>
            </a:pPr>
          </a:p>
        </p:txBody>
      </p:sp>
      <p:sp>
        <p:nvSpPr>
          <p:cNvPr id="20" name="Rectangle 19"/>
          <p:cNvSpPr/>
          <p:nvPr/>
        </p:nvSpPr>
        <p:spPr>
          <a:xfrm>
            <a:off x="1746504"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19656"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經濟學稱差異定價（價格歧視）能提高效率，但平台利用老客戶信任暗中收高價（如訂同一間房 VIP 老客竟比新客貴數百元），形同背叛信任！</a:t>
            </a:r>
          </a:p>
        </p:txBody>
      </p:sp>
      <p:sp>
        <p:nvSpPr>
          <p:cNvPr id="22" name="Rectangle 21"/>
          <p:cNvSpPr/>
          <p:nvPr/>
        </p:nvSpPr>
        <p:spPr>
          <a:xfrm>
            <a:off x="3855719"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8871"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傳統菜市場買菜可討價還價（資訊雙向），但平台掌握【絕對數據壟斷與演算法黑箱】，消費者在毫不知情與無從選擇下被精準收割</a:t>
            </a:r>
          </a:p>
        </p:txBody>
      </p:sp>
      <p:sp>
        <p:nvSpPr>
          <p:cNvPr id="24" name="Rectangle 23"/>
          <p:cNvSpPr/>
          <p:nvPr/>
        </p:nvSpPr>
        <p:spPr>
          <a:xfrm>
            <a:off x="5964935"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8087"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在暴雨、疫情或緊急危機時刻，若平台任由演算法自動趁火打劫翻倍漲價，將嚴重衝擊社會公序良俗與公共安全</a:t>
            </a:r>
          </a:p>
        </p:txBody>
      </p:sp>
      <p:sp>
        <p:nvSpPr>
          <p:cNvPr id="26" name="Rectangle 25"/>
          <p:cNvSpPr/>
          <p:nvPr/>
        </p:nvSpPr>
        <p:spPr>
          <a:xfrm>
            <a:off x="502920" y="4343400"/>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 y="4343400"/>
            <a:ext cx="1060704" cy="2002536"/>
          </a:xfrm>
          <a:prstGeom prst="rect">
            <a:avLst/>
          </a:prstGeom>
          <a:noFill/>
        </p:spPr>
        <p:txBody>
          <a:bodyPr wrap="square" anchor="ctr" lIns="54864" rIns="54864" tIns="36576" bIns="36576">
            <a:spAutoFit/>
          </a:bodyPr>
          <a:lstStyle/>
          <a:p>
            <a:pPr algn="ctr">
              <a:lnSpc>
                <a:spcPct val="118000"/>
              </a:lnSpc>
            </a:pPr>
          </a:p>
        </p:txBody>
      </p:sp>
      <p:sp>
        <p:nvSpPr>
          <p:cNvPr id="28" name="Rectangle 27"/>
          <p:cNvSpPr/>
          <p:nvPr/>
        </p:nvSpPr>
        <p:spPr>
          <a:xfrm>
            <a:off x="1746504"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19656"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【保障知情權与選擇權】：明碼標價說明差異定價原因（如會員券、時段），並依法提供「不針對個人特徵推薦」的關閉選項</a:t>
            </a:r>
          </a:p>
        </p:txBody>
      </p:sp>
      <p:sp>
        <p:nvSpPr>
          <p:cNvPr id="30" name="Rectangle 29"/>
          <p:cNvSpPr/>
          <p:nvPr/>
        </p:nvSpPr>
        <p:spPr>
          <a:xfrm>
            <a:off x="3855719"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8871"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【交易公平感與程序正義】：平台既當裁判又當球員時，嚴禁利用商戶與用戶數據進行不當自營傾銷或欺詐</a:t>
            </a:r>
          </a:p>
        </p:txBody>
      </p:sp>
      <p:sp>
        <p:nvSpPr>
          <p:cNvPr id="32" name="Rectangle 31"/>
          <p:cNvSpPr/>
          <p:nvPr/>
        </p:nvSpPr>
        <p:spPr>
          <a:xfrm>
            <a:off x="5964935"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8087"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【危機時刻社會責任熔斷】：在天災人禍等公共危機情境下，自動觸發演算法溢價熔斷機制，優先履行社會公器責任</a:t>
            </a:r>
          </a:p>
        </p:txBody>
      </p:sp>
      <p:sp>
        <p:nvSpPr>
          <p:cNvPr id="34" name="Rectangle 33"/>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7" name="Picture 36" descr="topic_34.jpg_160.jpg"/>
          <p:cNvPicPr>
            <a:picLocks noChangeAspect="1"/>
          </p:cNvPicPr>
          <p:nvPr/>
        </p:nvPicPr>
        <p:blipFill>
          <a:blip r:embed="rId2"/>
          <a:stretch>
            <a:fillRect/>
          </a:stretch>
        </p:blipFill>
        <p:spPr>
          <a:xfrm>
            <a:off x="8293607" y="1938528"/>
            <a:ext cx="3300984" cy="2057400"/>
          </a:xfrm>
          <a:prstGeom prst="rect">
            <a:avLst/>
          </a:prstGeom>
        </p:spPr>
      </p:pic>
      <p:sp>
        <p:nvSpPr>
          <p:cNvPr id="38" name="Rectangle 37"/>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商業情境視覺：演算法程式碼與大數據儀表板背後是億萬用戶的信任——當平台規模大到成為水電煤般的「社會基礎設施」時，治理邊界就必須納入演算法倫理與公共責任。</a:t>
            </a:r>
          </a:p>
        </p:txBody>
      </p:sp>
      <p:sp>
        <p:nvSpPr>
          <p:cNvPr id="41" name="Rectangle 40"/>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4" name="TextBox 43"/>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為什麼你在旅遊網或叫車軟體當了五年鑽石 VIP，結果跟旁邊剛下載 APP 的新用戶同時訂同一家飯店，你的價格竟然比他貴 300 塊？！這就叫「**大數據殺熟**…</a:t>
            </a:r>
          </a:p>
        </p:txBody>
      </p:sp>
      <p:sp>
        <p:nvSpPr>
          <p:cNvPr id="45" name="Rectangle 44"/>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進階架構：【公司・市場・社會】平台三重屬性治理模型</a:t>
            </a:r>
          </a:p>
        </p:txBody>
      </p:sp>
      <p:sp>
        <p:nvSpPr>
          <p:cNvPr id="48" name="TextBox 47"/>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本講為第四模組「治理下沉與外擴」畫下完美句點：公司治理的邊界從「股東與高管（模組二三）」➔ 下沉到「合夥人與全體員工（29-32講）」➔ 外擴到「生態夥…</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A100FF"/>
                </a:solidFill>
                <a:latin typeface="Microsoft JhengHei"/>
              </a:rPr>
              <a:t>模組五：實戰加餐與 AI 治理   ｜   版型 2：並列論法 (Parallel)   ｜   知識庫 #036</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2D1054"/>
                </a:solidFill>
                <a:latin typeface="Microsoft JhengHei"/>
              </a:rPr>
              <a:t>① 主張：遭遇黑天鵝現金流危機時，必須以「保命現金流第一、切忌亂發廉價真股權、高頻透明溝通」三原則留住核心團隊</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E5F82"/>
                </a:solidFill>
                <a:latin typeface="Microsoft JhengHei"/>
              </a:rPr>
              <a:t>危機管理特別加餐：當公司停業沒收入卻仍需發放薪資時，如何組合運用「存量調整、增量開源、未來預期與非金錢激勵」</a:t>
            </a:r>
          </a:p>
        </p:txBody>
      </p:sp>
      <p:sp>
        <p:nvSpPr>
          <p:cNvPr id="6" name="Rectangle 5"/>
          <p:cNvSpPr/>
          <p:nvPr/>
        </p:nvSpPr>
        <p:spPr>
          <a:xfrm>
            <a:off x="502920" y="1444752"/>
            <a:ext cx="11201400" cy="18288"/>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D8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E5F82"/>
                </a:solidFill>
                <a:latin typeface="Microsoft JhengHei"/>
              </a:rPr>
              <a:t>Source: 劉松博《公司治理30講》35 講 ｜ 知識庫條目 #036 ｜ Accenture Crisis Response Bento Style  ｜  關鍵字：激勵危機 / 現金流 / 疫情 / 降薪 / 利潤分享 / 虛擬股 / 共享員工 / 危機溝通</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2D1054"/>
                </a:solidFill>
                <a:latin typeface="Microsoft JhengHei"/>
              </a:rPr>
              <a:t>38 / 42</a:t>
            </a:r>
          </a:p>
        </p:txBody>
      </p:sp>
      <p:sp>
        <p:nvSpPr>
          <p:cNvPr id="10" name="Rectangle 9"/>
          <p:cNvSpPr/>
          <p:nvPr/>
        </p:nvSpPr>
        <p:spPr>
          <a:xfrm>
            <a:off x="502920"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1</a:t>
            </a:r>
          </a:p>
        </p:txBody>
      </p:sp>
      <p:sp>
        <p:nvSpPr>
          <p:cNvPr id="14" name="TextBox 13"/>
          <p:cNvSpPr txBox="1"/>
          <p:nvPr/>
        </p:nvSpPr>
        <p:spPr>
          <a:xfrm>
            <a:off x="612648"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② 策略 1：貨幣激勵三招（未來・增量・存量）</a:t>
            </a:r>
          </a:p>
        </p:txBody>
      </p:sp>
      <p:sp>
        <p:nvSpPr>
          <p:cNvPr id="15" name="TextBox 14"/>
          <p:cNvSpPr txBox="1"/>
          <p:nvPr/>
        </p:nvSpPr>
        <p:spPr>
          <a:xfrm>
            <a:off x="612648"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16" name="Rectangle 15"/>
          <p:cNvSpPr/>
          <p:nvPr/>
        </p:nvSpPr>
        <p:spPr>
          <a:xfrm>
            <a:off x="4334255" y="157276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4255" y="157276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3" y="170078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3"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2</a:t>
            </a:r>
          </a:p>
        </p:txBody>
      </p:sp>
      <p:sp>
        <p:nvSpPr>
          <p:cNvPr id="20" name="TextBox 19"/>
          <p:cNvSpPr txBox="1"/>
          <p:nvPr/>
        </p:nvSpPr>
        <p:spPr>
          <a:xfrm>
            <a:off x="4443983"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③ 策略 2：非貨幣激勵四招（共克時艱凝聚力）</a:t>
            </a:r>
          </a:p>
        </p:txBody>
      </p:sp>
      <p:sp>
        <p:nvSpPr>
          <p:cNvPr id="21" name="TextBox 20"/>
          <p:cNvSpPr txBox="1"/>
          <p:nvPr/>
        </p:nvSpPr>
        <p:spPr>
          <a:xfrm>
            <a:off x="4443983"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22" name="Rectangle 21"/>
          <p:cNvSpPr/>
          <p:nvPr/>
        </p:nvSpPr>
        <p:spPr>
          <a:xfrm>
            <a:off x="502920" y="4041648"/>
            <a:ext cx="3666743" cy="2304288"/>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41648"/>
            <a:ext cx="3666743" cy="640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 y="4169664"/>
            <a:ext cx="1143000" cy="237744"/>
          </a:xfrm>
          <a:prstGeom prst="round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16966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3</a:t>
            </a:r>
          </a:p>
        </p:txBody>
      </p:sp>
      <p:sp>
        <p:nvSpPr>
          <p:cNvPr id="26" name="TextBox 25"/>
          <p:cNvSpPr txBox="1"/>
          <p:nvPr/>
        </p:nvSpPr>
        <p:spPr>
          <a:xfrm>
            <a:off x="612648" y="4462272"/>
            <a:ext cx="3447287" cy="384048"/>
          </a:xfrm>
          <a:prstGeom prst="rect">
            <a:avLst/>
          </a:prstGeom>
          <a:noFill/>
        </p:spPr>
        <p:txBody>
          <a:bodyPr wrap="square" anchor="t" lIns="54864" rIns="54864" tIns="36576" bIns="36576">
            <a:spAutoFit/>
          </a:bodyPr>
          <a:lstStyle/>
          <a:p>
            <a:pPr algn="l">
              <a:lnSpc>
                <a:spcPct val="118000"/>
              </a:lnSpc>
            </a:pPr>
            <a:r>
              <a:rPr sz="1150" b="1">
                <a:solidFill>
                  <a:srgbClr val="2D1054"/>
                </a:solidFill>
                <a:latin typeface="Microsoft JhengHei"/>
              </a:rPr>
              <a:t>④ 策略 3：最核心抓手——坦誠溝通與法規底線</a:t>
            </a:r>
          </a:p>
        </p:txBody>
      </p:sp>
      <p:sp>
        <p:nvSpPr>
          <p:cNvPr id="27" name="TextBox 26"/>
          <p:cNvSpPr txBox="1"/>
          <p:nvPr/>
        </p:nvSpPr>
        <p:spPr>
          <a:xfrm>
            <a:off x="612648" y="4864608"/>
            <a:ext cx="3447287" cy="1408176"/>
          </a:xfrm>
          <a:prstGeom prst="rect">
            <a:avLst/>
          </a:prstGeom>
          <a:noFill/>
        </p:spPr>
        <p:txBody>
          <a:bodyPr wrap="square" anchor="t" lIns="54864" rIns="54864" tIns="36576" bIns="36576">
            <a:spAutoFit/>
          </a:bodyPr>
          <a:lstStyle/>
          <a:p>
            <a:pPr algn="l">
              <a:lnSpc>
                <a:spcPct val="118000"/>
              </a:lnSpc>
            </a:pPr>
          </a:p>
        </p:txBody>
      </p:sp>
      <p:sp>
        <p:nvSpPr>
          <p:cNvPr id="28" name="Rectangle 27"/>
          <p:cNvSpPr/>
          <p:nvPr/>
        </p:nvSpPr>
        <p:spPr>
          <a:xfrm>
            <a:off x="8183879" y="1572768"/>
            <a:ext cx="3520440" cy="4773168"/>
          </a:xfrm>
          <a:prstGeom prst="rect">
            <a:avLst/>
          </a:prstGeom>
          <a:solidFill>
            <a:srgbClr val="FAF8FD"/>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83879" y="1572768"/>
            <a:ext cx="3520440" cy="29260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1" name="Picture 30" descr="topic_35.jpg_160.jpg"/>
          <p:cNvPicPr>
            <a:picLocks noChangeAspect="1"/>
          </p:cNvPicPr>
          <p:nvPr/>
        </p:nvPicPr>
        <p:blipFill>
          <a:blip r:embed="rId2"/>
          <a:stretch>
            <a:fillRect/>
          </a:stretch>
        </p:blipFill>
        <p:spPr>
          <a:xfrm>
            <a:off x="8293607" y="1938528"/>
            <a:ext cx="3300984" cy="2057400"/>
          </a:xfrm>
          <a:prstGeom prst="rect">
            <a:avLst/>
          </a:prstGeom>
        </p:spPr>
      </p:pic>
      <p:sp>
        <p:nvSpPr>
          <p:cNvPr id="32" name="Rectangle 31"/>
          <p:cNvSpPr/>
          <p:nvPr/>
        </p:nvSpPr>
        <p:spPr>
          <a:xfrm>
            <a:off x="8293607" y="1938528"/>
            <a:ext cx="3300984" cy="2057400"/>
          </a:xfrm>
          <a:prstGeom prst="rect">
            <a:avLst/>
          </a:prstGeom>
          <a:no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032504"/>
            <a:ext cx="3300984" cy="493776"/>
          </a:xfrm>
          <a:prstGeom prst="rect">
            <a:avLst/>
          </a:prstGeom>
          <a:solidFill>
            <a:srgbClr val="FFFFFF"/>
          </a:solidFill>
          <a:ln w="12700">
            <a:solidFill>
              <a:srgbClr val="D8C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221633"/>
                </a:solidFill>
                <a:latin typeface="Microsoft JhengHei"/>
              </a:rPr>
              <a:t>📌 圖說：▲ 商業情境視覺：在暴風雨導致現金流緊繃的至暗時刻，最珍貴的儲備不是黃金，而是「高管帶頭降薪、帳本向員工透明、用未來利潤分成取代草率送股」的危機治理智慧。</a:t>
            </a:r>
          </a:p>
        </p:txBody>
      </p:sp>
      <p:sp>
        <p:nvSpPr>
          <p:cNvPr id="35" name="Rectangle 34"/>
          <p:cNvSpPr/>
          <p:nvPr/>
        </p:nvSpPr>
        <p:spPr>
          <a:xfrm>
            <a:off x="8293607" y="4599432"/>
            <a:ext cx="3300984" cy="841248"/>
          </a:xfrm>
          <a:prstGeom prst="rect">
            <a:avLst/>
          </a:prstGeom>
          <a:solidFill>
            <a:srgbClr val="FFFFFF"/>
          </a:solidFill>
          <a:ln w="12700">
            <a:solidFill>
              <a:srgbClr val="A1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93607" y="4599432"/>
            <a:ext cx="64008" cy="841248"/>
          </a:xfrm>
          <a:prstGeom prst="rect">
            <a:avLst/>
          </a:prstGeom>
          <a:solidFill>
            <a:srgbClr val="A1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A100FF"/>
                </a:solidFill>
                <a:latin typeface="Microsoft JhengHei"/>
              </a:rPr>
              <a:t>🌱 入門者核心秒懂（Plain-Language）</a:t>
            </a:r>
          </a:p>
        </p:txBody>
      </p:sp>
      <p:sp>
        <p:nvSpPr>
          <p:cNvPr id="38" name="TextBox 37"/>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如果遇到像新冠疫情、金融海嘯或大客戶突然倒閉，公司好幾個月沒進帳，但每個月還要照發幾百萬員工薪水，老闆該怎麼辦？很多老闆一急就說：「大家這個月別領薪水了，我按薪…</a:t>
            </a:r>
          </a:p>
        </p:txBody>
      </p:sp>
      <p:sp>
        <p:nvSpPr>
          <p:cNvPr id="39" name="Rectangle 38"/>
          <p:cNvSpPr/>
          <p:nvPr/>
        </p:nvSpPr>
        <p:spPr>
          <a:xfrm>
            <a:off x="8293607" y="5495544"/>
            <a:ext cx="3300984" cy="841248"/>
          </a:xfrm>
          <a:prstGeom prst="rect">
            <a:avLst/>
          </a:prstGeom>
          <a:solidFill>
            <a:srgbClr val="FFFFFF"/>
          </a:solidFill>
          <a:ln w="12700">
            <a:solidFill>
              <a:srgbClr val="2D10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5495544"/>
            <a:ext cx="64008" cy="841248"/>
          </a:xfrm>
          <a:prstGeom prst="rect">
            <a:avLst/>
          </a:prstGeom>
          <a:solidFill>
            <a:srgbClr val="2D1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2D1054"/>
                </a:solidFill>
                <a:latin typeface="Microsoft JhengHei"/>
              </a:rPr>
              <a:t>🏛️ 進階架構：【現金流底線 × 期限匹配 × 透明共擔】危機激勵決策模型</a:t>
            </a:r>
          </a:p>
        </p:txBody>
      </p:sp>
      <p:sp>
        <p:nvSpPr>
          <p:cNvPr id="42" name="TextBox 41"/>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221633"/>
                </a:solidFill>
                <a:latin typeface="Microsoft JhengHei"/>
              </a:rPr>
              <a:t>本講是將第 03 講（信任）、第 10 講（透明化）、第 20 講（股權激勵）與第 31 講（全員持股）融會貫通的壓力測試。進階 CEO 在面對黑天鵝危…</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模組五：實戰加餐與 AI 治理   ｜   版型 6：對立論法 (Opposition)   ｜   知識庫 #037</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主張：傑克・韋爾奇在「企業管理」上是立功立言的巨人，但在「公司治理」上卻受制於美式股東至上短期壓力並埋下 GE 衰落隱患</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從通用電氣（GE）市值從 140 億飆升至 4100 億美元、卻在韋爾奇卸任後跌出標普道瓊指數，學會區分「管理功績」與「治理侷限」</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劉松博《公司治理30講》36 講 ｜ 知識庫條目 #037 ｜ BCG Leadership &amp; Institution Opposition Style  ｜  關鍵字：傑克韋爾奇 / GE / 通用電氣 / 伊梅爾特 / 活力曲線 / 數一數二 / 接班人 / 股東至上</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39 / 42</a:t>
            </a:r>
          </a:p>
        </p:txBody>
      </p:sp>
      <p:sp>
        <p:nvSpPr>
          <p:cNvPr id="10" name="Rectangle 9"/>
          <p:cNvSpPr/>
          <p:nvPr/>
        </p:nvSpPr>
        <p:spPr>
          <a:xfrm>
            <a:off x="502920" y="1572768"/>
            <a:ext cx="1280160" cy="53035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280160" cy="530352"/>
          </a:xfrm>
          <a:prstGeom prst="rect">
            <a:avLst/>
          </a:prstGeom>
          <a:noFill/>
        </p:spPr>
        <p:txBody>
          <a:bodyPr wrap="square" anchor="ctr" lIns="54864" rIns="54864" tIns="36576" bIns="36576">
            <a:spAutoFit/>
          </a:bodyPr>
          <a:lstStyle/>
          <a:p>
            <a:pPr algn="ctr">
              <a:lnSpc>
                <a:spcPct val="118000"/>
              </a:lnSpc>
            </a:pPr>
            <a:r>
              <a:rPr sz="950" b="1">
                <a:solidFill>
                  <a:srgbClr val="004B2B"/>
                </a:solidFill>
                <a:latin typeface="Microsoft JhengHei"/>
              </a:rPr>
              <a:t>對立維度</a:t>
            </a:r>
          </a:p>
        </p:txBody>
      </p:sp>
      <p:sp>
        <p:nvSpPr>
          <p:cNvPr id="12" name="Rectangle 11"/>
          <p:cNvSpPr/>
          <p:nvPr/>
        </p:nvSpPr>
        <p:spPr>
          <a:xfrm>
            <a:off x="1856232" y="1572768"/>
            <a:ext cx="2834639" cy="5303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9384"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A</a:t>
            </a:r>
          </a:p>
        </p:txBody>
      </p:sp>
      <p:sp>
        <p:nvSpPr>
          <p:cNvPr id="14" name="TextBox 13"/>
          <p:cNvSpPr txBox="1"/>
          <p:nvPr/>
        </p:nvSpPr>
        <p:spPr>
          <a:xfrm>
            <a:off x="4690871" y="1572768"/>
            <a:ext cx="402336" cy="530352"/>
          </a:xfrm>
          <a:prstGeom prst="rect">
            <a:avLst/>
          </a:prstGeom>
          <a:noFill/>
        </p:spPr>
        <p:txBody>
          <a:bodyPr wrap="square" anchor="ctr" lIns="54864" rIns="54864" tIns="36576" bIns="36576">
            <a:spAutoFit/>
          </a:bodyPr>
          <a:lstStyle/>
          <a:p>
            <a:pPr algn="ctr">
              <a:lnSpc>
                <a:spcPct val="118000"/>
              </a:lnSpc>
            </a:pPr>
            <a:r>
              <a:rPr sz="1000" b="1">
                <a:solidFill>
                  <a:srgbClr val="177B57"/>
                </a:solidFill>
                <a:latin typeface="Microsoft JhengHei"/>
              </a:rPr>
              <a:t>VS</a:t>
            </a:r>
          </a:p>
        </p:txBody>
      </p:sp>
      <p:sp>
        <p:nvSpPr>
          <p:cNvPr id="15" name="Rectangle 14"/>
          <p:cNvSpPr/>
          <p:nvPr/>
        </p:nvSpPr>
        <p:spPr>
          <a:xfrm>
            <a:off x="5093207" y="1572768"/>
            <a:ext cx="2834639" cy="530352"/>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59" y="1572768"/>
            <a:ext cx="2688335" cy="530352"/>
          </a:xfrm>
          <a:prstGeom prst="rect">
            <a:avLst/>
          </a:prstGeom>
          <a:noFill/>
        </p:spPr>
        <p:txBody>
          <a:bodyPr wrap="square" anchor="ctr" lIns="54864" rIns="54864" tIns="36576" bIns="36576">
            <a:spAutoFit/>
          </a:bodyPr>
          <a:lstStyle/>
          <a:p>
            <a:pPr algn="ctr">
              <a:lnSpc>
                <a:spcPct val="118000"/>
              </a:lnSpc>
            </a:pPr>
            <a:r>
              <a:rPr sz="980" b="1">
                <a:solidFill>
                  <a:srgbClr val="FFFFFF"/>
                </a:solidFill>
                <a:latin typeface="Microsoft JhengHei"/>
              </a:rPr>
              <a:t>模式 B</a:t>
            </a:r>
          </a:p>
        </p:txBody>
      </p:sp>
      <p:sp>
        <p:nvSpPr>
          <p:cNvPr id="17" name="Rectangle 16"/>
          <p:cNvSpPr/>
          <p:nvPr/>
        </p:nvSpPr>
        <p:spPr>
          <a:xfrm>
            <a:off x="502920" y="2212848"/>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 y="2212848"/>
            <a:ext cx="1170432" cy="964692"/>
          </a:xfrm>
          <a:prstGeom prst="rect">
            <a:avLst/>
          </a:prstGeom>
          <a:noFill/>
        </p:spPr>
        <p:txBody>
          <a:bodyPr wrap="square" anchor="ctr" lIns="54864" rIns="54864" tIns="36576" bIns="36576">
            <a:spAutoFit/>
          </a:bodyPr>
          <a:lstStyle/>
          <a:p>
            <a:pPr algn="ctr">
              <a:lnSpc>
                <a:spcPct val="118000"/>
              </a:lnSpc>
            </a:pPr>
          </a:p>
        </p:txBody>
      </p:sp>
      <p:sp>
        <p:nvSpPr>
          <p:cNvPr id="19" name="Rectangle 18"/>
          <p:cNvSpPr/>
          <p:nvPr/>
        </p:nvSpPr>
        <p:spPr>
          <a:xfrm>
            <a:off x="1856232" y="2212848"/>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9384"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1" name="TextBox 20"/>
          <p:cNvSpPr txBox="1"/>
          <p:nvPr/>
        </p:nvSpPr>
        <p:spPr>
          <a:xfrm>
            <a:off x="4690871" y="2212848"/>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2" name="Rectangle 21"/>
          <p:cNvSpPr/>
          <p:nvPr/>
        </p:nvSpPr>
        <p:spPr>
          <a:xfrm>
            <a:off x="5093207" y="2212848"/>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59" y="2267712"/>
            <a:ext cx="2688335" cy="854964"/>
          </a:xfrm>
          <a:prstGeom prst="rect">
            <a:avLst/>
          </a:prstGeom>
          <a:noFill/>
        </p:spPr>
        <p:txBody>
          <a:bodyPr wrap="square" anchor="t" lIns="54864" rIns="54864" tIns="36576" bIns="36576">
            <a:spAutoFit/>
          </a:bodyPr>
          <a:lstStyle/>
          <a:p>
            <a:pPr algn="l">
              <a:lnSpc>
                <a:spcPct val="114000"/>
              </a:lnSpc>
            </a:pPr>
          </a:p>
        </p:txBody>
      </p:sp>
      <p:sp>
        <p:nvSpPr>
          <p:cNvPr id="24" name="Rectangle 23"/>
          <p:cNvSpPr/>
          <p:nvPr/>
        </p:nvSpPr>
        <p:spPr>
          <a:xfrm>
            <a:off x="502920" y="3268980"/>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 y="3268980"/>
            <a:ext cx="1170432" cy="964692"/>
          </a:xfrm>
          <a:prstGeom prst="rect">
            <a:avLst/>
          </a:prstGeom>
          <a:noFill/>
        </p:spPr>
        <p:txBody>
          <a:bodyPr wrap="square" anchor="ctr" lIns="54864" rIns="54864" tIns="36576" bIns="36576">
            <a:spAutoFit/>
          </a:bodyPr>
          <a:lstStyle/>
          <a:p>
            <a:pPr algn="ctr">
              <a:lnSpc>
                <a:spcPct val="118000"/>
              </a:lnSpc>
            </a:pPr>
          </a:p>
        </p:txBody>
      </p:sp>
      <p:sp>
        <p:nvSpPr>
          <p:cNvPr id="26" name="Rectangle 25"/>
          <p:cNvSpPr/>
          <p:nvPr/>
        </p:nvSpPr>
        <p:spPr>
          <a:xfrm>
            <a:off x="1856232" y="3268980"/>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9384"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28" name="TextBox 27"/>
          <p:cNvSpPr txBox="1"/>
          <p:nvPr/>
        </p:nvSpPr>
        <p:spPr>
          <a:xfrm>
            <a:off x="4690871" y="3268980"/>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29" name="Rectangle 28"/>
          <p:cNvSpPr/>
          <p:nvPr/>
        </p:nvSpPr>
        <p:spPr>
          <a:xfrm>
            <a:off x="5093207" y="3268980"/>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6359" y="3323844"/>
            <a:ext cx="2688335" cy="854964"/>
          </a:xfrm>
          <a:prstGeom prst="rect">
            <a:avLst/>
          </a:prstGeom>
          <a:noFill/>
        </p:spPr>
        <p:txBody>
          <a:bodyPr wrap="square" anchor="t" lIns="54864" rIns="54864" tIns="36576" bIns="36576">
            <a:spAutoFit/>
          </a:bodyPr>
          <a:lstStyle/>
          <a:p>
            <a:pPr algn="l">
              <a:lnSpc>
                <a:spcPct val="114000"/>
              </a:lnSpc>
            </a:pPr>
          </a:p>
        </p:txBody>
      </p:sp>
      <p:sp>
        <p:nvSpPr>
          <p:cNvPr id="31" name="Rectangle 30"/>
          <p:cNvSpPr/>
          <p:nvPr/>
        </p:nvSpPr>
        <p:spPr>
          <a:xfrm>
            <a:off x="502920" y="4325112"/>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7784" y="4325112"/>
            <a:ext cx="1170432" cy="964692"/>
          </a:xfrm>
          <a:prstGeom prst="rect">
            <a:avLst/>
          </a:prstGeom>
          <a:noFill/>
        </p:spPr>
        <p:txBody>
          <a:bodyPr wrap="square" anchor="ctr" lIns="54864" rIns="54864" tIns="36576" bIns="36576">
            <a:spAutoFit/>
          </a:bodyPr>
          <a:lstStyle/>
          <a:p>
            <a:pPr algn="ctr">
              <a:lnSpc>
                <a:spcPct val="118000"/>
              </a:lnSpc>
            </a:pPr>
          </a:p>
        </p:txBody>
      </p:sp>
      <p:sp>
        <p:nvSpPr>
          <p:cNvPr id="33" name="Rectangle 32"/>
          <p:cNvSpPr/>
          <p:nvPr/>
        </p:nvSpPr>
        <p:spPr>
          <a:xfrm>
            <a:off x="1856232" y="4325112"/>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29384"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5" name="TextBox 34"/>
          <p:cNvSpPr txBox="1"/>
          <p:nvPr/>
        </p:nvSpPr>
        <p:spPr>
          <a:xfrm>
            <a:off x="4690871" y="4325112"/>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36" name="Rectangle 35"/>
          <p:cNvSpPr/>
          <p:nvPr/>
        </p:nvSpPr>
        <p:spPr>
          <a:xfrm>
            <a:off x="5093207" y="4325112"/>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59" y="4379976"/>
            <a:ext cx="2688335" cy="854964"/>
          </a:xfrm>
          <a:prstGeom prst="rect">
            <a:avLst/>
          </a:prstGeom>
          <a:noFill/>
        </p:spPr>
        <p:txBody>
          <a:bodyPr wrap="square" anchor="t" lIns="54864" rIns="54864" tIns="36576" bIns="36576">
            <a:spAutoFit/>
          </a:bodyPr>
          <a:lstStyle/>
          <a:p>
            <a:pPr algn="l">
              <a:lnSpc>
                <a:spcPct val="114000"/>
              </a:lnSpc>
            </a:pPr>
          </a:p>
        </p:txBody>
      </p:sp>
      <p:sp>
        <p:nvSpPr>
          <p:cNvPr id="38" name="Rectangle 37"/>
          <p:cNvSpPr/>
          <p:nvPr/>
        </p:nvSpPr>
        <p:spPr>
          <a:xfrm>
            <a:off x="502920" y="5381244"/>
            <a:ext cx="1280160" cy="964692"/>
          </a:xfrm>
          <a:prstGeom prst="rect">
            <a:avLst/>
          </a:prstGeom>
          <a:solidFill>
            <a:srgbClr val="F2F8F5"/>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 y="5381244"/>
            <a:ext cx="1170432" cy="964692"/>
          </a:xfrm>
          <a:prstGeom prst="rect">
            <a:avLst/>
          </a:prstGeom>
          <a:noFill/>
        </p:spPr>
        <p:txBody>
          <a:bodyPr wrap="square" anchor="ctr" lIns="54864" rIns="54864" tIns="36576" bIns="36576">
            <a:spAutoFit/>
          </a:bodyPr>
          <a:lstStyle/>
          <a:p>
            <a:pPr algn="ctr">
              <a:lnSpc>
                <a:spcPct val="118000"/>
              </a:lnSpc>
            </a:pPr>
          </a:p>
        </p:txBody>
      </p:sp>
      <p:sp>
        <p:nvSpPr>
          <p:cNvPr id="40" name="Rectangle 39"/>
          <p:cNvSpPr/>
          <p:nvPr/>
        </p:nvSpPr>
        <p:spPr>
          <a:xfrm>
            <a:off x="1856232" y="5381244"/>
            <a:ext cx="2834639" cy="964692"/>
          </a:xfrm>
          <a:prstGeom prst="rect">
            <a:avLst/>
          </a:prstGeom>
          <a:solidFill>
            <a:srgbClr val="F8FAFC"/>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29384"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2" name="TextBox 41"/>
          <p:cNvSpPr txBox="1"/>
          <p:nvPr/>
        </p:nvSpPr>
        <p:spPr>
          <a:xfrm>
            <a:off x="4690871" y="5381244"/>
            <a:ext cx="402336" cy="964692"/>
          </a:xfrm>
          <a:prstGeom prst="rect">
            <a:avLst/>
          </a:prstGeom>
          <a:noFill/>
        </p:spPr>
        <p:txBody>
          <a:bodyPr wrap="square" anchor="ctr" lIns="54864" rIns="54864" tIns="36576" bIns="36576">
            <a:spAutoFit/>
          </a:bodyPr>
          <a:lstStyle/>
          <a:p>
            <a:pPr algn="ctr">
              <a:lnSpc>
                <a:spcPct val="118000"/>
              </a:lnSpc>
            </a:pPr>
            <a:r>
              <a:rPr sz="1200" b="1">
                <a:solidFill>
                  <a:srgbClr val="177B57"/>
                </a:solidFill>
                <a:latin typeface="Microsoft JhengHei"/>
              </a:rPr>
              <a:t>⇄</a:t>
            </a:r>
          </a:p>
        </p:txBody>
      </p:sp>
      <p:sp>
        <p:nvSpPr>
          <p:cNvPr id="43" name="Rectangle 42"/>
          <p:cNvSpPr/>
          <p:nvPr/>
        </p:nvSpPr>
        <p:spPr>
          <a:xfrm>
            <a:off x="5093207" y="5381244"/>
            <a:ext cx="2834639" cy="964692"/>
          </a:xfrm>
          <a:prstGeom prst="rect">
            <a:avLst/>
          </a:prstGeom>
          <a:solidFill>
            <a:srgbClr val="F2F8F5"/>
          </a:solidFill>
          <a:ln w="1524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6359" y="5436108"/>
            <a:ext cx="2688335" cy="854964"/>
          </a:xfrm>
          <a:prstGeom prst="rect">
            <a:avLst/>
          </a:prstGeom>
          <a:noFill/>
        </p:spPr>
        <p:txBody>
          <a:bodyPr wrap="square" anchor="t" lIns="54864" rIns="54864" tIns="36576" bIns="36576">
            <a:spAutoFit/>
          </a:bodyPr>
          <a:lstStyle/>
          <a:p>
            <a:pPr algn="l">
              <a:lnSpc>
                <a:spcPct val="114000"/>
              </a:lnSpc>
            </a:pPr>
          </a:p>
        </p:txBody>
      </p:sp>
      <p:sp>
        <p:nvSpPr>
          <p:cNvPr id="45" name="Rectangle 44"/>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48" name="Picture 47" descr="topic_36.jpg_160.jpg"/>
          <p:cNvPicPr>
            <a:picLocks noChangeAspect="1"/>
          </p:cNvPicPr>
          <p:nvPr/>
        </p:nvPicPr>
        <p:blipFill>
          <a:blip r:embed="rId2"/>
          <a:stretch>
            <a:fillRect/>
          </a:stretch>
        </p:blipFill>
        <p:spPr>
          <a:xfrm>
            <a:off x="8293607" y="1938528"/>
            <a:ext cx="3300984" cy="2057400"/>
          </a:xfrm>
          <a:prstGeom prst="rect">
            <a:avLst/>
          </a:prstGeom>
        </p:spPr>
      </p:pic>
      <p:sp>
        <p:nvSpPr>
          <p:cNvPr id="49" name="Rectangle 48"/>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商業情境視覺：傳奇 CEO 的背影與華爾街指數曲線——韋爾奇的故事證明，評價一位領導者不能只看他在任時的股價巔峰，還要看他留下的業務結構與接班制度能否跨越周期。</a:t>
            </a:r>
          </a:p>
        </p:txBody>
      </p:sp>
      <p:sp>
        <p:nvSpPr>
          <p:cNvPr id="52" name="Rectangle 51"/>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55" name="TextBox 5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被譽為「20 世紀最偉大 CEO」的通用電氣（GE）前掌門人傑克・韋爾奇（Jack Welch）在任 20 年，把 GE 市值從 140 億美金變成 4100 …</a:t>
            </a:r>
          </a:p>
        </p:txBody>
      </p:sp>
      <p:sp>
        <p:nvSpPr>
          <p:cNvPr id="56" name="Rectangle 55"/>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進階架構：【當期管理績效 vs. 跨期治理遺產】CEO 歷史評價雙維模型</a:t>
            </a:r>
          </a:p>
        </p:txBody>
      </p:sp>
      <p:sp>
        <p:nvSpPr>
          <p:cNvPr id="59" name="TextBox 5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本講將第 00 講（治理 vs. 管理）、第 09 講（企業家悖論与接班）、第 20 講（短期股價激勵扭曲）與第 24 講（美式股東至上弊病）完美串聯在…</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模組五：AI 時代治理全課壓力測試   ｜   版型 5：麥肯錫論法 (McKinsey Matrix)   ｜   知識庫 #038</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主張：OpenAI 閃電開除又迎回 Altman 的宮鬥大戲，證明再創新的頂層架構也無法違背「權責對等、信任與制衡」的公司治理常識</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全課知識總復盤：解析 OpenAI「非營利母公司控制營利子公司（GP/LP 變體）」為何失靈，以及 Anthropic 長期利益信託的改良嘗試</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劉松博《公司治理30講》37 講 ｜ 知識庫條目 #038 ｜ McKinsey AI Governance Stress-Test Matrix  ｜  關鍵字：OpenAI / Sam Altman / 阿爾特曼 / 微軟 / AI治理 / 非營利組織 / GP / LP / Anthropic / 長期利益信託</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40 / 42</a:t>
            </a:r>
          </a:p>
        </p:txBody>
      </p:sp>
      <p:sp>
        <p:nvSpPr>
          <p:cNvPr id="10" name="Rectangle 9"/>
          <p:cNvSpPr/>
          <p:nvPr/>
        </p:nvSpPr>
        <p:spPr>
          <a:xfrm>
            <a:off x="502920" y="1572768"/>
            <a:ext cx="1170432" cy="56692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72768"/>
            <a:ext cx="1170432"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治理維度 \ 階段</a:t>
            </a:r>
          </a:p>
        </p:txBody>
      </p:sp>
      <p:sp>
        <p:nvSpPr>
          <p:cNvPr id="12" name="Chevron 11"/>
          <p:cNvSpPr/>
          <p:nvPr/>
        </p:nvSpPr>
        <p:spPr>
          <a:xfrm>
            <a:off x="1746504"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19656"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治理衝突根源</a:t>
            </a:r>
          </a:p>
          <a:p>
            <a:pPr algn="ctr">
              <a:lnSpc>
                <a:spcPct val="118000"/>
              </a:lnSpc>
            </a:pPr>
            <a:r>
              <a:rPr sz="919" b="1">
                <a:solidFill>
                  <a:srgbClr val="FFFFFF"/>
                </a:solidFill>
                <a:latin typeface="Microsoft JhengHei"/>
              </a:rPr>
              <a:t>（戰略・權力・利益三矛盾）</a:t>
            </a:r>
          </a:p>
        </p:txBody>
      </p:sp>
      <p:sp>
        <p:nvSpPr>
          <p:cNvPr id="14" name="Chevron 13"/>
          <p:cNvSpPr/>
          <p:nvPr/>
        </p:nvSpPr>
        <p:spPr>
          <a:xfrm>
            <a:off x="3855719"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28871"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OpenAI 特殊架構缺陷</a:t>
            </a:r>
          </a:p>
          <a:p>
            <a:pPr algn="ctr">
              <a:lnSpc>
                <a:spcPct val="118000"/>
              </a:lnSpc>
            </a:pPr>
            <a:r>
              <a:rPr sz="919" b="1">
                <a:solidFill>
                  <a:srgbClr val="FFFFFF"/>
                </a:solidFill>
                <a:latin typeface="Microsoft JhengHei"/>
              </a:rPr>
              <a:t>（有控制權者無索取權）</a:t>
            </a:r>
          </a:p>
        </p:txBody>
      </p:sp>
      <p:sp>
        <p:nvSpPr>
          <p:cNvPr id="16" name="Chevron 15"/>
          <p:cNvSpPr/>
          <p:nvPr/>
        </p:nvSpPr>
        <p:spPr>
          <a:xfrm>
            <a:off x="5964935" y="1572768"/>
            <a:ext cx="2036063" cy="566928"/>
          </a:xfrm>
          <a:prstGeom prst="chevron">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8087" y="1572768"/>
            <a:ext cx="1871471" cy="566928"/>
          </a:xfrm>
          <a:prstGeom prst="rect">
            <a:avLst/>
          </a:prstGeom>
          <a:noFill/>
        </p:spPr>
        <p:txBody>
          <a:bodyPr wrap="square" anchor="ctr" lIns="54864" rIns="54864" tIns="36576" bIns="36576">
            <a:spAutoFit/>
          </a:bodyPr>
          <a:lstStyle/>
          <a:p>
            <a:pPr algn="ctr">
              <a:lnSpc>
                <a:spcPct val="118000"/>
              </a:lnSpc>
            </a:pPr>
            <a:r>
              <a:rPr sz="919" b="1">
                <a:solidFill>
                  <a:srgbClr val="FFFFFF"/>
                </a:solidFill>
                <a:latin typeface="Microsoft JhengHei"/>
              </a:rPr>
              <a:t>② AI 時代治理新解方</a:t>
            </a:r>
          </a:p>
          <a:p>
            <a:pPr algn="ctr">
              <a:lnSpc>
                <a:spcPct val="118000"/>
              </a:lnSpc>
            </a:pPr>
            <a:r>
              <a:rPr sz="919" b="1">
                <a:solidFill>
                  <a:srgbClr val="FFFFFF"/>
                </a:solidFill>
                <a:latin typeface="Microsoft JhengHei"/>
              </a:rPr>
              <a:t>（Anthropic 長期利益信託）</a:t>
            </a:r>
          </a:p>
        </p:txBody>
      </p:sp>
      <p:sp>
        <p:nvSpPr>
          <p:cNvPr id="18" name="Rectangle 17"/>
          <p:cNvSpPr/>
          <p:nvPr/>
        </p:nvSpPr>
        <p:spPr>
          <a:xfrm>
            <a:off x="502920" y="2249424"/>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7784" y="2249424"/>
            <a:ext cx="1060704" cy="2002536"/>
          </a:xfrm>
          <a:prstGeom prst="rect">
            <a:avLst/>
          </a:prstGeom>
          <a:noFill/>
        </p:spPr>
        <p:txBody>
          <a:bodyPr wrap="square" anchor="ctr" lIns="54864" rIns="54864" tIns="36576" bIns="36576">
            <a:spAutoFit/>
          </a:bodyPr>
          <a:lstStyle/>
          <a:p>
            <a:pPr algn="ctr">
              <a:lnSpc>
                <a:spcPct val="118000"/>
              </a:lnSpc>
            </a:pPr>
          </a:p>
        </p:txBody>
      </p:sp>
      <p:sp>
        <p:nvSpPr>
          <p:cNvPr id="20" name="Rectangle 19"/>
          <p:cNvSpPr/>
          <p:nvPr/>
        </p:nvSpPr>
        <p:spPr>
          <a:xfrm>
            <a:off x="1746504"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19656"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2023年11月 OpenAI 非營利董事會突然開除 CEO 阿爾特曼（Sam Altman），5天內因微軟施壓與 95% 員工連署逼宮而大逆轉迎回——本質仍是【股東與經理人、合夥人間的戰略（安全 vs 商業化）與信任破裂】（回扣第02、17講）</a:t>
            </a:r>
          </a:p>
        </p:txBody>
      </p:sp>
      <p:sp>
        <p:nvSpPr>
          <p:cNvPr id="22" name="Rectangle 21"/>
          <p:cNvSpPr/>
          <p:nvPr/>
        </p:nvSpPr>
        <p:spPr>
          <a:xfrm>
            <a:off x="3855719"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8871"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為兼顧「造福全人類使命」與「百億算力融資」，設計【非營利董事會（GP）100% 控制營利公司，微軟等投資人（LP）只享封頂分紅無投票權】——結果董事不持股、投資人沒席位，權責嚴重失衡（回扣第04、07講）</a:t>
            </a:r>
          </a:p>
        </p:txBody>
      </p:sp>
      <p:sp>
        <p:nvSpPr>
          <p:cNvPr id="24" name="Rectangle 23"/>
          <p:cNvSpPr/>
          <p:nvPr/>
        </p:nvSpPr>
        <p:spPr>
          <a:xfrm>
            <a:off x="5964935" y="2249424"/>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8087" y="2304288"/>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AI 具有毀滅人類的潛在巨大外部性，純靠「股東至上」會失控狂奔，純靠「非營利學者董事會」又不懂商業且無問責機制（回扣第15、24講）</a:t>
            </a:r>
          </a:p>
        </p:txBody>
      </p:sp>
      <p:sp>
        <p:nvSpPr>
          <p:cNvPr id="26" name="Rectangle 25"/>
          <p:cNvSpPr/>
          <p:nvPr/>
        </p:nvSpPr>
        <p:spPr>
          <a:xfrm>
            <a:off x="502920" y="4343400"/>
            <a:ext cx="1170432" cy="2002536"/>
          </a:xfrm>
          <a:prstGeom prst="rect">
            <a:avLst/>
          </a:prstGeom>
          <a:solidFill>
            <a:srgbClr val="F4F6F9"/>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 y="4343400"/>
            <a:ext cx="1060704" cy="2002536"/>
          </a:xfrm>
          <a:prstGeom prst="rect">
            <a:avLst/>
          </a:prstGeom>
          <a:noFill/>
        </p:spPr>
        <p:txBody>
          <a:bodyPr wrap="square" anchor="ctr" lIns="54864" rIns="54864" tIns="36576" bIns="36576">
            <a:spAutoFit/>
          </a:bodyPr>
          <a:lstStyle/>
          <a:p>
            <a:pPr algn="ctr">
              <a:lnSpc>
                <a:spcPct val="118000"/>
              </a:lnSpc>
            </a:pPr>
          </a:p>
        </p:txBody>
      </p:sp>
      <p:sp>
        <p:nvSpPr>
          <p:cNvPr id="28" name="Rectangle 27"/>
          <p:cNvSpPr/>
          <p:nvPr/>
        </p:nvSpPr>
        <p:spPr>
          <a:xfrm>
            <a:off x="1746504"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19656"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證明【人力資本在 AI 時代的極致力量】：當 700 多名核心科學家與工程師與 CEO 站在一起以集體跳槽要脅時，空有法定罷免權的董事會瞬間淪為光桿司令（回扣第23、29講）</a:t>
            </a:r>
          </a:p>
        </p:txBody>
      </p:sp>
      <p:sp>
        <p:nvSpPr>
          <p:cNvPr id="30" name="Rectangle 29"/>
          <p:cNvSpPr/>
          <p:nvPr/>
        </p:nvSpPr>
        <p:spPr>
          <a:xfrm>
            <a:off x="3855719"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8871"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事後改革：改組董事會、引入微軟觀察員與外部重量級董事，修復投資人知情權與管理層制衡</a:t>
            </a:r>
          </a:p>
        </p:txBody>
      </p:sp>
      <p:sp>
        <p:nvSpPr>
          <p:cNvPr id="32" name="Rectangle 31"/>
          <p:cNvSpPr/>
          <p:nvPr/>
        </p:nvSpPr>
        <p:spPr>
          <a:xfrm>
            <a:off x="5964935" y="4343400"/>
            <a:ext cx="2036063" cy="200253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8087" y="4398264"/>
            <a:ext cx="1889759" cy="1892808"/>
          </a:xfrm>
          <a:prstGeom prst="rect">
            <a:avLst/>
          </a:prstGeom>
          <a:noFill/>
        </p:spPr>
        <p:txBody>
          <a:bodyPr wrap="square" anchor="t" lIns="54864" rIns="54864" tIns="36576" bIns="36576">
            <a:spAutoFit/>
          </a:bodyPr>
          <a:lstStyle/>
          <a:p>
            <a:pPr algn="l">
              <a:lnSpc>
                <a:spcPct val="115000"/>
              </a:lnSpc>
            </a:pPr>
            <a:r>
              <a:rPr sz="880" b="0">
                <a:solidFill>
                  <a:srgbClr val="1A202C"/>
                </a:solidFill>
                <a:latin typeface="Microsoft JhengHei"/>
              </a:rPr>
              <a:t>【Anthropic 改良嘗試】：設立獨立「長期利益信託（Long-Term Benefit Trust）」持有特殊 T 類股，隨融資階段逐步增加董事任免權，兼顧商業活力與人類安全使命</a:t>
            </a:r>
          </a:p>
        </p:txBody>
      </p:sp>
      <p:sp>
        <p:nvSpPr>
          <p:cNvPr id="34" name="Rectangle 33"/>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7" name="Picture 36" descr="topic_37.jpg_160.jpg"/>
          <p:cNvPicPr>
            <a:picLocks noChangeAspect="1"/>
          </p:cNvPicPr>
          <p:nvPr/>
        </p:nvPicPr>
        <p:blipFill>
          <a:blip r:embed="rId2"/>
          <a:stretch>
            <a:fillRect/>
          </a:stretch>
        </p:blipFill>
        <p:spPr>
          <a:xfrm>
            <a:off x="8293607" y="1938528"/>
            <a:ext cx="3300984" cy="2057400"/>
          </a:xfrm>
          <a:prstGeom prst="rect">
            <a:avLst/>
          </a:prstGeom>
        </p:spPr>
      </p:pic>
      <p:sp>
        <p:nvSpPr>
          <p:cNvPr id="38" name="Rectangle 37"/>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商業情境視覺：AI 神經網路與現代董事會的碰撞——OpenAI 危機證明，即便在最前沿的通用人工智慧（AGI）領域，「控制權、剩餘索取權與人力資本」的治理常識依然鐵律不變。</a:t>
            </a:r>
          </a:p>
        </p:txBody>
      </p:sp>
      <p:sp>
        <p:nvSpPr>
          <p:cNvPr id="41" name="Rectangle 40"/>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44" name="TextBox 43"/>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2023 年底科技圈最大的地震，就是開發出 ChatGPT 的 **OpenAI 董事會突然發公告把創辦人兼 CEO 阿爾特曼（Sam Altman）開除了**…</a:t>
            </a:r>
          </a:p>
        </p:txBody>
      </p:sp>
      <p:sp>
        <p:nvSpPr>
          <p:cNvPr id="45" name="Rectangle 44"/>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進階架構：【使命約束 × 資本槓桿 × 核心人力資本】AI 時代治理壓力測試模型</a:t>
            </a:r>
          </a:p>
        </p:txBody>
      </p:sp>
      <p:sp>
        <p:nvSpPr>
          <p:cNvPr id="48" name="TextBox 47"/>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劉松博教授在 2024 年新增的這講壓軸大課，堪稱對整部《公司治理 30 講》的全方位期末總考卷！它同時回扣了六大核心常識：① **人性風險與資訊不對稱…</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177B57"/>
                </a:solidFill>
                <a:latin typeface="Microsoft JhengHei"/>
              </a:rPr>
              <a:t>模組五：全課結語與精神昇華   ｜   版型 4：連鎖論法 (Chain / Flow)   ｜   知識庫 #039</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04B2B"/>
                </a:solidFill>
                <a:latin typeface="Microsoft JhengHei"/>
              </a:rPr>
              <a:t>① 主張：商人與企業家之間隔著「企業家精神」，而企業家與偉大企業家之間隔著懂得自我約束與進退的「企業家自覺」</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5A7365"/>
                </a:solidFill>
                <a:latin typeface="Microsoft JhengHei"/>
              </a:rPr>
              <a:t>從萬向魯冠球、任正非只留 1% 股權、馬雲交棒到攜程季琦的自我剖析，完成從「征服世界」到「放下權力」的最高修煉</a:t>
            </a:r>
          </a:p>
        </p:txBody>
      </p:sp>
      <p:sp>
        <p:nvSpPr>
          <p:cNvPr id="6" name="Rectangle 5"/>
          <p:cNvSpPr/>
          <p:nvPr/>
        </p:nvSpPr>
        <p:spPr>
          <a:xfrm>
            <a:off x="502920" y="1444752"/>
            <a:ext cx="11201400" cy="18288"/>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3D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5A7365"/>
                </a:solidFill>
                <a:latin typeface="Microsoft JhengHei"/>
              </a:rPr>
              <a:t>Source: 劉松博《公司治理30講》A1 結語 ｜ 知識庫條目 #039 ｜ BCG Executive Evolution Flow Style  ｜  關鍵字：企業家精神 / 企業家自覺 / 魯冠球 / 任正非 / 馬雲 / 季琦 / 熊彼特 / 放權</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04B2B"/>
                </a:solidFill>
                <a:latin typeface="Microsoft JhengHei"/>
              </a:rPr>
              <a:t>41 / 42</a:t>
            </a:r>
          </a:p>
        </p:txBody>
      </p:sp>
      <p:sp>
        <p:nvSpPr>
          <p:cNvPr id="10" name="Rectangle 9"/>
          <p:cNvSpPr/>
          <p:nvPr/>
        </p:nvSpPr>
        <p:spPr>
          <a:xfrm>
            <a:off x="502920" y="1572768"/>
            <a:ext cx="7498079" cy="1524000"/>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1234440" cy="152400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 y="1572768"/>
            <a:ext cx="1161288" cy="1524000"/>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1</a:t>
            </a:r>
          </a:p>
        </p:txBody>
      </p:sp>
      <p:sp>
        <p:nvSpPr>
          <p:cNvPr id="13" name="TextBox 12"/>
          <p:cNvSpPr txBox="1"/>
          <p:nvPr/>
        </p:nvSpPr>
        <p:spPr>
          <a:xfrm>
            <a:off x="1865376" y="1627632"/>
            <a:ext cx="6044183" cy="274320"/>
          </a:xfrm>
          <a:prstGeom prst="rect">
            <a:avLst/>
          </a:prstGeom>
          <a:noFill/>
        </p:spPr>
        <p:txBody>
          <a:bodyPr wrap="square" anchor="t" lIns="54864" rIns="54864" tIns="36576" bIns="36576">
            <a:spAutoFit/>
          </a:bodyPr>
          <a:lstStyle/>
          <a:p>
            <a:pPr algn="l">
              <a:lnSpc>
                <a:spcPct val="118000"/>
              </a:lnSpc>
            </a:pPr>
          </a:p>
        </p:txBody>
      </p:sp>
      <p:sp>
        <p:nvSpPr>
          <p:cNvPr id="14" name="TextBox 13"/>
          <p:cNvSpPr txBox="1"/>
          <p:nvPr/>
        </p:nvSpPr>
        <p:spPr>
          <a:xfrm>
            <a:off x="1865376" y="1901952"/>
            <a:ext cx="6044183" cy="1158240"/>
          </a:xfrm>
          <a:prstGeom prst="rect">
            <a:avLst/>
          </a:prstGeom>
          <a:noFill/>
        </p:spPr>
        <p:txBody>
          <a:bodyPr wrap="square" anchor="t" lIns="54864" rIns="54864" tIns="36576" bIns="36576">
            <a:spAutoFit/>
          </a:bodyPr>
          <a:lstStyle/>
          <a:p>
            <a:pPr algn="l">
              <a:lnSpc>
                <a:spcPct val="114000"/>
              </a:lnSpc>
            </a:pPr>
          </a:p>
        </p:txBody>
      </p:sp>
      <p:sp>
        <p:nvSpPr>
          <p:cNvPr id="15" name="Rectangle 14"/>
          <p:cNvSpPr/>
          <p:nvPr/>
        </p:nvSpPr>
        <p:spPr>
          <a:xfrm>
            <a:off x="502920" y="3197352"/>
            <a:ext cx="7498079" cy="1524000"/>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197352"/>
            <a:ext cx="1234440" cy="152400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 y="3197352"/>
            <a:ext cx="1161288" cy="1524000"/>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2</a:t>
            </a:r>
          </a:p>
        </p:txBody>
      </p:sp>
      <p:sp>
        <p:nvSpPr>
          <p:cNvPr id="18" name="TextBox 17"/>
          <p:cNvSpPr txBox="1"/>
          <p:nvPr/>
        </p:nvSpPr>
        <p:spPr>
          <a:xfrm>
            <a:off x="1865376" y="3252216"/>
            <a:ext cx="6044183" cy="274320"/>
          </a:xfrm>
          <a:prstGeom prst="rect">
            <a:avLst/>
          </a:prstGeom>
          <a:noFill/>
        </p:spPr>
        <p:txBody>
          <a:bodyPr wrap="square" anchor="t" lIns="54864" rIns="54864" tIns="36576" bIns="36576">
            <a:spAutoFit/>
          </a:bodyPr>
          <a:lstStyle/>
          <a:p>
            <a:pPr algn="l">
              <a:lnSpc>
                <a:spcPct val="118000"/>
              </a:lnSpc>
            </a:pPr>
          </a:p>
        </p:txBody>
      </p:sp>
      <p:sp>
        <p:nvSpPr>
          <p:cNvPr id="19" name="TextBox 18"/>
          <p:cNvSpPr txBox="1"/>
          <p:nvPr/>
        </p:nvSpPr>
        <p:spPr>
          <a:xfrm>
            <a:off x="1865376" y="3526536"/>
            <a:ext cx="6044183" cy="1158240"/>
          </a:xfrm>
          <a:prstGeom prst="rect">
            <a:avLst/>
          </a:prstGeom>
          <a:noFill/>
        </p:spPr>
        <p:txBody>
          <a:bodyPr wrap="square" anchor="t" lIns="54864" rIns="54864" tIns="36576" bIns="36576">
            <a:spAutoFit/>
          </a:bodyPr>
          <a:lstStyle/>
          <a:p>
            <a:pPr algn="l">
              <a:lnSpc>
                <a:spcPct val="114000"/>
              </a:lnSpc>
            </a:pPr>
          </a:p>
        </p:txBody>
      </p:sp>
      <p:sp>
        <p:nvSpPr>
          <p:cNvPr id="20" name="Rectangle 19"/>
          <p:cNvSpPr/>
          <p:nvPr/>
        </p:nvSpPr>
        <p:spPr>
          <a:xfrm>
            <a:off x="502920" y="4821936"/>
            <a:ext cx="7498079" cy="1524000"/>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821936"/>
            <a:ext cx="1234440" cy="1524000"/>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 y="4821936"/>
            <a:ext cx="1161288" cy="1524000"/>
          </a:xfrm>
          <a:prstGeom prst="rect">
            <a:avLst/>
          </a:prstGeom>
          <a:noFill/>
        </p:spPr>
        <p:txBody>
          <a:bodyPr wrap="square" anchor="ctr" lIns="54864" rIns="54864" tIns="36576" bIns="36576">
            <a:spAutoFit/>
          </a:bodyPr>
          <a:lstStyle/>
          <a:p>
            <a:pPr algn="ctr">
              <a:lnSpc>
                <a:spcPct val="118000"/>
              </a:lnSpc>
            </a:pPr>
            <a:r>
              <a:rPr sz="950" b="1">
                <a:solidFill>
                  <a:srgbClr val="FFFFFF"/>
                </a:solidFill>
                <a:latin typeface="Microsoft JhengHei"/>
              </a:rPr>
              <a:t>STEP 3</a:t>
            </a:r>
          </a:p>
        </p:txBody>
      </p:sp>
      <p:sp>
        <p:nvSpPr>
          <p:cNvPr id="23" name="TextBox 22"/>
          <p:cNvSpPr txBox="1"/>
          <p:nvPr/>
        </p:nvSpPr>
        <p:spPr>
          <a:xfrm>
            <a:off x="1865376" y="4876800"/>
            <a:ext cx="6044183" cy="274320"/>
          </a:xfrm>
          <a:prstGeom prst="rect">
            <a:avLst/>
          </a:prstGeom>
          <a:noFill/>
        </p:spPr>
        <p:txBody>
          <a:bodyPr wrap="square" anchor="t" lIns="54864" rIns="54864" tIns="36576" bIns="36576">
            <a:spAutoFit/>
          </a:bodyPr>
          <a:lstStyle/>
          <a:p>
            <a:pPr algn="l">
              <a:lnSpc>
                <a:spcPct val="118000"/>
              </a:lnSpc>
            </a:pPr>
          </a:p>
        </p:txBody>
      </p:sp>
      <p:sp>
        <p:nvSpPr>
          <p:cNvPr id="24" name="TextBox 23"/>
          <p:cNvSpPr txBox="1"/>
          <p:nvPr/>
        </p:nvSpPr>
        <p:spPr>
          <a:xfrm>
            <a:off x="1865376" y="5151120"/>
            <a:ext cx="6044183" cy="1158240"/>
          </a:xfrm>
          <a:prstGeom prst="rect">
            <a:avLst/>
          </a:prstGeom>
          <a:noFill/>
        </p:spPr>
        <p:txBody>
          <a:bodyPr wrap="square" anchor="t" lIns="54864" rIns="54864" tIns="36576" bIns="36576">
            <a:spAutoFit/>
          </a:bodyPr>
          <a:lstStyle/>
          <a:p>
            <a:pPr algn="l">
              <a:lnSpc>
                <a:spcPct val="114000"/>
              </a:lnSpc>
            </a:pPr>
          </a:p>
        </p:txBody>
      </p:sp>
      <p:sp>
        <p:nvSpPr>
          <p:cNvPr id="25" name="Rectangle 24"/>
          <p:cNvSpPr/>
          <p:nvPr/>
        </p:nvSpPr>
        <p:spPr>
          <a:xfrm>
            <a:off x="8183879" y="1572768"/>
            <a:ext cx="3520440" cy="4773168"/>
          </a:xfrm>
          <a:prstGeom prst="rect">
            <a:avLst/>
          </a:prstGeom>
          <a:solidFill>
            <a:srgbClr val="F7FBF9"/>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83879" y="1572768"/>
            <a:ext cx="3520440" cy="29260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28" name="Picture 27" descr="topic_38.jpg_160.jpg"/>
          <p:cNvPicPr>
            <a:picLocks noChangeAspect="1"/>
          </p:cNvPicPr>
          <p:nvPr/>
        </p:nvPicPr>
        <p:blipFill>
          <a:blip r:embed="rId2"/>
          <a:stretch>
            <a:fillRect/>
          </a:stretch>
        </p:blipFill>
        <p:spPr>
          <a:xfrm>
            <a:off x="8293607" y="1938528"/>
            <a:ext cx="3300984" cy="2057400"/>
          </a:xfrm>
          <a:prstGeom prst="rect">
            <a:avLst/>
          </a:prstGeom>
        </p:spPr>
      </p:pic>
      <p:sp>
        <p:nvSpPr>
          <p:cNvPr id="29" name="Rectangle 28"/>
          <p:cNvSpPr/>
          <p:nvPr/>
        </p:nvSpPr>
        <p:spPr>
          <a:xfrm>
            <a:off x="8293607" y="1938528"/>
            <a:ext cx="3300984" cy="2057400"/>
          </a:xfrm>
          <a:prstGeom prst="rect">
            <a:avLst/>
          </a:prstGeom>
          <a:no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93607" y="4032504"/>
            <a:ext cx="3300984" cy="493776"/>
          </a:xfrm>
          <a:prstGeom prst="rect">
            <a:avLst/>
          </a:prstGeom>
          <a:solidFill>
            <a:srgbClr val="FFFFFF"/>
          </a:solidFill>
          <a:ln w="12700">
            <a:solidFill>
              <a:srgbClr val="C3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E23"/>
                </a:solidFill>
                <a:latin typeface="Microsoft JhengHei"/>
              </a:rPr>
              <a:t>📌 圖說：▲ 商業情境視覺：登頂高山後的遼闊日出——「企業家精神」讓人披荊斬棘登上權力與財富之巔，而「企業家自覺」則讓人懂得在巔峰處建立制度、主動放權、成就眾生。</a:t>
            </a:r>
          </a:p>
        </p:txBody>
      </p:sp>
      <p:sp>
        <p:nvSpPr>
          <p:cNvPr id="32" name="Rectangle 31"/>
          <p:cNvSpPr/>
          <p:nvPr/>
        </p:nvSpPr>
        <p:spPr>
          <a:xfrm>
            <a:off x="8293607" y="4599432"/>
            <a:ext cx="3300984" cy="841248"/>
          </a:xfrm>
          <a:prstGeom prst="rect">
            <a:avLst/>
          </a:prstGeom>
          <a:solidFill>
            <a:srgbClr val="FFFFFF"/>
          </a:solidFill>
          <a:ln w="1270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599432"/>
            <a:ext cx="64008" cy="841248"/>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177B57"/>
                </a:solidFill>
                <a:latin typeface="Microsoft JhengHei"/>
              </a:rPr>
              <a:t>🌱 入門者核心秒懂（Plain-Language）</a:t>
            </a:r>
          </a:p>
        </p:txBody>
      </p:sp>
      <p:sp>
        <p:nvSpPr>
          <p:cNvPr id="35" name="TextBox 34"/>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整門《公司治理 30 講》講了無數爭權奪利、防人害己的制度，但在最後的結語裡，劉松博教授講了一段最打動人心的話：**最好的公司治理，最終來自老闆內心的「企業家自…</a:t>
            </a:r>
          </a:p>
        </p:txBody>
      </p:sp>
      <p:sp>
        <p:nvSpPr>
          <p:cNvPr id="36" name="Rectangle 35"/>
          <p:cNvSpPr/>
          <p:nvPr/>
        </p:nvSpPr>
        <p:spPr>
          <a:xfrm>
            <a:off x="8293607" y="5495544"/>
            <a:ext cx="3300984" cy="841248"/>
          </a:xfrm>
          <a:prstGeom prst="rect">
            <a:avLst/>
          </a:prstGeom>
          <a:solidFill>
            <a:srgbClr val="FFFFFF"/>
          </a:solidFill>
          <a:ln w="12700">
            <a:solidFill>
              <a:srgbClr val="004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93607" y="5495544"/>
            <a:ext cx="64008" cy="841248"/>
          </a:xfrm>
          <a:prstGeom prst="rect">
            <a:avLst/>
          </a:prstGeom>
          <a:solidFill>
            <a:srgbClr val="004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04B2B"/>
                </a:solidFill>
                <a:latin typeface="Microsoft JhengHei"/>
              </a:rPr>
              <a:t>🏛️ 進階架構：【商人 ➔ 企業家精神 ➔ 企業家自覺】領導者心智躍遷模型</a:t>
            </a:r>
          </a:p>
        </p:txBody>
      </p:sp>
      <p:sp>
        <p:nvSpPr>
          <p:cNvPr id="39" name="TextBox 38"/>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E23"/>
                </a:solidFill>
                <a:latin typeface="Microsoft JhengHei"/>
              </a:rPr>
              <a:t>本講與第 09 講「企業家悖論」形成完美的首尾呼應！第 09 講指出企業家若不加制衡會害死公司，而第 10–34 講提供了外部透明、股東制衡、董事會、合…</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155680" cy="256032"/>
          </a:xfrm>
          <a:prstGeom prst="rect">
            <a:avLst/>
          </a:prstGeom>
          <a:noFill/>
        </p:spPr>
        <p:txBody>
          <a:bodyPr wrap="square" anchor="t" lIns="54864" rIns="54864" tIns="36576" bIns="36576">
            <a:spAutoFit/>
          </a:bodyPr>
          <a:lstStyle/>
          <a:p>
            <a:pPr algn="l">
              <a:lnSpc>
                <a:spcPct val="118000"/>
              </a:lnSpc>
            </a:pPr>
            <a:r>
              <a:rPr sz="950" b="1">
                <a:solidFill>
                  <a:srgbClr val="0077C8"/>
                </a:solidFill>
                <a:latin typeface="Microsoft JhengHei"/>
              </a:rPr>
              <a:t>模組五：CEO 進階知識庫擴充地圖   ｜   版型 2：並列論法 (Parallel)   ｜   知識庫 #040</a:t>
            </a:r>
          </a:p>
        </p:txBody>
      </p:sp>
      <p:sp>
        <p:nvSpPr>
          <p:cNvPr id="4" name="TextBox 3"/>
          <p:cNvSpPr txBox="1"/>
          <p:nvPr/>
        </p:nvSpPr>
        <p:spPr>
          <a:xfrm>
            <a:off x="502920" y="402336"/>
            <a:ext cx="11201400" cy="749808"/>
          </a:xfrm>
          <a:prstGeom prst="rect">
            <a:avLst/>
          </a:prstGeom>
          <a:noFill/>
        </p:spPr>
        <p:txBody>
          <a:bodyPr wrap="square" anchor="t" lIns="54864" rIns="54864" tIns="36576" bIns="36576">
            <a:spAutoFit/>
          </a:bodyPr>
          <a:lstStyle/>
          <a:p>
            <a:pPr algn="l">
              <a:lnSpc>
                <a:spcPct val="115000"/>
              </a:lnSpc>
            </a:pPr>
            <a:r>
              <a:rPr sz="1500" b="1">
                <a:solidFill>
                  <a:srgbClr val="051C2C"/>
                </a:solidFill>
                <a:latin typeface="Microsoft JhengHei"/>
              </a:rPr>
              <a:t>① 主張：進階研讀公司治理不應盲目啃大部頭教科書，而應按「公司目的、動態股權、控制權商戰、文化軟治理」四大問題精準選書</a:t>
            </a:r>
          </a:p>
        </p:txBody>
      </p:sp>
      <p:sp>
        <p:nvSpPr>
          <p:cNvPr id="5" name="TextBox 4"/>
          <p:cNvSpPr txBox="1"/>
          <p:nvPr/>
        </p:nvSpPr>
        <p:spPr>
          <a:xfrm>
            <a:off x="502920" y="1133856"/>
            <a:ext cx="11201400" cy="292608"/>
          </a:xfrm>
          <a:prstGeom prst="rect">
            <a:avLst/>
          </a:prstGeom>
          <a:noFill/>
        </p:spPr>
        <p:txBody>
          <a:bodyPr wrap="square" anchor="t" lIns="54864" rIns="54864" tIns="36576" bIns="36576">
            <a:spAutoFit/>
          </a:bodyPr>
          <a:lstStyle/>
          <a:p>
            <a:pPr algn="l">
              <a:lnSpc>
                <a:spcPct val="118000"/>
              </a:lnSpc>
            </a:pPr>
            <a:r>
              <a:rPr sz="1050" b="0">
                <a:solidFill>
                  <a:srgbClr val="64748B"/>
                </a:solidFill>
                <a:latin typeface="Microsoft JhengHei"/>
              </a:rPr>
              <a:t>劉松博教授嚴選 10 本中西經典著作：從德魯克《公司的概念》、華為治理四書、《奈飛文化手冊》到《門口的野蠻人》</a:t>
            </a:r>
          </a:p>
        </p:txBody>
      </p:sp>
      <p:sp>
        <p:nvSpPr>
          <p:cNvPr id="6" name="Rectangle 5"/>
          <p:cNvSpPr/>
          <p:nvPr/>
        </p:nvSpPr>
        <p:spPr>
          <a:xfrm>
            <a:off x="502920" y="1444752"/>
            <a:ext cx="112014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6473952"/>
            <a:ext cx="112014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10528"/>
            <a:ext cx="9601200" cy="256032"/>
          </a:xfrm>
          <a:prstGeom prst="rect">
            <a:avLst/>
          </a:prstGeom>
          <a:noFill/>
        </p:spPr>
        <p:txBody>
          <a:bodyPr wrap="square" anchor="t" lIns="54864" rIns="54864" tIns="36576" bIns="36576">
            <a:spAutoFit/>
          </a:bodyPr>
          <a:lstStyle/>
          <a:p>
            <a:pPr algn="l">
              <a:lnSpc>
                <a:spcPct val="118000"/>
              </a:lnSpc>
            </a:pPr>
            <a:r>
              <a:rPr sz="850" b="0">
                <a:solidFill>
                  <a:srgbClr val="64748B"/>
                </a:solidFill>
                <a:latin typeface="Microsoft JhengHei"/>
              </a:rPr>
              <a:t>Source: 劉松博《公司治理30講》A2 書單 ｜ 知識庫條目 #040–#041 ｜ McKinsey Executive Reading Matrix  ｜  關鍵字：進階書單 / 德魯克 / 公司的概念 / 正確的公司治理 / 切蛋糕模型 / 門口的野蠻人 / 華為基本法 / 以奮鬥者為本 / 奈飛文化手冊</a:t>
            </a:r>
          </a:p>
        </p:txBody>
      </p:sp>
      <p:sp>
        <p:nvSpPr>
          <p:cNvPr id="9" name="TextBox 8"/>
          <p:cNvSpPr txBox="1"/>
          <p:nvPr/>
        </p:nvSpPr>
        <p:spPr>
          <a:xfrm>
            <a:off x="10241280" y="6510528"/>
            <a:ext cx="1463040" cy="256032"/>
          </a:xfrm>
          <a:prstGeom prst="rect">
            <a:avLst/>
          </a:prstGeom>
          <a:noFill/>
        </p:spPr>
        <p:txBody>
          <a:bodyPr wrap="square" anchor="t" lIns="54864" rIns="54864" tIns="36576" bIns="36576">
            <a:spAutoFit/>
          </a:bodyPr>
          <a:lstStyle/>
          <a:p>
            <a:pPr algn="r">
              <a:lnSpc>
                <a:spcPct val="118000"/>
              </a:lnSpc>
            </a:pPr>
            <a:r>
              <a:rPr sz="900" b="1">
                <a:solidFill>
                  <a:srgbClr val="051C2C"/>
                </a:solidFill>
                <a:latin typeface="Microsoft JhengHei"/>
              </a:rPr>
              <a:t>42 / 42</a:t>
            </a:r>
          </a:p>
        </p:txBody>
      </p:sp>
      <p:sp>
        <p:nvSpPr>
          <p:cNvPr id="10" name="Rectangle 9"/>
          <p:cNvSpPr/>
          <p:nvPr/>
        </p:nvSpPr>
        <p:spPr>
          <a:xfrm>
            <a:off x="502920" y="1572768"/>
            <a:ext cx="3666743" cy="230428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72768"/>
            <a:ext cx="3666743"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 y="1700784"/>
            <a:ext cx="1143000" cy="23774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1</a:t>
            </a:r>
          </a:p>
        </p:txBody>
      </p:sp>
      <p:sp>
        <p:nvSpPr>
          <p:cNvPr id="14" name="TextBox 13"/>
          <p:cNvSpPr txBox="1"/>
          <p:nvPr/>
        </p:nvSpPr>
        <p:spPr>
          <a:xfrm>
            <a:off x="612648"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051C2C"/>
                </a:solidFill>
                <a:latin typeface="Microsoft JhengHei"/>
              </a:rPr>
              <a:t>② 主題 1：公司目的與頂層哲學（3 本）</a:t>
            </a:r>
          </a:p>
        </p:txBody>
      </p:sp>
      <p:sp>
        <p:nvSpPr>
          <p:cNvPr id="15" name="TextBox 14"/>
          <p:cNvSpPr txBox="1"/>
          <p:nvPr/>
        </p:nvSpPr>
        <p:spPr>
          <a:xfrm>
            <a:off x="612648"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16" name="Rectangle 15"/>
          <p:cNvSpPr/>
          <p:nvPr/>
        </p:nvSpPr>
        <p:spPr>
          <a:xfrm>
            <a:off x="4334255" y="1572768"/>
            <a:ext cx="3666743" cy="230428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34255" y="1572768"/>
            <a:ext cx="3666743"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43983" y="1700784"/>
            <a:ext cx="1143000" cy="23774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3" y="170078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2</a:t>
            </a:r>
          </a:p>
        </p:txBody>
      </p:sp>
      <p:sp>
        <p:nvSpPr>
          <p:cNvPr id="20" name="TextBox 19"/>
          <p:cNvSpPr txBox="1"/>
          <p:nvPr/>
        </p:nvSpPr>
        <p:spPr>
          <a:xfrm>
            <a:off x="4443983" y="1993392"/>
            <a:ext cx="3447287" cy="384048"/>
          </a:xfrm>
          <a:prstGeom prst="rect">
            <a:avLst/>
          </a:prstGeom>
          <a:noFill/>
        </p:spPr>
        <p:txBody>
          <a:bodyPr wrap="square" anchor="t" lIns="54864" rIns="54864" tIns="36576" bIns="36576">
            <a:spAutoFit/>
          </a:bodyPr>
          <a:lstStyle/>
          <a:p>
            <a:pPr algn="l">
              <a:lnSpc>
                <a:spcPct val="118000"/>
              </a:lnSpc>
            </a:pPr>
            <a:r>
              <a:rPr sz="1150" b="1">
                <a:solidFill>
                  <a:srgbClr val="051C2C"/>
                </a:solidFill>
                <a:latin typeface="Microsoft JhengHei"/>
              </a:rPr>
              <a:t>③ 主題 2：動態股權與控制權商戰（2 本）</a:t>
            </a:r>
          </a:p>
        </p:txBody>
      </p:sp>
      <p:sp>
        <p:nvSpPr>
          <p:cNvPr id="21" name="TextBox 20"/>
          <p:cNvSpPr txBox="1"/>
          <p:nvPr/>
        </p:nvSpPr>
        <p:spPr>
          <a:xfrm>
            <a:off x="4443983" y="2395728"/>
            <a:ext cx="3447287" cy="1408176"/>
          </a:xfrm>
          <a:prstGeom prst="rect">
            <a:avLst/>
          </a:prstGeom>
          <a:noFill/>
        </p:spPr>
        <p:txBody>
          <a:bodyPr wrap="square" anchor="t" lIns="54864" rIns="54864" tIns="36576" bIns="36576">
            <a:spAutoFit/>
          </a:bodyPr>
          <a:lstStyle/>
          <a:p>
            <a:pPr algn="l">
              <a:lnSpc>
                <a:spcPct val="118000"/>
              </a:lnSpc>
            </a:pPr>
          </a:p>
        </p:txBody>
      </p:sp>
      <p:sp>
        <p:nvSpPr>
          <p:cNvPr id="22" name="Rectangle 21"/>
          <p:cNvSpPr/>
          <p:nvPr/>
        </p:nvSpPr>
        <p:spPr>
          <a:xfrm>
            <a:off x="502920" y="4041648"/>
            <a:ext cx="3666743" cy="2304288"/>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41648"/>
            <a:ext cx="3666743" cy="640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 y="4169664"/>
            <a:ext cx="1143000" cy="237744"/>
          </a:xfrm>
          <a:prstGeom prst="round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169664"/>
            <a:ext cx="1143000" cy="237744"/>
          </a:xfrm>
          <a:prstGeom prst="rect">
            <a:avLst/>
          </a:prstGeom>
          <a:noFill/>
        </p:spPr>
        <p:txBody>
          <a:bodyPr wrap="square" anchor="ctr" lIns="54864" rIns="54864" tIns="36576" bIns="36576">
            <a:spAutoFit/>
          </a:bodyPr>
          <a:lstStyle/>
          <a:p>
            <a:pPr algn="ctr">
              <a:lnSpc>
                <a:spcPct val="118000"/>
              </a:lnSpc>
            </a:pPr>
            <a:r>
              <a:rPr sz="850" b="1">
                <a:solidFill>
                  <a:srgbClr val="FFFFFF"/>
                </a:solidFill>
                <a:latin typeface="Microsoft JhengHei"/>
              </a:rPr>
              <a:t>要點 3</a:t>
            </a:r>
          </a:p>
        </p:txBody>
      </p:sp>
      <p:sp>
        <p:nvSpPr>
          <p:cNvPr id="26" name="TextBox 25"/>
          <p:cNvSpPr txBox="1"/>
          <p:nvPr/>
        </p:nvSpPr>
        <p:spPr>
          <a:xfrm>
            <a:off x="612648" y="4462272"/>
            <a:ext cx="3447287" cy="384048"/>
          </a:xfrm>
          <a:prstGeom prst="rect">
            <a:avLst/>
          </a:prstGeom>
          <a:noFill/>
        </p:spPr>
        <p:txBody>
          <a:bodyPr wrap="square" anchor="t" lIns="54864" rIns="54864" tIns="36576" bIns="36576">
            <a:spAutoFit/>
          </a:bodyPr>
          <a:lstStyle/>
          <a:p>
            <a:pPr algn="l">
              <a:lnSpc>
                <a:spcPct val="118000"/>
              </a:lnSpc>
            </a:pPr>
            <a:r>
              <a:rPr sz="1150" b="1">
                <a:solidFill>
                  <a:srgbClr val="051C2C"/>
                </a:solidFill>
                <a:latin typeface="Microsoft JhengHei"/>
              </a:rPr>
              <a:t>④ 主題 3：華為治理標竿與奈飛軟治理（5 本）</a:t>
            </a:r>
          </a:p>
        </p:txBody>
      </p:sp>
      <p:sp>
        <p:nvSpPr>
          <p:cNvPr id="27" name="TextBox 26"/>
          <p:cNvSpPr txBox="1"/>
          <p:nvPr/>
        </p:nvSpPr>
        <p:spPr>
          <a:xfrm>
            <a:off x="612648" y="4864608"/>
            <a:ext cx="3447287" cy="1408176"/>
          </a:xfrm>
          <a:prstGeom prst="rect">
            <a:avLst/>
          </a:prstGeom>
          <a:noFill/>
        </p:spPr>
        <p:txBody>
          <a:bodyPr wrap="square" anchor="t" lIns="54864" rIns="54864" tIns="36576" bIns="36576">
            <a:spAutoFit/>
          </a:bodyPr>
          <a:lstStyle/>
          <a:p>
            <a:pPr algn="l">
              <a:lnSpc>
                <a:spcPct val="118000"/>
              </a:lnSpc>
            </a:pPr>
          </a:p>
        </p:txBody>
      </p:sp>
      <p:sp>
        <p:nvSpPr>
          <p:cNvPr id="28" name="Rectangle 27"/>
          <p:cNvSpPr/>
          <p:nvPr/>
        </p:nvSpPr>
        <p:spPr>
          <a:xfrm>
            <a:off x="8183879" y="1572768"/>
            <a:ext cx="3520440" cy="4773168"/>
          </a:xfrm>
          <a:prstGeom prst="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83879" y="1572768"/>
            <a:ext cx="3520440" cy="29260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1591056"/>
            <a:ext cx="3374136" cy="256032"/>
          </a:xfrm>
          <a:prstGeom prst="rect">
            <a:avLst/>
          </a:prstGeom>
          <a:noFill/>
        </p:spPr>
        <p:txBody>
          <a:bodyPr wrap="square" anchor="ctr" lIns="54864" rIns="54864" tIns="36576" bIns="36576">
            <a:spAutoFit/>
          </a:bodyPr>
          <a:lstStyle/>
          <a:p>
            <a:pPr algn="l">
              <a:lnSpc>
                <a:spcPct val="118000"/>
              </a:lnSpc>
            </a:pPr>
            <a:r>
              <a:rPr sz="950" b="1">
                <a:solidFill>
                  <a:srgbClr val="FFFFFF"/>
                </a:solidFill>
                <a:latin typeface="Microsoft JhengHei"/>
              </a:rPr>
              <a:t>🖼️ 視覺情境輔助 ＆ 入門／進階雙軌導讀</a:t>
            </a:r>
          </a:p>
        </p:txBody>
      </p:sp>
      <p:pic>
        <p:nvPicPr>
          <p:cNvPr id="31" name="Picture 30" descr="topic_39.jpg_160.jpg"/>
          <p:cNvPicPr>
            <a:picLocks noChangeAspect="1"/>
          </p:cNvPicPr>
          <p:nvPr/>
        </p:nvPicPr>
        <p:blipFill>
          <a:blip r:embed="rId2"/>
          <a:stretch>
            <a:fillRect/>
          </a:stretch>
        </p:blipFill>
        <p:spPr>
          <a:xfrm>
            <a:off x="8293607" y="1938528"/>
            <a:ext cx="3300984" cy="2057400"/>
          </a:xfrm>
          <a:prstGeom prst="rect">
            <a:avLst/>
          </a:prstGeom>
        </p:spPr>
      </p:pic>
      <p:sp>
        <p:nvSpPr>
          <p:cNvPr id="32" name="Rectangle 31"/>
          <p:cNvSpPr/>
          <p:nvPr/>
        </p:nvSpPr>
        <p:spPr>
          <a:xfrm>
            <a:off x="8293607" y="1938528"/>
            <a:ext cx="3300984" cy="2057400"/>
          </a:xfrm>
          <a:prstGeom prst="rect">
            <a:avLst/>
          </a:prstGeom>
          <a:no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93607" y="4032504"/>
            <a:ext cx="3300984" cy="493776"/>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3" y="4050792"/>
            <a:ext cx="3227832" cy="457200"/>
          </a:xfrm>
          <a:prstGeom prst="rect">
            <a:avLst/>
          </a:prstGeom>
          <a:noFill/>
        </p:spPr>
        <p:txBody>
          <a:bodyPr wrap="square" anchor="t" lIns="54864" rIns="54864" tIns="36576" bIns="36576">
            <a:spAutoFit/>
          </a:bodyPr>
          <a:lstStyle/>
          <a:p>
            <a:pPr algn="l">
              <a:lnSpc>
                <a:spcPct val="112000"/>
              </a:lnSpc>
            </a:pPr>
            <a:r>
              <a:rPr sz="850" b="0">
                <a:solidFill>
                  <a:srgbClr val="1A202C"/>
                </a:solidFill>
                <a:latin typeface="Microsoft JhengHei"/>
              </a:rPr>
              <a:t>📌 圖說：▲ 商業情境視覺：執行長的私人智庫書房——帶著具體的公司治理痛點（股權怎麼分、控制權怎麼保、文化怎麼落地）去讀書，每一本書都是價值千萬的頂層顧問案。</a:t>
            </a:r>
          </a:p>
        </p:txBody>
      </p:sp>
      <p:sp>
        <p:nvSpPr>
          <p:cNvPr id="35" name="Rectangle 34"/>
          <p:cNvSpPr/>
          <p:nvPr/>
        </p:nvSpPr>
        <p:spPr>
          <a:xfrm>
            <a:off x="8293607" y="4599432"/>
            <a:ext cx="3300984" cy="841248"/>
          </a:xfrm>
          <a:prstGeom prst="rect">
            <a:avLst/>
          </a:prstGeom>
          <a:solidFill>
            <a:srgbClr val="FFFFFF"/>
          </a:solidFill>
          <a:ln w="12700">
            <a:solidFill>
              <a:srgbClr val="007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93607" y="4599432"/>
            <a:ext cx="64008" cy="841248"/>
          </a:xfrm>
          <a:prstGeom prst="rect">
            <a:avLst/>
          </a:prstGeom>
          <a:solidFill>
            <a:srgbClr val="007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03335" y="4626864"/>
            <a:ext cx="3154680" cy="219456"/>
          </a:xfrm>
          <a:prstGeom prst="rect">
            <a:avLst/>
          </a:prstGeom>
          <a:noFill/>
        </p:spPr>
        <p:txBody>
          <a:bodyPr wrap="square" anchor="t" lIns="54864" rIns="54864" tIns="36576" bIns="36576">
            <a:spAutoFit/>
          </a:bodyPr>
          <a:lstStyle/>
          <a:p>
            <a:pPr algn="l">
              <a:lnSpc>
                <a:spcPct val="118000"/>
              </a:lnSpc>
            </a:pPr>
            <a:r>
              <a:rPr sz="880" b="1">
                <a:solidFill>
                  <a:srgbClr val="0077C8"/>
                </a:solidFill>
                <a:latin typeface="Microsoft JhengHei"/>
              </a:rPr>
              <a:t>🌱 入門者核心秒懂（Plain-Language）</a:t>
            </a:r>
          </a:p>
        </p:txBody>
      </p:sp>
      <p:sp>
        <p:nvSpPr>
          <p:cNvPr id="38" name="TextBox 37"/>
          <p:cNvSpPr txBox="1"/>
          <p:nvPr/>
        </p:nvSpPr>
        <p:spPr>
          <a:xfrm>
            <a:off x="8403335" y="4828032"/>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聽完了 30 多講意猶未盡，想自己深入讀幾本書，但市面上的公司治理教科書又厚又催眠怎麼辦？劉松博教授為大家精挑細選了 10 本「好讀、實用、直擊痛點」的書單！你…</a:t>
            </a:r>
          </a:p>
        </p:txBody>
      </p:sp>
      <p:sp>
        <p:nvSpPr>
          <p:cNvPr id="39" name="Rectangle 38"/>
          <p:cNvSpPr/>
          <p:nvPr/>
        </p:nvSpPr>
        <p:spPr>
          <a:xfrm>
            <a:off x="8293607" y="5495544"/>
            <a:ext cx="3300984" cy="841248"/>
          </a:xfrm>
          <a:prstGeom prst="rect">
            <a:avLst/>
          </a:prstGeom>
          <a:solidFill>
            <a:srgbClr val="FFFFFF"/>
          </a:solidFill>
          <a:ln w="12700">
            <a:solidFill>
              <a:srgbClr val="051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3607" y="5495544"/>
            <a:ext cx="64008" cy="841248"/>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3335" y="5522976"/>
            <a:ext cx="3154680" cy="219456"/>
          </a:xfrm>
          <a:prstGeom prst="rect">
            <a:avLst/>
          </a:prstGeom>
          <a:noFill/>
        </p:spPr>
        <p:txBody>
          <a:bodyPr wrap="square" anchor="t" lIns="54864" rIns="54864" tIns="36576" bIns="36576">
            <a:spAutoFit/>
          </a:bodyPr>
          <a:lstStyle/>
          <a:p>
            <a:pPr algn="l">
              <a:lnSpc>
                <a:spcPct val="118000"/>
              </a:lnSpc>
            </a:pPr>
            <a:r>
              <a:rPr sz="880" b="1">
                <a:solidFill>
                  <a:srgbClr val="051C2C"/>
                </a:solidFill>
                <a:latin typeface="Microsoft JhengHei"/>
              </a:rPr>
              <a:t>🏛️ 進階架構：【哲學・股權・控制・文化】CEO 治理書單四維進修矩陣</a:t>
            </a:r>
          </a:p>
        </p:txBody>
      </p:sp>
      <p:sp>
        <p:nvSpPr>
          <p:cNvPr id="42" name="TextBox 41"/>
          <p:cNvSpPr txBox="1"/>
          <p:nvPr/>
        </p:nvSpPr>
        <p:spPr>
          <a:xfrm>
            <a:off x="8403335" y="5724144"/>
            <a:ext cx="3154680" cy="585216"/>
          </a:xfrm>
          <a:prstGeom prst="rect">
            <a:avLst/>
          </a:prstGeom>
          <a:noFill/>
        </p:spPr>
        <p:txBody>
          <a:bodyPr wrap="square" anchor="t" lIns="54864" rIns="54864" tIns="36576" bIns="36576">
            <a:spAutoFit/>
          </a:bodyPr>
          <a:lstStyle/>
          <a:p>
            <a:pPr algn="l">
              <a:lnSpc>
                <a:spcPct val="112000"/>
              </a:lnSpc>
            </a:pPr>
            <a:r>
              <a:rPr sz="819" b="0">
                <a:solidFill>
                  <a:srgbClr val="1A202C"/>
                </a:solidFill>
                <a:latin typeface="Microsoft JhengHei"/>
              </a:rPr>
              <a:t>本講不僅是《公司治理 30 講》的書單總結，更是我們「執行長專業知識庫（CEO Executive Mastery Portal）」向其他管理領域延伸的…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